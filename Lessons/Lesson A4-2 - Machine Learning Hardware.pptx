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74" r:id="rId7"/>
    <p:sldId id="261" r:id="rId8"/>
    <p:sldId id="262" r:id="rId9"/>
    <p:sldId id="263" r:id="rId10"/>
    <p:sldId id="275" r:id="rId11"/>
    <p:sldId id="264" r:id="rId12"/>
    <p:sldId id="265" r:id="rId13"/>
    <p:sldId id="276" r:id="rId14"/>
    <p:sldId id="266" r:id="rId15"/>
    <p:sldId id="277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CC"/>
    <a:srgbClr val="584500"/>
    <a:srgbClr val="2A4C45"/>
    <a:srgbClr val="326648"/>
    <a:srgbClr val="D2A65C"/>
    <a:srgbClr val="A74923"/>
    <a:srgbClr val="388049"/>
    <a:srgbClr val="274F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84" autoAdjust="0"/>
    <p:restoredTop sz="89467" autoAdjust="0"/>
  </p:normalViewPr>
  <p:slideViewPr>
    <p:cSldViewPr snapToGrid="0">
      <p:cViewPr varScale="1">
        <p:scale>
          <a:sx n="74" d="100"/>
          <a:sy n="74" d="100"/>
        </p:scale>
        <p:origin x="60" y="34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Hill" userId="41dba03d-e58d-4389-9894-554c10310ba4" providerId="ADAL" clId="{EF23FE1D-A042-481E-AFD7-2A9FB0847F54}"/>
    <pc:docChg chg="modSld">
      <pc:chgData name="Michael Hill" userId="41dba03d-e58d-4389-9894-554c10310ba4" providerId="ADAL" clId="{EF23FE1D-A042-481E-AFD7-2A9FB0847F54}" dt="2026-10-06T17:09:53.262" v="31" actId="729"/>
      <pc:docMkLst>
        <pc:docMk/>
      </pc:docMkLst>
      <pc:sldChg chg="modSp mod">
        <pc:chgData name="Michael Hill" userId="41dba03d-e58d-4389-9894-554c10310ba4" providerId="ADAL" clId="{EF23FE1D-A042-481E-AFD7-2A9FB0847F54}" dt="2026-10-06T17:09:26.937" v="6" actId="20577"/>
        <pc:sldMkLst>
          <pc:docMk/>
          <pc:sldMk cId="854122100" sldId="257"/>
        </pc:sldMkLst>
        <pc:spChg chg="mod">
          <ac:chgData name="Michael Hill" userId="41dba03d-e58d-4389-9894-554c10310ba4" providerId="ADAL" clId="{EF23FE1D-A042-481E-AFD7-2A9FB0847F54}" dt="2026-10-06T17:09:26.937" v="6" actId="20577"/>
          <ac:spMkLst>
            <pc:docMk/>
            <pc:sldMk cId="854122100" sldId="257"/>
            <ac:spMk id="8" creationId="{4D7671A2-401B-58C3-4049-2F9F2E07BD91}"/>
          </ac:spMkLst>
        </pc:spChg>
      </pc:sldChg>
      <pc:sldChg chg="modSp mod modShow">
        <pc:chgData name="Michael Hill" userId="41dba03d-e58d-4389-9894-554c10310ba4" providerId="ADAL" clId="{EF23FE1D-A042-481E-AFD7-2A9FB0847F54}" dt="2026-10-06T17:09:53.262" v="31" actId="729"/>
        <pc:sldMkLst>
          <pc:docMk/>
          <pc:sldMk cId="0" sldId="272"/>
        </pc:sldMkLst>
        <pc:spChg chg="mod">
          <ac:chgData name="Michael Hill" userId="41dba03d-e58d-4389-9894-554c10310ba4" providerId="ADAL" clId="{EF23FE1D-A042-481E-AFD7-2A9FB0847F54}" dt="2026-10-06T17:09:40.936" v="30" actId="20577"/>
          <ac:spMkLst>
            <pc:docMk/>
            <pc:sldMk cId="0" sldId="272"/>
            <ac:spMk id="8" creationId="{1812F390-3309-32E6-4E5B-EF9BB6857C6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0EF95B-9744-42BF-8E95-B5A640A352E6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23B401-C566-4517-ADD4-C67058331A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927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2CBF5B-D05A-4CAE-8EE7-D4AB56C398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ECF1D0-95A6-665D-05FC-CD3D452ED5D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06DA3D-85A7-AD51-61FD-725D622706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4DD653-2266-9248-1DA5-75048E9837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0648851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Row one and row four are both correct. The best hardware depends on the job, not on which chip is most powerful.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C6A4B-E724-C642-63ED-9C1381B808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85E653-4903-1005-D15B-66DB874D27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04A978-A4B2-A67F-C69F-38ADC7DB4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4910B7-42B2-3D3D-3AE4-AC7E6C388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F21657-9CFD-95BE-EEE3-E1B47D77D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272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00003-439B-FA69-F591-6D66E2741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C20904-0912-32D7-F6E6-31372E4888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C3E7E8-F851-BEB7-2C68-8FE1EF674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BAE2CA-7781-6E95-12BA-557F775A9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F9952B-F381-1189-2020-9A14F470C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639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9F060-3D96-5480-3C88-EE775B82F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3569D8-9209-8B7C-1538-E818415FF6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F66B1C-5056-EDDF-CD36-E7BFD2F43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CF8CB3-3858-3C51-AA38-3F86C0974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CEA923-CF31-8772-A331-247B9144D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05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F25B0-376D-3011-4FDF-D4CA713D7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D71C86-3E65-FA4B-6F6C-0BB7AA3900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FE646B-5AE1-A23D-3D1F-474544BF3B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B279F2-41EE-1489-59DC-32CD90629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9EC4E9-67EE-D095-37A7-39EFE82D1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7B2442-8F9C-AC5E-9546-BDE753C18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941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C8DBA-2489-9EF4-F45E-238BC26EF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D34AAF-B93F-48B6-1B8B-FD3E959FB9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D8698B-3528-B8DC-27B8-D49145D604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9008AA-A42D-2259-0D36-908024A20B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8A62E1-25E1-7552-ABA8-BE7F2A3B1B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97670D-8F54-733D-3639-1B7CCE4C1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3C6C20-7A45-CC6A-CA55-61F7CCF3B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B7766C-30F5-1A8E-58AF-CDC986CF8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576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B690D-7611-3967-E6F3-81F032CFF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1D4BA6-7CE7-229C-2BD5-FECCA2886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CA691A-621C-6EB1-3EB8-CA9FF47FB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257F05-B410-F8DD-455C-490CEB149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566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709F58-5A85-92F4-B06D-216430334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9B9967-5360-F0CB-62AE-C03CEF75E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5E68E6-84C0-1723-6611-61380FA19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955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855B2-ECD6-C08F-72AD-183650C66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896BA6-2739-2BD7-969A-4113A51196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886298-57FD-A8A8-D424-73178F2DB4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D784E3-D576-8AA7-A98D-17AA30F76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948EE1-5288-E1AE-89F1-37B64F23E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C75274-EEF3-4830-9978-53BE36B7A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701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332C3-BAF4-D846-43C1-525BE354E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72DC9A-2E8B-6C73-166E-961BCED000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CE3A54-E42B-7858-93B4-F1A981487B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2C60C9-5A10-7256-4190-5DE6C1C30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52744C-0DE9-DCDB-4998-7A3221F15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6D5596-7365-792E-D0E3-4ED3B5E7D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055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A8605-B3B6-D788-279D-476906E34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AD9E01-2C5E-0FD4-BF7C-54659537D7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1685CA-CEBB-6B85-90D4-1BEF716FC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B0A526-A1AA-3BC7-DC9D-B44EBC07B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AED0B1-5EB5-A414-75E8-6BA511C07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256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BD8E7E-5301-E447-23C8-B8B5D2932F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336805-717E-9F25-0794-88BD42C6E8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03C3FF-BEC2-31C8-6723-85EC31276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DA1747-0799-AAD2-1377-F19D1A5E7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CF77C4-38FB-B4D4-348D-9D2957422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171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A3BEBB-B682-7839-B2B4-500CE17CB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BD3092-A078-5BEF-361E-CB3FDD457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44A81F-9B16-8EEC-9FE4-9E9D0C8E87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CFA067-BC5A-4095-A3A5-99A1BAFE9208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B43794-F45F-30BE-BC6F-DDF9A70C2A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82708D-8AD6-9D50-70CF-8FFDD3AB7B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898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hpc.utdallas.edu/" TargetMode="Externa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9BBF4B62-D7BF-1C6A-40E3-7B807FA87977}"/>
              </a:ext>
            </a:extLst>
          </p:cNvPr>
          <p:cNvSpPr/>
          <p:nvPr/>
        </p:nvSpPr>
        <p:spPr>
          <a:xfrm>
            <a:off x="4713768" y="2110368"/>
            <a:ext cx="2565990" cy="2565990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B883CE-936E-CB73-2B3E-56A618536A26}"/>
              </a:ext>
            </a:extLst>
          </p:cNvPr>
          <p:cNvSpPr/>
          <p:nvPr/>
        </p:nvSpPr>
        <p:spPr>
          <a:xfrm>
            <a:off x="895936" y="1574232"/>
            <a:ext cx="5652932" cy="2301533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541717" lon="20311593" rev="27507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800" dirty="0">
                <a:latin typeface="Bahnschrift SemiBold" panose="020B0502040204020203" pitchFamily="34" charset="0"/>
              </a:rPr>
              <a:t>TOPIC A4:</a:t>
            </a:r>
          </a:p>
          <a:p>
            <a:pPr marL="0" indent="0" algn="ctr">
              <a:buNone/>
            </a:pPr>
            <a:r>
              <a:rPr lang="en-US" sz="4800" dirty="0">
                <a:latin typeface="Bahnschrift SemiBold" panose="020B0502040204020203" pitchFamily="34" charset="0"/>
              </a:rPr>
              <a:t>MACHINE LEARNING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C18ECD-1A29-4735-FBF9-2230E3FED94F}"/>
              </a:ext>
            </a:extLst>
          </p:cNvPr>
          <p:cNvSpPr/>
          <p:nvPr/>
        </p:nvSpPr>
        <p:spPr>
          <a:xfrm>
            <a:off x="6719147" y="2724998"/>
            <a:ext cx="4008656" cy="1160918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800" dirty="0">
                <a:latin typeface="Bahnschrift SemiBold" panose="020B0502040204020203" pitchFamily="34" charset="0"/>
              </a:rPr>
              <a:t>LESSON A4-2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45BB639-AC69-FE40-4352-5D3077A94591}"/>
              </a:ext>
            </a:extLst>
          </p:cNvPr>
          <p:cNvSpPr/>
          <p:nvPr/>
        </p:nvSpPr>
        <p:spPr>
          <a:xfrm>
            <a:off x="3335867" y="3728134"/>
            <a:ext cx="7136419" cy="76226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20129102" lon="991603" rev="2117886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3600" dirty="0">
                <a:latin typeface="Bahnschrift SemiBold" panose="020B0502040204020203" pitchFamily="34" charset="0"/>
              </a:rPr>
              <a:t>MACHINE LEARNING HARDWARE</a:t>
            </a:r>
          </a:p>
        </p:txBody>
      </p:sp>
    </p:spTree>
    <p:extLst>
      <p:ext uri="{BB962C8B-B14F-4D97-AF65-F5344CB8AC3E}">
        <p14:creationId xmlns:p14="http://schemas.microsoft.com/office/powerpoint/2010/main" val="18788484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950A9E-999F-1BB1-2C00-779227746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86893419-8B7B-38C3-2D89-D4BB95E0AB27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D4645F-350F-77B1-036C-D01223EB808D}"/>
              </a:ext>
            </a:extLst>
          </p:cNvPr>
          <p:cNvSpPr/>
          <p:nvPr/>
        </p:nvSpPr>
        <p:spPr>
          <a:xfrm>
            <a:off x="7095753" y="1908368"/>
            <a:ext cx="4516539" cy="225568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1072296" lon="587304" rev="21567845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Guided Notes</a:t>
            </a:r>
          </a:p>
          <a:p>
            <a:pPr algn="ctr">
              <a:buFont typeface="Arial"/>
              <a:buChar char="•"/>
            </a:pPr>
            <a:r>
              <a:rPr lang="en-US" sz="2000" dirty="0" err="1">
                <a:latin typeface="Bahnschrift" panose="020B0502040204020203" pitchFamily="34" charset="0"/>
              </a:rPr>
              <a:t>ur</a:t>
            </a:r>
            <a:r>
              <a:rPr lang="en-US" sz="2000" dirty="0">
                <a:latin typeface="Bahnschrift" panose="020B0502040204020203" pitchFamily="34" charset="0"/>
              </a:rPr>
              <a:t> hedz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9CF6B3F-1F6D-7800-03EB-3D197914A30A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03133FC-E875-8442-9063-C305CC0BFB20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7671A2-401B-58C3-4049-2F9F2E07BD91}"/>
              </a:ext>
            </a:extLst>
          </p:cNvPr>
          <p:cNvSpPr/>
          <p:nvPr/>
        </p:nvSpPr>
        <p:spPr>
          <a:xfrm>
            <a:off x="1109714" y="1181477"/>
            <a:ext cx="5413224" cy="539167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457200" indent="-457200" algn="ctr"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Warm up</a:t>
            </a:r>
          </a:p>
          <a:p>
            <a:pPr marL="457200" indent="-457200" algn="ctr"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Training and inference</a:t>
            </a:r>
          </a:p>
          <a:p>
            <a:pPr marL="457200" indent="-457200" algn="ctr"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What the hardware has to do</a:t>
            </a:r>
          </a:p>
          <a:p>
            <a:pPr marL="457200" indent="-457200" algn="ctr"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CPUs and GPUs</a:t>
            </a:r>
          </a:p>
          <a:p>
            <a:pPr marL="457200" indent="-457200" algn="ctr"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ASICs and TPUs</a:t>
            </a:r>
          </a:p>
          <a:p>
            <a:pPr marL="457200" indent="-457200" algn="ctr"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FPGAs</a:t>
            </a:r>
          </a:p>
          <a:p>
            <a:pPr marL="457200" indent="-457200" algn="ctr"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Edge devices</a:t>
            </a:r>
          </a:p>
          <a:p>
            <a:pPr marL="457200" indent="-457200" algn="ctr"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Cloud platforms and HPC</a:t>
            </a:r>
          </a:p>
          <a:p>
            <a:pPr marL="457200" indent="-457200" algn="ctr"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Choosing the hardware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2468F18-96E8-0BDE-DEDF-19E7735BE1E6}"/>
              </a:ext>
            </a:extLst>
          </p:cNvPr>
          <p:cNvSpPr/>
          <p:nvPr/>
        </p:nvSpPr>
        <p:spPr>
          <a:xfrm>
            <a:off x="6825600" y="1466923"/>
            <a:ext cx="5014261" cy="632442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20129102" lon="991603" rev="2117886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Bahnschrift SemiBold" panose="020B0502040204020203" pitchFamily="34" charset="0"/>
              </a:rPr>
              <a:t>WHAT U NEED 4 LESSON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CD8CB0-8A02-BF4E-6CF1-A22B96E02C67}"/>
              </a:ext>
            </a:extLst>
          </p:cNvPr>
          <p:cNvSpPr/>
          <p:nvPr/>
        </p:nvSpPr>
        <p:spPr>
          <a:xfrm>
            <a:off x="1824466" y="252900"/>
            <a:ext cx="2903431" cy="9285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8541221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D8CA8B0B-29B4-4F45-A9BE-88F49F9B442F}"/>
              </a:ext>
            </a:extLst>
          </p:cNvPr>
          <p:cNvSpPr/>
          <p:nvPr/>
        </p:nvSpPr>
        <p:spPr>
          <a:xfrm>
            <a:off x="9605200" y="3896291"/>
            <a:ext cx="1497660" cy="1497660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6D1CAEE-B319-A780-9B96-038987577C8B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6E9AA4A-F120-DD17-0CB0-2E85BDEF169E}"/>
              </a:ext>
            </a:extLst>
          </p:cNvPr>
          <p:cNvSpPr/>
          <p:nvPr/>
        </p:nvSpPr>
        <p:spPr>
          <a:xfrm>
            <a:off x="358687" y="2026486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6F514AF8-7688-1CAF-271C-812A3A4CA6FC}"/>
              </a:ext>
            </a:extLst>
          </p:cNvPr>
          <p:cNvSpPr/>
          <p:nvPr/>
        </p:nvSpPr>
        <p:spPr>
          <a:xfrm>
            <a:off x="9978799" y="1099676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40311B9-8000-00E2-EA2F-52B51C9C4A41}"/>
              </a:ext>
            </a:extLst>
          </p:cNvPr>
          <p:cNvSpPr/>
          <p:nvPr/>
        </p:nvSpPr>
        <p:spPr>
          <a:xfrm>
            <a:off x="1089140" y="1246841"/>
            <a:ext cx="9808033" cy="38305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HeroicExtremeRightFacing">
              <a:rot lat="21346875" lon="21280510" rev="119997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(a) State what a label is [1]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(b) State which type of machine learning cannot begin without labelled data [1]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(c) State one kind of task a GPU is better suited to than a CPU [1]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→ Notes Q1 (a), (b), (c)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8D908BF-3440-E0DF-2F0E-30B56B6F8098}"/>
              </a:ext>
            </a:extLst>
          </p:cNvPr>
          <p:cNvSpPr/>
          <p:nvPr/>
        </p:nvSpPr>
        <p:spPr>
          <a:xfrm>
            <a:off x="1989750" y="65791"/>
            <a:ext cx="7615449" cy="9285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 THE WARM UP QUESTION</a:t>
            </a:r>
          </a:p>
        </p:txBody>
      </p:sp>
      <p:pic>
        <p:nvPicPr>
          <p:cNvPr id="22" name="Picture 21" descr="url_upload_6a7f3d9e572a4.gif [effects output image]">
            <a:extLst>
              <a:ext uri="{FF2B5EF4-FFF2-40B4-BE49-F238E27FC236}">
                <a16:creationId xmlns:a16="http://schemas.microsoft.com/office/drawing/2014/main" id="{D9271AD9-D578-11DF-7DA1-51581A51B572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-169085" y="4388056"/>
            <a:ext cx="2786643" cy="2667000"/>
          </a:xfrm>
          <a:prstGeom prst="rect">
            <a:avLst/>
          </a:prstGeom>
        </p:spPr>
      </p:pic>
      <p:pic>
        <p:nvPicPr>
          <p:cNvPr id="24" name="Picture 23" descr="url_upload_6a7f3d9e572a4.gif [effects output image]">
            <a:extLst>
              <a:ext uri="{FF2B5EF4-FFF2-40B4-BE49-F238E27FC236}">
                <a16:creationId xmlns:a16="http://schemas.microsoft.com/office/drawing/2014/main" id="{B30C67D8-C8AA-F1F8-B373-1AECB05C01A5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2617558" y="4388056"/>
            <a:ext cx="2786643" cy="2667000"/>
          </a:xfrm>
          <a:prstGeom prst="rect">
            <a:avLst/>
          </a:prstGeom>
        </p:spPr>
      </p:pic>
      <p:pic>
        <p:nvPicPr>
          <p:cNvPr id="26" name="Picture 25" descr="url_upload_6a7f3d9e572a4.gif [effects output image]">
            <a:extLst>
              <a:ext uri="{FF2B5EF4-FFF2-40B4-BE49-F238E27FC236}">
                <a16:creationId xmlns:a16="http://schemas.microsoft.com/office/drawing/2014/main" id="{BFEBAE74-AEA2-B3C2-EF07-F84EA1B7D41E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5404201" y="4388056"/>
            <a:ext cx="2786643" cy="2667000"/>
          </a:xfrm>
          <a:prstGeom prst="rect">
            <a:avLst/>
          </a:prstGeom>
        </p:spPr>
      </p:pic>
      <p:pic>
        <p:nvPicPr>
          <p:cNvPr id="28" name="Picture 27" descr="url_upload_6a7f3d9e572a4.gif [effects output image]">
            <a:extLst>
              <a:ext uri="{FF2B5EF4-FFF2-40B4-BE49-F238E27FC236}">
                <a16:creationId xmlns:a16="http://schemas.microsoft.com/office/drawing/2014/main" id="{BD5F3A05-97A3-AEB7-0085-9F08A9DC8C5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8190844" y="4388056"/>
            <a:ext cx="2786643" cy="2667000"/>
          </a:xfrm>
          <a:prstGeom prst="rect">
            <a:avLst/>
          </a:prstGeom>
        </p:spPr>
      </p:pic>
      <p:pic>
        <p:nvPicPr>
          <p:cNvPr id="30" name="Picture 29" descr="url_upload_6a7f3d9e572a4.gif [effects output image]">
            <a:extLst>
              <a:ext uri="{FF2B5EF4-FFF2-40B4-BE49-F238E27FC236}">
                <a16:creationId xmlns:a16="http://schemas.microsoft.com/office/drawing/2014/main" id="{A17A3B87-5760-271D-2622-96C0BC318E50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10977487" y="4388056"/>
            <a:ext cx="2786643" cy="2667000"/>
          </a:xfrm>
          <a:prstGeom prst="rect">
            <a:avLst/>
          </a:prstGeom>
        </p:spPr>
      </p:pic>
      <p:pic>
        <p:nvPicPr>
          <p:cNvPr id="32" name="Picture 31" descr="url_upload_6a7f3d9e572a4.gif [effects output image]">
            <a:extLst>
              <a:ext uri="{FF2B5EF4-FFF2-40B4-BE49-F238E27FC236}">
                <a16:creationId xmlns:a16="http://schemas.microsoft.com/office/drawing/2014/main" id="{D6465FBC-B66B-79FB-ACEB-2DCDCF85F1E1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6684191" y="-2330208"/>
            <a:ext cx="2786643" cy="2667000"/>
          </a:xfrm>
          <a:prstGeom prst="rect">
            <a:avLst/>
          </a:prstGeom>
        </p:spPr>
      </p:pic>
      <p:pic>
        <p:nvPicPr>
          <p:cNvPr id="34" name="Picture 33" descr="url_upload_6a7f3d9e572a4.gif [effects output image]">
            <a:extLst>
              <a:ext uri="{FF2B5EF4-FFF2-40B4-BE49-F238E27FC236}">
                <a16:creationId xmlns:a16="http://schemas.microsoft.com/office/drawing/2014/main" id="{E2180E99-6E7F-D0AD-5B11-3A8AD8CC719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3897548" y="-2330208"/>
            <a:ext cx="2786643" cy="2667000"/>
          </a:xfrm>
          <a:prstGeom prst="rect">
            <a:avLst/>
          </a:prstGeom>
        </p:spPr>
      </p:pic>
      <p:pic>
        <p:nvPicPr>
          <p:cNvPr id="36" name="Picture 35" descr="url_upload_6a7f3d9e572a4.gif [effects output image]">
            <a:extLst>
              <a:ext uri="{FF2B5EF4-FFF2-40B4-BE49-F238E27FC236}">
                <a16:creationId xmlns:a16="http://schemas.microsoft.com/office/drawing/2014/main" id="{0130BB2A-2F5C-C6D8-B500-A2A8AC710F8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l="20738" r="41253"/>
          <a:stretch>
            <a:fillRect/>
          </a:stretch>
        </p:blipFill>
        <p:spPr>
          <a:xfrm>
            <a:off x="2094614" y="-2330208"/>
            <a:ext cx="1802934" cy="2667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Oval 36">
            <a:extLst>
              <a:ext uri="{FF2B5EF4-FFF2-40B4-BE49-F238E27FC236}">
                <a16:creationId xmlns:a16="http://schemas.microsoft.com/office/drawing/2014/main" id="{7D341957-430A-EF60-D3EA-CD511D2CA7D6}"/>
              </a:ext>
            </a:extLst>
          </p:cNvPr>
          <p:cNvSpPr/>
          <p:nvPr/>
        </p:nvSpPr>
        <p:spPr>
          <a:xfrm>
            <a:off x="9605200" y="3896291"/>
            <a:ext cx="1497660" cy="1497660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3D7D693E-B573-D0BC-DFB1-6C79697387BD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0F25AC2E-0D02-E810-9216-42CF152FB28F}"/>
              </a:ext>
            </a:extLst>
          </p:cNvPr>
          <p:cNvSpPr/>
          <p:nvPr/>
        </p:nvSpPr>
        <p:spPr>
          <a:xfrm>
            <a:off x="358687" y="2026486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60793B20-5976-9D4C-5A7B-1C85E4E6D59A}"/>
              </a:ext>
            </a:extLst>
          </p:cNvPr>
          <p:cNvSpPr/>
          <p:nvPr/>
        </p:nvSpPr>
        <p:spPr>
          <a:xfrm>
            <a:off x="9978799" y="1099676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B3F6CA5-D24F-822D-5553-1951788E1282}"/>
              </a:ext>
            </a:extLst>
          </p:cNvPr>
          <p:cNvSpPr/>
          <p:nvPr/>
        </p:nvSpPr>
        <p:spPr>
          <a:xfrm>
            <a:off x="1089140" y="1246841"/>
            <a:ext cx="9808033" cy="38305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HeroicExtremeRightFacing">
              <a:rot lat="21346875" lon="21280510" rev="119997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(a) The correct answer for an example, attached to it in advance by a person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(b) Supervised learning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(c) Anything made of thousands of identical simple sums that do not depend on each other – Crypto, gaming, rendering, machine learning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30C41D60-D405-256A-C157-C77194A788CD}"/>
              </a:ext>
            </a:extLst>
          </p:cNvPr>
          <p:cNvSpPr/>
          <p:nvPr/>
        </p:nvSpPr>
        <p:spPr>
          <a:xfrm>
            <a:off x="1989750" y="65791"/>
            <a:ext cx="7615450" cy="9285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THE WARM UP ANSWER</a:t>
            </a:r>
          </a:p>
        </p:txBody>
      </p:sp>
      <p:pic>
        <p:nvPicPr>
          <p:cNvPr id="49" name="Picture 48" descr="url_upload_6a7f3d9e572a4.gif [effects output image]">
            <a:extLst>
              <a:ext uri="{FF2B5EF4-FFF2-40B4-BE49-F238E27FC236}">
                <a16:creationId xmlns:a16="http://schemas.microsoft.com/office/drawing/2014/main" id="{1F63E1F1-0756-EF0C-E6AF-968433CAC62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-169085" y="4388056"/>
            <a:ext cx="2786643" cy="2667000"/>
          </a:xfrm>
          <a:prstGeom prst="rect">
            <a:avLst/>
          </a:prstGeom>
        </p:spPr>
      </p:pic>
      <p:pic>
        <p:nvPicPr>
          <p:cNvPr id="51" name="Picture 50" descr="url_upload_6a7f3d9e572a4.gif [effects output image]">
            <a:extLst>
              <a:ext uri="{FF2B5EF4-FFF2-40B4-BE49-F238E27FC236}">
                <a16:creationId xmlns:a16="http://schemas.microsoft.com/office/drawing/2014/main" id="{8A9E958D-CAB4-E31F-D274-C5DC23B9AAB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2617558" y="4388056"/>
            <a:ext cx="2786643" cy="2667000"/>
          </a:xfrm>
          <a:prstGeom prst="rect">
            <a:avLst/>
          </a:prstGeom>
        </p:spPr>
      </p:pic>
      <p:pic>
        <p:nvPicPr>
          <p:cNvPr id="53" name="Picture 52" descr="url_upload_6a7f3d9e572a4.gif [effects output image]">
            <a:extLst>
              <a:ext uri="{FF2B5EF4-FFF2-40B4-BE49-F238E27FC236}">
                <a16:creationId xmlns:a16="http://schemas.microsoft.com/office/drawing/2014/main" id="{EFA8071E-ECE9-5E87-EBC1-9406172589E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5404201" y="4388056"/>
            <a:ext cx="2786643" cy="2667000"/>
          </a:xfrm>
          <a:prstGeom prst="rect">
            <a:avLst/>
          </a:prstGeom>
        </p:spPr>
      </p:pic>
      <p:pic>
        <p:nvPicPr>
          <p:cNvPr id="55" name="Picture 54" descr="url_upload_6a7f3d9e572a4.gif [effects output image]">
            <a:extLst>
              <a:ext uri="{FF2B5EF4-FFF2-40B4-BE49-F238E27FC236}">
                <a16:creationId xmlns:a16="http://schemas.microsoft.com/office/drawing/2014/main" id="{535DAD8F-0FF6-7295-4492-667763D062EC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8190844" y="4388056"/>
            <a:ext cx="2786643" cy="2667000"/>
          </a:xfrm>
          <a:prstGeom prst="rect">
            <a:avLst/>
          </a:prstGeom>
        </p:spPr>
      </p:pic>
      <p:pic>
        <p:nvPicPr>
          <p:cNvPr id="57" name="Picture 56" descr="url_upload_6a7f3d9e572a4.gif [effects output image]">
            <a:extLst>
              <a:ext uri="{FF2B5EF4-FFF2-40B4-BE49-F238E27FC236}">
                <a16:creationId xmlns:a16="http://schemas.microsoft.com/office/drawing/2014/main" id="{B0551EF5-1990-2D5E-C471-94E2AF03B517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10977487" y="4388056"/>
            <a:ext cx="2786643" cy="2667000"/>
          </a:xfrm>
          <a:prstGeom prst="rect">
            <a:avLst/>
          </a:prstGeom>
        </p:spPr>
      </p:pic>
      <p:pic>
        <p:nvPicPr>
          <p:cNvPr id="59" name="Picture 58" descr="url_upload_6a7f3d9e572a4.gif [effects output image]">
            <a:extLst>
              <a:ext uri="{FF2B5EF4-FFF2-40B4-BE49-F238E27FC236}">
                <a16:creationId xmlns:a16="http://schemas.microsoft.com/office/drawing/2014/main" id="{F6F5A0E4-4228-1D5B-57AD-F5A99AEDE578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6684191" y="-2330208"/>
            <a:ext cx="2786643" cy="2667000"/>
          </a:xfrm>
          <a:prstGeom prst="rect">
            <a:avLst/>
          </a:prstGeom>
        </p:spPr>
      </p:pic>
      <p:pic>
        <p:nvPicPr>
          <p:cNvPr id="61" name="Picture 60" descr="url_upload_6a7f3d9e572a4.gif [effects output image]">
            <a:extLst>
              <a:ext uri="{FF2B5EF4-FFF2-40B4-BE49-F238E27FC236}">
                <a16:creationId xmlns:a16="http://schemas.microsoft.com/office/drawing/2014/main" id="{42DA75FB-0429-60F7-5515-8B7E611343C3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3897548" y="-2330208"/>
            <a:ext cx="2786643" cy="2667000"/>
          </a:xfrm>
          <a:prstGeom prst="rect">
            <a:avLst/>
          </a:prstGeom>
        </p:spPr>
      </p:pic>
      <p:pic>
        <p:nvPicPr>
          <p:cNvPr id="63" name="Picture 62" descr="url_upload_6a7f3d9e572a4.gif [effects output image]">
            <a:extLst>
              <a:ext uri="{FF2B5EF4-FFF2-40B4-BE49-F238E27FC236}">
                <a16:creationId xmlns:a16="http://schemas.microsoft.com/office/drawing/2014/main" id="{02320BBC-A140-08D8-5B51-6950E8894A37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l="20738" r="41253"/>
          <a:stretch>
            <a:fillRect/>
          </a:stretch>
        </p:blipFill>
        <p:spPr>
          <a:xfrm>
            <a:off x="2094614" y="-2330208"/>
            <a:ext cx="1802934" cy="2667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Today, we’re talking about the hardware needed for machine learning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There are two different parts to machine learning</a:t>
            </a:r>
          </a:p>
          <a:p>
            <a:pPr marL="1371600" lvl="2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Which part you’re using defines what hardware you need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Training</a:t>
            </a:r>
            <a:r>
              <a:rPr lang="en-US" sz="2400" dirty="0">
                <a:latin typeface="Bahnschrift" panose="020B0502040204020203" pitchFamily="34" charset="0"/>
              </a:rPr>
              <a:t> - building the model from the training data.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Happens once, and it can take hours, days or weeks.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Inference</a:t>
            </a:r>
            <a:r>
              <a:rPr lang="en-US" sz="2400" dirty="0">
                <a:latin typeface="Bahnschrift" panose="020B0502040204020203" pitchFamily="34" charset="0"/>
              </a:rPr>
              <a:t> - using the finished model to make a prediction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Happens constantly, expected to happen quickly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The training process goes over the whole data set over and over, but the inference process is only one input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Your phone did not train its face unlock model. Somebody trained that on a cluster months ago. Your phone only runs it.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295892" y="155968"/>
            <a:ext cx="7024011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latin typeface="Bahnschrift SemiBold" panose="020B0502040204020203" pitchFamily="34" charset="0"/>
              </a:rPr>
              <a:t>TRAINING AND INFERENCE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3E110F-46FA-DD42-EA5E-06079F3DDA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60053D98-CD6D-BC3C-9A0B-39C12C04ADFD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2418F19-1962-7DDE-3AF9-3ADA7E6C8D32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CBA59A4-FB0E-8EDD-76E7-5E3D297A21F7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D0FBF47-89E5-BB41-3782-E6BF42A6E21F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99A48B3-F1B0-E203-927D-C9009E583DF9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 err="1">
                <a:latin typeface="Bahnschrift" panose="020B0502040204020203" pitchFamily="34" charset="0"/>
              </a:rPr>
              <a:t>FaceID</a:t>
            </a:r>
            <a:r>
              <a:rPr lang="en-US" sz="2400" dirty="0">
                <a:latin typeface="Bahnschrift" panose="020B0502040204020203" pitchFamily="34" charset="0"/>
              </a:rPr>
              <a:t> – there is a machine learning model, trained by Apple in Cupertino, in your phone for </a:t>
            </a:r>
            <a:r>
              <a:rPr lang="en-US" sz="2400" dirty="0" err="1">
                <a:latin typeface="Bahnschrift" panose="020B0502040204020203" pitchFamily="34" charset="0"/>
              </a:rPr>
              <a:t>FaceID</a:t>
            </a:r>
            <a:endParaRPr lang="en-US" sz="2400" dirty="0">
              <a:latin typeface="Bahnschrift" panose="020B0502040204020203" pitchFamily="34" charset="0"/>
            </a:endParaRP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This training process is NOT handled on your phone, but on Apple servers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Your phone inferences with your face to set it as the unlocking face, and to unlock the device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Your phone COULD NOT train the </a:t>
            </a:r>
            <a:r>
              <a:rPr lang="en-US" sz="2400" dirty="0" err="1">
                <a:latin typeface="Bahnschrift" panose="020B0502040204020203" pitchFamily="34" charset="0"/>
              </a:rPr>
              <a:t>FaceID</a:t>
            </a:r>
            <a:r>
              <a:rPr lang="en-US" sz="2400" dirty="0">
                <a:latin typeface="Bahnschrift" panose="020B0502040204020203" pitchFamily="34" charset="0"/>
              </a:rPr>
              <a:t> algorithm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C6CD55-7A95-443C-1101-D16A2C492EB6}"/>
              </a:ext>
            </a:extLst>
          </p:cNvPr>
          <p:cNvSpPr/>
          <p:nvPr/>
        </p:nvSpPr>
        <p:spPr>
          <a:xfrm>
            <a:off x="-295892" y="155968"/>
            <a:ext cx="7024011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latin typeface="Bahnschrift SemiBold" panose="020B0502040204020203" pitchFamily="34" charset="0"/>
              </a:rPr>
              <a:t>TRAINING AND INFERENCE</a:t>
            </a:r>
          </a:p>
        </p:txBody>
      </p:sp>
      <p:pic>
        <p:nvPicPr>
          <p:cNvPr id="2" name="Picture 1" descr="Apple Inc Headquarters">
            <a:extLst>
              <a:ext uri="{FF2B5EF4-FFF2-40B4-BE49-F238E27FC236}">
                <a16:creationId xmlns:a16="http://schemas.microsoft.com/office/drawing/2014/main" id="{8BED4808-E0D6-B034-EA9A-84633E4089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0662" y="4570775"/>
            <a:ext cx="3511877" cy="1975782"/>
          </a:xfrm>
          <a:prstGeom prst="rect">
            <a:avLst/>
          </a:prstGeom>
        </p:spPr>
      </p:pic>
      <p:pic>
        <p:nvPicPr>
          <p:cNvPr id="3" name="Picture 2" descr="iPhone 16 gets new Face ID (but with what function?) - Techzle">
            <a:extLst>
              <a:ext uri="{FF2B5EF4-FFF2-40B4-BE49-F238E27FC236}">
                <a16:creationId xmlns:a16="http://schemas.microsoft.com/office/drawing/2014/main" id="{8639FBB6-0FF6-B68B-599A-784A1DD97E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3676" y="4531424"/>
            <a:ext cx="3364443" cy="2170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4351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3"/>
            <a:ext cx="10341382" cy="196667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The same model, two very different jobs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Most questions related to this subject start by deciding if you’re in the training or inference column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→ Notes Q2 (a) and (b)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216812" y="155968"/>
            <a:ext cx="7440667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latin typeface="Bahnschrift SemiBold" panose="020B0502040204020203" pitchFamily="34" charset="0"/>
              </a:rPr>
              <a:t>TRAINING AND INFERENCE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4088671"/>
              </p:ext>
            </p:extLst>
          </p:nvPr>
        </p:nvGraphicFramePr>
        <p:xfrm>
          <a:off x="946000" y="3471333"/>
          <a:ext cx="10300000" cy="220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0000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 dirty="0">
                          <a:solidFill>
                            <a:srgbClr val="1A3C40"/>
                          </a:solidFill>
                          <a:latin typeface="Bahnschrift"/>
                        </a:rPr>
                        <a:t>Training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A3C40"/>
                          </a:solidFill>
                          <a:latin typeface="Bahnschrift"/>
                        </a:rPr>
                        <a:t>Inference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A3C40"/>
                          </a:solidFill>
                          <a:latin typeface="Bahnschrift"/>
                        </a:rPr>
                        <a:t>How often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 dirty="0">
                          <a:solidFill>
                            <a:srgbClr val="1A3C40"/>
                          </a:solidFill>
                          <a:latin typeface="Bahnschrift"/>
                        </a:rPr>
                        <a:t>Once, </a:t>
                      </a:r>
                      <a:r>
                        <a:rPr lang="en-US" sz="1700" b="0" dirty="0">
                          <a:solidFill>
                            <a:srgbClr val="1A3C40"/>
                          </a:solidFill>
                          <a:latin typeface="Bahnschrift"/>
                        </a:rPr>
                        <a:t>maybe every few months after</a:t>
                      </a:r>
                      <a:endParaRPr sz="1700" b="0" dirty="0">
                        <a:solidFill>
                          <a:srgbClr val="1A3C40"/>
                        </a:solidFill>
                        <a:latin typeface="Bahnschrift"/>
                      </a:endParaRP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b="0" dirty="0">
                          <a:solidFill>
                            <a:srgbClr val="1A3C40"/>
                          </a:solidFill>
                          <a:latin typeface="Bahnschrift"/>
                        </a:rPr>
                        <a:t>Up to m</a:t>
                      </a:r>
                      <a:r>
                        <a:rPr sz="1700" b="0" dirty="0">
                          <a:solidFill>
                            <a:srgbClr val="1A3C40"/>
                          </a:solidFill>
                          <a:latin typeface="Bahnschrift"/>
                        </a:rPr>
                        <a:t>illions of times a day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A3C40"/>
                          </a:solidFill>
                          <a:latin typeface="Bahnschrift"/>
                        </a:rPr>
                        <a:t>How long it takes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3C40"/>
                          </a:solidFill>
                          <a:latin typeface="Bahnschrift"/>
                        </a:rPr>
                        <a:t>Hours to weeks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 dirty="0">
                          <a:solidFill>
                            <a:srgbClr val="1A3C40"/>
                          </a:solidFill>
                          <a:latin typeface="Bahnschrift"/>
                        </a:rPr>
                        <a:t>Milliseconds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A3C40"/>
                          </a:solidFill>
                          <a:latin typeface="Bahnschrift"/>
                        </a:rPr>
                        <a:t>What it needs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3C40"/>
                          </a:solidFill>
                          <a:latin typeface="Bahnschrift"/>
                        </a:rPr>
                        <a:t>The whole training set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3C40"/>
                          </a:solidFill>
                          <a:latin typeface="Bahnschrift"/>
                        </a:rPr>
                        <a:t>One input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A3C40"/>
                          </a:solidFill>
                          <a:latin typeface="Bahnschrift"/>
                        </a:rPr>
                        <a:t>Typical hardware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3C40"/>
                          </a:solidFill>
                          <a:latin typeface="Bahnschrift"/>
                        </a:rPr>
                        <a:t>GPU, TPU, cloud, HPC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 dirty="0">
                          <a:solidFill>
                            <a:srgbClr val="1A3C40"/>
                          </a:solidFill>
                          <a:latin typeface="Bahnschrift"/>
                        </a:rPr>
                        <a:t>Edge device, ASIC, CPU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7" y="1299334"/>
            <a:ext cx="10782299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These are the main machine learning metrics according to the IB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Processing</a:t>
            </a:r>
            <a:r>
              <a:rPr lang="en-US" sz="2400" dirty="0">
                <a:latin typeface="Bahnschrift" panose="020B0502040204020203" pitchFamily="34" charset="0"/>
              </a:rPr>
              <a:t> - how much arithmetic per second, and how much of it can happen at the same time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CPU/GPU power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Storage</a:t>
            </a:r>
            <a:r>
              <a:rPr lang="en-US" sz="2400" dirty="0">
                <a:latin typeface="Bahnschrift" panose="020B0502040204020203" pitchFamily="34" charset="0"/>
              </a:rPr>
              <a:t> - training sets are measured in terabytes, and they have to be read repeatedly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RAM/Secondary Storage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A fast processor that doesn’t have data doesn’t matter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Scalability</a:t>
            </a:r>
            <a:r>
              <a:rPr lang="en-US" sz="2400" dirty="0">
                <a:latin typeface="Bahnschrift" panose="020B0502040204020203" pitchFamily="34" charset="0"/>
              </a:rPr>
              <a:t> - can you add more when the job grows? </a:t>
            </a:r>
            <a:r>
              <a:rPr lang="en-US" sz="2400" i="1" dirty="0">
                <a:latin typeface="Bahnschrift" panose="020B0502040204020203" pitchFamily="34" charset="0"/>
              </a:rPr>
              <a:t>Scaling up </a:t>
            </a:r>
            <a:r>
              <a:rPr lang="en-US" sz="2400" dirty="0">
                <a:latin typeface="Bahnschrift" panose="020B0502040204020203" pitchFamily="34" charset="0"/>
              </a:rPr>
              <a:t>means a more powerful single machine; </a:t>
            </a:r>
            <a:r>
              <a:rPr lang="en-US" sz="2400" i="1" dirty="0">
                <a:latin typeface="Bahnschrift" panose="020B0502040204020203" pitchFamily="34" charset="0"/>
              </a:rPr>
              <a:t>scaling out </a:t>
            </a:r>
            <a:r>
              <a:rPr lang="en-US" sz="2400" dirty="0">
                <a:latin typeface="Bahnschrift" panose="020B0502040204020203" pitchFamily="34" charset="0"/>
              </a:rPr>
              <a:t>means adding more machines.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→ Notes Q3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511307" y="155968"/>
            <a:ext cx="9225344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latin typeface="Bahnschrift SemiBold" panose="020B0502040204020203" pitchFamily="34" charset="0"/>
              </a:rPr>
              <a:t>WHAT THE HARDWARE HAS TO DO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CPU</a:t>
            </a:r>
            <a:r>
              <a:rPr lang="en-US" sz="2400" dirty="0">
                <a:latin typeface="Bahnschrift" panose="020B0502040204020203" pitchFamily="34" charset="0"/>
              </a:rPr>
              <a:t> - has a few powerful cores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Very good at sequential, complicated instructions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GPU</a:t>
            </a:r>
            <a:r>
              <a:rPr lang="en-US" sz="2400" dirty="0">
                <a:latin typeface="Bahnschrift" panose="020B0502040204020203" pitchFamily="34" charset="0"/>
              </a:rPr>
              <a:t> - has thousands of simple cores, 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Good at repeated, simple instructions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Training consists of millions of multiply-and-add operations that do not depend on each other, so they can all run at once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Which of these is best for the job?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24897" y="155968"/>
            <a:ext cx="4858897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latin typeface="Bahnschrift SemiBold" panose="020B0502040204020203" pitchFamily="34" charset="0"/>
              </a:rPr>
              <a:t>CPUS AND GPUS</a:t>
            </a:r>
          </a:p>
        </p:txBody>
      </p:sp>
      <p:pic>
        <p:nvPicPr>
          <p:cNvPr id="3" name="Picture 2" descr="NVIDIA GA102 GPU Specs | TechPowerUp GPU Database">
            <a:extLst>
              <a:ext uri="{FF2B5EF4-FFF2-40B4-BE49-F238E27FC236}">
                <a16:creationId xmlns:a16="http://schemas.microsoft.com/office/drawing/2014/main" id="{083C754E-E2DF-D564-3B94-C9011102AD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0357" y="4006573"/>
            <a:ext cx="2212572" cy="2539538"/>
          </a:xfrm>
          <a:prstGeom prst="rect">
            <a:avLst/>
          </a:prstGeom>
        </p:spPr>
      </p:pic>
      <p:pic>
        <p:nvPicPr>
          <p:cNvPr id="6" name="Picture 5" descr="Intel Raptor Lake Core i9-13900K Gets High-Res &amp; Beautiful CPU Die Shot">
            <a:extLst>
              <a:ext uri="{FF2B5EF4-FFF2-40B4-BE49-F238E27FC236}">
                <a16:creationId xmlns:a16="http://schemas.microsoft.com/office/drawing/2014/main" id="{D3DD2A35-DC9D-BB89-CBE8-69CCA5BA93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9246" y="4727575"/>
            <a:ext cx="4417490" cy="203446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C11D6F-1CCA-CC75-C828-1BBB1C1D3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95FEAB39-9303-46B9-0168-3275B64C0FEB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ACBC450-545F-0199-6B1C-55D6F61ABA6B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3D905D5-8781-8985-D6C9-E2C1DC6CDE8D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172EE01-E108-D009-8290-F92E7849717F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F1D0972-6996-0AC2-ED40-0DE71FFF7489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Yeah, this is a GPU’s playhouse, which is why the chip built for video games turned out to be the chip for training models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The CPU is still necessary because it runs the operating system and keeps the GPU fed with data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This is why we can’t afford GPUs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92AC23A-8637-9836-3063-AB9B56231F7B}"/>
              </a:ext>
            </a:extLst>
          </p:cNvPr>
          <p:cNvSpPr/>
          <p:nvPr/>
        </p:nvSpPr>
        <p:spPr>
          <a:xfrm>
            <a:off x="24897" y="155968"/>
            <a:ext cx="4858897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latin typeface="Bahnschrift SemiBold" panose="020B0502040204020203" pitchFamily="34" charset="0"/>
              </a:rPr>
              <a:t>CPUS AND GPUS</a:t>
            </a:r>
          </a:p>
        </p:txBody>
      </p:sp>
      <p:pic>
        <p:nvPicPr>
          <p:cNvPr id="3" name="Picture 2" descr="Super Mario Sad Star">
            <a:extLst>
              <a:ext uri="{FF2B5EF4-FFF2-40B4-BE49-F238E27FC236}">
                <a16:creationId xmlns:a16="http://schemas.microsoft.com/office/drawing/2014/main" id="{D13AC8CD-25E7-22DD-6AB2-4DC901E07C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751167"/>
            <a:ext cx="3589620" cy="3589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30558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190066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→ Notes Q4 (a) and (b)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68239" y="155968"/>
            <a:ext cx="4687211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latin typeface="Bahnschrift SemiBold" panose="020B0502040204020203" pitchFamily="34" charset="0"/>
              </a:rPr>
              <a:t>CPUS AND GPUS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946000" y="3400000"/>
          <a:ext cx="10300000" cy="176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0000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A3C40"/>
                          </a:solidFill>
                          <a:latin typeface="Bahnschrift"/>
                        </a:rPr>
                        <a:t>CPU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A3C40"/>
                          </a:solidFill>
                          <a:latin typeface="Bahnschrift"/>
                        </a:rPr>
                        <a:t>GPU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A3C40"/>
                          </a:solidFill>
                          <a:latin typeface="Bahnschrift"/>
                        </a:rPr>
                        <a:t>Cores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3C40"/>
                          </a:solidFill>
                          <a:latin typeface="Bahnschrift"/>
                        </a:rPr>
                        <a:t>A few, complex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3C40"/>
                          </a:solidFill>
                          <a:latin typeface="Bahnschrift"/>
                        </a:rPr>
                        <a:t>Thousands, simple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A3C40"/>
                          </a:solidFill>
                          <a:latin typeface="Bahnschrift"/>
                        </a:rPr>
                        <a:t>Best at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3C40"/>
                          </a:solidFill>
                          <a:latin typeface="Bahnschrift"/>
                        </a:rPr>
                        <a:t>One thing after another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3C40"/>
                          </a:solidFill>
                          <a:latin typeface="Bahnschrift"/>
                        </a:rPr>
                        <a:t>The same thing, many at once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A3C40"/>
                          </a:solidFill>
                          <a:latin typeface="Bahnschrift"/>
                        </a:rPr>
                        <a:t>Its job in ML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3C40"/>
                          </a:solidFill>
                          <a:latin typeface="Bahnschrift"/>
                        </a:rPr>
                        <a:t>Running the program, feeding data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3C40"/>
                          </a:solidFill>
                          <a:latin typeface="Bahnschrift"/>
                        </a:rPr>
                        <a:t>The training arithmetic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ASIC </a:t>
            </a:r>
            <a:r>
              <a:rPr lang="en-US" sz="2400" dirty="0">
                <a:latin typeface="Bahnschrift" panose="020B0502040204020203" pitchFamily="34" charset="0"/>
              </a:rPr>
              <a:t>- application-specific integrated circuit, 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Computer chip manufactured to do exactly one job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Because the circuit is designed to only do one thing, it is extremely fast at that job and uses very little power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It cannot be changed afterwards, so if a design update is required it will cost millions of dollars in silicon (probably)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30928" y="185784"/>
            <a:ext cx="4670277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latin typeface="Bahnschrift SemiBold" panose="020B0502040204020203" pitchFamily="34" charset="0"/>
              </a:rPr>
              <a:t>ASICS AND TPUS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1FC63C-8B67-64AD-B866-9BF5AA512F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D1DD967-826B-17E9-D975-648347151370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8E965DE-FEE4-88ED-EC77-CCAB647F1240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928AF33-EC82-9977-D80E-D02923C06F57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7C7CC52-5F56-D8E0-3FC4-90B29E3FA757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DB066FF-6E6E-B4EF-E93A-464A01E3E95E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TPU</a:t>
            </a:r>
            <a:r>
              <a:rPr lang="en-US" sz="2400" dirty="0">
                <a:latin typeface="Bahnschrift" panose="020B0502040204020203" pitchFamily="34" charset="0"/>
              </a:rPr>
              <a:t> - tensor processing unit, 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An ASIC built specifically for the arithmetic that neural networks do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A TPU is a kind of ASIC, not an alternative to one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TPUs are created by Google, and other companies now have alternatives</a:t>
            </a:r>
          </a:p>
          <a:p>
            <a:pPr marL="1371600" lvl="2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Pixel phone chips are also custom by Google and called Tensor chips, although those chips are definitely not TPUs, just descended from Google’s ability to create them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The only reason you’d ever get a chip like this is if you knew you’d be running it billions of times,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In a lot of cases, companies will still just buy GPUs from Nvidia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4A1B089-6ADA-3A1E-9330-7B096E405C0C}"/>
              </a:ext>
            </a:extLst>
          </p:cNvPr>
          <p:cNvSpPr/>
          <p:nvPr/>
        </p:nvSpPr>
        <p:spPr>
          <a:xfrm>
            <a:off x="30928" y="185784"/>
            <a:ext cx="4670277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latin typeface="Bahnschrift SemiBold" panose="020B0502040204020203" pitchFamily="34" charset="0"/>
              </a:rPr>
              <a:t>ASICS AND TPUS</a:t>
            </a:r>
          </a:p>
        </p:txBody>
      </p:sp>
      <p:pic>
        <p:nvPicPr>
          <p:cNvPr id="2" name="Picture 1" descr="The Pixel 10's Tensor G5 chip could be a game changer for Google's ...">
            <a:extLst>
              <a:ext uri="{FF2B5EF4-FFF2-40B4-BE49-F238E27FC236}">
                <a16:creationId xmlns:a16="http://schemas.microsoft.com/office/drawing/2014/main" id="{FC005A00-1204-095E-7824-45A4BC1207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4429" y="0"/>
            <a:ext cx="3153922" cy="1770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69478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FPGA</a:t>
            </a:r>
            <a:r>
              <a:rPr lang="en-US" sz="2400" dirty="0">
                <a:latin typeface="Bahnschrift" panose="020B0502040204020203" pitchFamily="34" charset="0"/>
              </a:rPr>
              <a:t> - field-programmable gate array, 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A chip whose logic gates can be rewired after it has been manufactured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Do not ask me how this works lol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Slower and less power-efficient than an ASIC doing the same job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You can reprogram it when the model changes, unlike an ASIC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Used for prototyping, for small production runs, and anywhere the design changes a lot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An ASIC is fixed and fast, an FPGA is changeable and slower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→ Notes Q5 (a), (b) and (c)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183738" y="155968"/>
            <a:ext cx="2400000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latin typeface="Bahnschrift SemiBold" panose="020B0502040204020203" pitchFamily="34" charset="0"/>
              </a:rPr>
              <a:t>FPGAS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1BCE3B-2558-EF1C-1BE4-E6BE51CCC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19356612-C390-F15B-6460-3D350EA26D63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C8330D7-CE1E-984D-362F-17A40B9B6EE1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39D5223-C743-80E4-59B8-4999F3C7E51B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AB3BA95-E6D8-D409-E41B-37925FA2BC43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356607C-79C3-7EE2-EA7C-A991D6A8779F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Cool FPGA tangent: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This is an Analogue Pocket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It’s capable of playing retro games from the</a:t>
            </a:r>
          </a:p>
          <a:p>
            <a:pPr marL="1371600" lvl="2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 err="1">
                <a:solidFill>
                  <a:schemeClr val="bg1"/>
                </a:solidFill>
                <a:latin typeface="Bahnschrift" panose="020B0502040204020203" pitchFamily="34" charset="0"/>
              </a:rPr>
              <a:t>GameBoy</a:t>
            </a: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, </a:t>
            </a:r>
            <a:r>
              <a:rPr lang="en-US" sz="2400" dirty="0" err="1">
                <a:solidFill>
                  <a:schemeClr val="bg1"/>
                </a:solidFill>
                <a:latin typeface="Bahnschrift" panose="020B0502040204020203" pitchFamily="34" charset="0"/>
              </a:rPr>
              <a:t>GameBoy</a:t>
            </a: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 Color, </a:t>
            </a:r>
            <a:r>
              <a:rPr lang="en-US" sz="2400" dirty="0" err="1">
                <a:solidFill>
                  <a:schemeClr val="bg1"/>
                </a:solidFill>
                <a:latin typeface="Bahnschrift" panose="020B0502040204020203" pitchFamily="34" charset="0"/>
              </a:rPr>
              <a:t>GameBody</a:t>
            </a: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 Advance, Sega Game Gear, and Atari Lynx</a:t>
            </a:r>
          </a:p>
          <a:p>
            <a:pPr marL="1371600" lvl="2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Using original cartridges!</a:t>
            </a:r>
          </a:p>
          <a:p>
            <a:pPr marL="1828800" lvl="3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How?</a:t>
            </a:r>
          </a:p>
          <a:p>
            <a:pPr marL="2286000" lvl="4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It uses an FPGA chip that re-architects itself to mimic the original system’s chip perfectly</a:t>
            </a:r>
          </a:p>
          <a:p>
            <a:pPr marL="2743200" lvl="5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Meaning that you can play these games without emulation!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B90A39C-0664-49C8-F45A-1F48A08E9C76}"/>
              </a:ext>
            </a:extLst>
          </p:cNvPr>
          <p:cNvSpPr/>
          <p:nvPr/>
        </p:nvSpPr>
        <p:spPr>
          <a:xfrm>
            <a:off x="183738" y="155968"/>
            <a:ext cx="2400000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latin typeface="Bahnschrift SemiBold" panose="020B0502040204020203" pitchFamily="34" charset="0"/>
              </a:rPr>
              <a:t>FPGAS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D5A41E5-861B-4E3F-F576-F9202F06DA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9991" y="0"/>
            <a:ext cx="3837075" cy="2795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9504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An </a:t>
            </a:r>
            <a:r>
              <a:rPr lang="en-US" sz="24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edge device</a:t>
            </a:r>
            <a:r>
              <a:rPr lang="en-US" sz="2400" dirty="0">
                <a:latin typeface="Bahnschrift" panose="020B0502040204020203" pitchFamily="34" charset="0"/>
              </a:rPr>
              <a:t> runs a machine learning model on the device itself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Such as a phone, a camera, a car, etc.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Data is never sent over the internet, so no delay is present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The data also never leaves the device, making it more private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It keeps working when the network does not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Tight limits on power, memory and heat,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The model must be small enough to run on that device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Unlocking a phone with your face is inference on an edge device: the model is already on the phone, and the photo never leave the phone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→ Notes Q6 (a) and (b)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0" y="185784"/>
            <a:ext cx="4040479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latin typeface="Bahnschrift SemiBold" panose="020B0502040204020203" pitchFamily="34" charset="0"/>
              </a:rPr>
              <a:t>EDGE DEVICES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A </a:t>
            </a:r>
            <a:r>
              <a:rPr lang="en-US" sz="24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cloud platform</a:t>
            </a:r>
            <a:r>
              <a:rPr lang="en-US" sz="2400" dirty="0">
                <a:latin typeface="Bahnschrift" panose="020B0502040204020203" pitchFamily="34" charset="0"/>
              </a:rPr>
              <a:t> rents you the hardware instead of selling it to you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You can take a hundred GPUs for one afternoon and then give them back</a:t>
            </a:r>
          </a:p>
          <a:p>
            <a:pPr marL="1371600" lvl="2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This means that cloud platforms are very good for scaling out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This is IaaS if you manage the machines yourself, PaaS if you just bring the model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An </a:t>
            </a:r>
            <a:r>
              <a:rPr lang="en-US" sz="24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HPC center</a:t>
            </a:r>
            <a:r>
              <a:rPr lang="en-US" sz="2400" dirty="0">
                <a:latin typeface="Bahnschrift" panose="020B0502040204020203" pitchFamily="34" charset="0"/>
              </a:rPr>
              <a:t> (High Performance Compute Center) is a cluster of machines wired together for the very largest training runs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Universities and national laboratories run these, and you queue for time on them</a:t>
            </a:r>
          </a:p>
          <a:p>
            <a:pPr marL="1371600" lvl="2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UTD has one: </a:t>
            </a:r>
            <a:r>
              <a:rPr lang="en-US" sz="2400" dirty="0">
                <a:latin typeface="Bahnschrift" panose="020B0502040204020203" pitchFamily="34" charset="0"/>
                <a:hlinkClick r:id="rId2"/>
              </a:rPr>
              <a:t>https://hpc.utdallas.edu/</a:t>
            </a:r>
            <a:endParaRPr lang="en-US" sz="2400" dirty="0"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386144" y="155968"/>
            <a:ext cx="7938411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latin typeface="Bahnschrift SemiBold" panose="020B0502040204020203" pitchFamily="34" charset="0"/>
              </a:rPr>
              <a:t>CLOUD PLATFORMS AND HPC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Owning the training hardware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Expensive up front, cheap per hour after that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Sits idly by if you aren’t currently training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Renting the training </a:t>
            </a:r>
            <a:r>
              <a:rPr lang="en-US" sz="2400" dirty="0" err="1">
                <a:latin typeface="Bahnschrift" panose="020B0502040204020203" pitchFamily="34" charset="0"/>
              </a:rPr>
              <a:t>hardwre</a:t>
            </a:r>
            <a:endParaRPr lang="en-US" sz="2400" dirty="0">
              <a:latin typeface="Bahnschrift" panose="020B0502040204020203" pitchFamily="34" charset="0"/>
            </a:endParaRP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Costs nothing up front, expensive if you train constantly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Your data is on somebody else’s hardware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It’s another COMPUTER SCIENCE TRADEOFF WOAH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→ Notes Q7 (a) and (b)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386144" y="155968"/>
            <a:ext cx="7769077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latin typeface="Bahnschrift SemiBold" panose="020B0502040204020203" pitchFamily="34" charset="0"/>
              </a:rPr>
              <a:t>CLOUD PLATFORMS AND HPC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160066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The syllabus range runs from a standard laptop to advanced infrastructure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Both ends are right answers, for different jobs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386144" y="155968"/>
            <a:ext cx="8800000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latin typeface="Bahnschrift SemiBold" panose="020B0502040204020203" pitchFamily="34" charset="0"/>
              </a:rPr>
              <a:t>CHOOSING THE HARDWARE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896000" y="3100000"/>
          <a:ext cx="10400000" cy="2819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2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0000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A3C40"/>
                          </a:solidFill>
                          <a:latin typeface="Bahnschrift"/>
                        </a:rPr>
                        <a:t>The scenario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A3C40"/>
                          </a:solidFill>
                          <a:latin typeface="Bahnschrift"/>
                        </a:rPr>
                        <a:t>Training or inference?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A3C40"/>
                          </a:solidFill>
                          <a:latin typeface="Bahnschrift"/>
                        </a:rPr>
                        <a:t>Sensible hardware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A3C40"/>
                          </a:solidFill>
                          <a:latin typeface="Bahnschrift"/>
                        </a:rPr>
                        <a:t>A student trains a model on 2,000 rows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3C40"/>
                          </a:solidFill>
                          <a:latin typeface="Bahnschrift"/>
                        </a:rPr>
                        <a:t>Training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3C40"/>
                          </a:solidFill>
                          <a:latin typeface="Bahnschrift"/>
                        </a:rPr>
                        <a:t>A standard laptop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A3C40"/>
                          </a:solidFill>
                          <a:latin typeface="Bahnschrift"/>
                        </a:rPr>
                        <a:t>A hospital trains on 500,000 scans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3C40"/>
                          </a:solidFill>
                          <a:latin typeface="Bahnschrift"/>
                        </a:rPr>
                        <a:t>Training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3C40"/>
                          </a:solidFill>
                          <a:latin typeface="Bahnschrift"/>
                        </a:rPr>
                        <a:t>Cloud GPUs or an HPC cluster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A3C40"/>
                          </a:solidFill>
                          <a:latin typeface="Bahnschrift"/>
                        </a:rPr>
                        <a:t>A doorbell recognises a face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3C40"/>
                          </a:solidFill>
                          <a:latin typeface="Bahnschrift"/>
                        </a:rPr>
                        <a:t>Inference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3C40"/>
                          </a:solidFill>
                          <a:latin typeface="Bahnschrift"/>
                        </a:rPr>
                        <a:t>An edge device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A3C40"/>
                          </a:solidFill>
                          <a:latin typeface="Bahnschrift"/>
                        </a:rPr>
                        <a:t>One fixed model, run billions of times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3C40"/>
                          </a:solidFill>
                          <a:latin typeface="Bahnschrift"/>
                        </a:rPr>
                        <a:t>Inference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3C40"/>
                          </a:solidFill>
                          <a:latin typeface="Bahnschrift"/>
                        </a:rPr>
                        <a:t>An ASIC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A3C40"/>
                          </a:solidFill>
                          <a:latin typeface="Bahnschrift"/>
                        </a:rPr>
                        <a:t>A team is still changing the design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3C40"/>
                          </a:solidFill>
                          <a:latin typeface="Bahnschrift"/>
                        </a:rPr>
                        <a:t>Either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3C40"/>
                          </a:solidFill>
                          <a:latin typeface="Bahnschrift"/>
                        </a:rPr>
                        <a:t>An FPGA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To decide, ask yourself these three questions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1: is this training or inference?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2: how much data has to be read, and how often?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3: does it have to be instant, private, or work offline?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Then justify it using processing, storage and scalability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→ Notes Q8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267611" y="155968"/>
            <a:ext cx="7440667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latin typeface="Bahnschrift SemiBold" panose="020B0502040204020203" pitchFamily="34" charset="0"/>
              </a:rPr>
              <a:t>CHOOSING THE HARDWARE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Quiz A4-1 — Topic A4.1, 13 marks, 15 minutes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Covers lesson A4-1 and today: the three types of machine learning, training data and labels, and hardware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Notes away, laptops away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183738" y="155968"/>
            <a:ext cx="2000000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latin typeface="Bahnschrift SemiBold" panose="020B0502040204020203" pitchFamily="34" charset="0"/>
              </a:rPr>
              <a:t>QUIZ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2897663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Training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Inference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Processing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Storage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Scalability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Scaling up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Scaling out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CPU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GPU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358628" y="155968"/>
            <a:ext cx="8385028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latin typeface="Bahnschrift SemiBold" panose="020B0502040204020203" pitchFamily="34" charset="0"/>
              </a:rPr>
              <a:t>VOCABULARY TO REMEMBER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08F6C99-7DA9-E963-361C-ABB7A467AD11}"/>
              </a:ext>
            </a:extLst>
          </p:cNvPr>
          <p:cNvSpPr/>
          <p:nvPr/>
        </p:nvSpPr>
        <p:spPr>
          <a:xfrm>
            <a:off x="3714308" y="1299334"/>
            <a:ext cx="3606371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ASIC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TPU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FPGA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Edge device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Cloud platform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IaaS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PaaS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HPC centre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Latency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A42C1F0-BFEA-FF64-C8D1-26451E9CF3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30" b="640"/>
          <a:stretch>
            <a:fillRect/>
          </a:stretch>
        </p:blipFill>
        <p:spPr>
          <a:xfrm flipH="1">
            <a:off x="8394191" y="3429000"/>
            <a:ext cx="3278463" cy="2982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9">
      <a:dk1>
        <a:sysClr val="windowText" lastClr="000000"/>
      </a:dk1>
      <a:lt1>
        <a:sysClr val="window" lastClr="FFFFFF"/>
      </a:lt1>
      <a:dk2>
        <a:srgbClr val="323232"/>
      </a:dk2>
      <a:lt2>
        <a:srgbClr val="E5C243"/>
      </a:lt2>
      <a:accent1>
        <a:srgbClr val="C00000"/>
      </a:accent1>
      <a:accent2>
        <a:srgbClr val="C00000"/>
      </a:accent2>
      <a:accent3>
        <a:srgbClr val="E19825"/>
      </a:accent3>
      <a:accent4>
        <a:srgbClr val="B19C7D"/>
      </a:accent4>
      <a:accent5>
        <a:srgbClr val="7F5F52"/>
      </a:accent5>
      <a:accent6>
        <a:srgbClr val="B27D49"/>
      </a:accent6>
      <a:hlink>
        <a:srgbClr val="6B9F25"/>
      </a:hlink>
      <a:folHlink>
        <a:srgbClr val="B26B02"/>
      </a:folHlink>
    </a:clrScheme>
    <a:fontScheme name="Custom 1">
      <a:majorFont>
        <a:latin typeface="Bahnschrift"/>
        <a:ea typeface=""/>
        <a:cs typeface=""/>
      </a:majorFont>
      <a:minorFont>
        <a:latin typeface="Bahnschrif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45860</TotalTime>
  <Words>1552</Words>
  <Application>Microsoft Office PowerPoint</Application>
  <PresentationFormat>Widescreen</PresentationFormat>
  <Paragraphs>202</Paragraphs>
  <Slides>22</Slides>
  <Notes>8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Aptos</vt:lpstr>
      <vt:lpstr>Arial</vt:lpstr>
      <vt:lpstr>Bahnschrift</vt:lpstr>
      <vt:lpstr>Bahnschrift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Hill</dc:creator>
  <cp:lastModifiedBy>Michael Hill</cp:lastModifiedBy>
  <cp:revision>47</cp:revision>
  <dcterms:created xsi:type="dcterms:W3CDTF">2025-08-11T14:07:39Z</dcterms:created>
  <dcterms:modified xsi:type="dcterms:W3CDTF">2026-10-06T17:09:57Z</dcterms:modified>
</cp:coreProperties>
</file>