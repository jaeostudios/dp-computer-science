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91" r:id="rId9"/>
    <p:sldId id="264" r:id="rId10"/>
    <p:sldId id="265" r:id="rId11"/>
    <p:sldId id="266" r:id="rId12"/>
    <p:sldId id="267" r:id="rId13"/>
    <p:sldId id="268" r:id="rId14"/>
    <p:sldId id="296" r:id="rId15"/>
    <p:sldId id="290" r:id="rId16"/>
    <p:sldId id="269" r:id="rId17"/>
    <p:sldId id="292" r:id="rId18"/>
    <p:sldId id="293" r:id="rId19"/>
    <p:sldId id="294" r:id="rId20"/>
    <p:sldId id="270" r:id="rId21"/>
    <p:sldId id="295" r:id="rId22"/>
    <p:sldId id="271" r:id="rId23"/>
    <p:sldId id="272" r:id="rId24"/>
    <p:sldId id="273" r:id="rId25"/>
    <p:sldId id="274" r:id="rId26"/>
    <p:sldId id="28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CC"/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84" autoAdjust="0"/>
    <p:restoredTop sz="89467" autoAdjust="0"/>
  </p:normalViewPr>
  <p:slideViewPr>
    <p:cSldViewPr snapToGrid="0">
      <p:cViewPr>
        <p:scale>
          <a:sx n="50" d="100"/>
          <a:sy n="50" d="100"/>
        </p:scale>
        <p:origin x="312" y="113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9F274-E0A9-936B-5A11-1BAC70E4C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011D6B-32EB-3670-7E4D-486ED35165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F80D63-1BE4-FE8C-ECDA-7652CA4FE3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99FE6-425D-E76E-A0AB-7F60416DBE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608870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11F58-BD61-4E37-36FA-B05E22A99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0FEC07-E455-7099-49DC-EA3A7924EC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EFBE80-4252-51DB-9345-E02DC557DC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DDDA9-4582-E9DD-C06F-1D1073AA08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819505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17086-4C6E-8DF5-AC6E-C4A5EB0FF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16CF9-5126-01A0-D651-8DED19BF0B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860BA-EA55-68B5-33EC-20B0FA47D1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735CD-BD7B-54CC-0451-661215D831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448765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979A4-B6E4-2D1E-4CFD-4662F6776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AC27A7-4168-7F69-6B0D-03D9ECFE21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290426-AC57-4050-11F4-15375DF443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A402C-8B11-A84E-AA1C-1265906B7B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184987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96B8A-9FB6-AABF-EAEA-3904CBC00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CDFB6B-F58B-ABB1-42BF-D6156698BC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06A2E0-B53C-19FE-9057-E6C8216C3E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60263-AC26-3718-78C2-758F7899DC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407764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1E834-75CC-AF09-320C-C86CB3BB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49E5F4-67D0-B9E5-8934-17198567D3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4C483-77BD-84DF-8E32-E1893EB544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11B34-E63A-44FE-51C0-C55142E3B8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79467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CAF41-CDA9-A725-1CC2-9404BA257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48D783-B860-75FE-B45F-1DD6B8A87C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F119F6-A651-5527-D1EC-6C1B01479C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F8EF5-18D0-CD61-52A4-317E2A56D8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501943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TOPIC A1:</a:t>
            </a:r>
          </a:p>
          <a:p>
            <a:pPr marL="0" indent="0" algn="ctr">
              <a:buNone/>
            </a:pPr>
            <a:r>
              <a:rPr lang="en-US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COMPUTER FUNDAMENTALS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719147" y="2724998"/>
            <a:ext cx="4008656" cy="116091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LESSON A1-8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5683623" y="3728134"/>
            <a:ext cx="4307401" cy="76226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bg1"/>
                </a:solidFill>
                <a:latin typeface="Bahnschrift SemiBold" panose="020B0502040204020203" pitchFamily="34" charset="0"/>
              </a:rPr>
              <a:t>CONTROL SYSTEMS</a:t>
            </a:r>
          </a:p>
        </p:txBody>
      </p:sp>
      <p:sp>
        <p:nvSpPr>
          <p:cNvPr id="3" name="Star: 12 Points 2">
            <a:extLst>
              <a:ext uri="{FF2B5EF4-FFF2-40B4-BE49-F238E27FC236}">
                <a16:creationId xmlns:a16="http://schemas.microsoft.com/office/drawing/2014/main" id="{6C078528-844D-80C4-DF0A-A58D1BCD28EB}"/>
              </a:ext>
            </a:extLst>
          </p:cNvPr>
          <p:cNvSpPr/>
          <p:nvPr/>
        </p:nvSpPr>
        <p:spPr>
          <a:xfrm>
            <a:off x="10116062" y="1476390"/>
            <a:ext cx="1647265" cy="1647265"/>
          </a:xfrm>
          <a:prstGeom prst="star12">
            <a:avLst/>
          </a:prstGeom>
          <a:solidFill>
            <a:schemeClr val="accent6">
              <a:lumMod val="75000"/>
            </a:schemeClr>
          </a:solidFill>
          <a:ln>
            <a:noFill/>
          </a:ln>
          <a:scene3d>
            <a:camera prst="perspectiveHeroicExtremeRightFacing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HL ONLY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7095753" y="1908368"/>
            <a:ext cx="4516539" cy="22556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buFont typeface="Arial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Bahnschrift" panose="020B0502040204020203" pitchFamily="34" charset="0"/>
              </a:rPr>
              <a:t>Guided Notes</a:t>
            </a:r>
          </a:p>
          <a:p>
            <a:pPr algn="ctr">
              <a:buFont typeface="Arial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Bahnschrift" panose="020B0502040204020203" pitchFamily="34" charset="0"/>
              </a:rPr>
              <a:t>Your Lesson A1-8 Guided Notes</a:t>
            </a:r>
          </a:p>
          <a:p>
            <a:pPr algn="ctr">
              <a:buFont typeface="Arial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Bahnschrift" panose="020B0502040204020203" pitchFamily="34" charset="0"/>
              </a:rPr>
              <a:t>A pen</a:t>
            </a:r>
          </a:p>
          <a:p>
            <a:pPr algn="ctr">
              <a:buFont typeface="Arial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Bahnschrift" panose="020B0502040204020203" pitchFamily="34" charset="0"/>
              </a:rPr>
              <a:t>No calculator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109714" y="1181477"/>
            <a:ext cx="5413224" cy="53916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457200" indent="-457200"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Input, process, output, feedback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Open-loop and closed-loop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The components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The thermostat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Real-world control systems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Control loops and the scheduler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Lab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Close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825600" y="1466923"/>
            <a:ext cx="5014261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WHAT U NEED 4 LESSON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D8CA8B0B-29B4-4F45-A9BE-88F49F9B442F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6D1CAEE-B319-A780-9B96-038987577C8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6E9AA4A-F120-DD17-0CB0-2E85BDEF169E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F514AF8-7688-1CAF-271C-812A3A4CA6FC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0311B9-8000-00E2-EA2F-52B51C9C4A41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(a) State what is meant by latency [1]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(b) A device generates events very rarely and runs on a battery. State whether polling or interrupt handling is the better choice [1]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(c) State one cost of a context switch [1]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→ Notes Q1 (a), (b), (c)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D908BF-3440-E0DF-2F0E-30B56B6F809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22" name="Picture 21" descr="url_upload_6a7f3d9e572a4.gif [effects output image]">
            <a:extLst>
              <a:ext uri="{FF2B5EF4-FFF2-40B4-BE49-F238E27FC236}">
                <a16:creationId xmlns:a16="http://schemas.microsoft.com/office/drawing/2014/main" id="{D9271AD9-D578-11DF-7DA1-51581A51B57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-169085" y="4388056"/>
            <a:ext cx="2786643" cy="2667000"/>
          </a:xfrm>
          <a:prstGeom prst="rect">
            <a:avLst/>
          </a:prstGeom>
        </p:spPr>
      </p:pic>
      <p:pic>
        <p:nvPicPr>
          <p:cNvPr id="24" name="Picture 23" descr="url_upload_6a7f3d9e572a4.gif [effects output image]">
            <a:extLst>
              <a:ext uri="{FF2B5EF4-FFF2-40B4-BE49-F238E27FC236}">
                <a16:creationId xmlns:a16="http://schemas.microsoft.com/office/drawing/2014/main" id="{B30C67D8-C8AA-F1F8-B373-1AECB05C01A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2617558" y="4388056"/>
            <a:ext cx="2786643" cy="2667000"/>
          </a:xfrm>
          <a:prstGeom prst="rect">
            <a:avLst/>
          </a:prstGeom>
        </p:spPr>
      </p:pic>
      <p:pic>
        <p:nvPicPr>
          <p:cNvPr id="26" name="Picture 25" descr="url_upload_6a7f3d9e572a4.gif [effects output image]">
            <a:extLst>
              <a:ext uri="{FF2B5EF4-FFF2-40B4-BE49-F238E27FC236}">
                <a16:creationId xmlns:a16="http://schemas.microsoft.com/office/drawing/2014/main" id="{BFEBAE74-AEA2-B3C2-EF07-F84EA1B7D41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5404201" y="4388056"/>
            <a:ext cx="2786643" cy="2667000"/>
          </a:xfrm>
          <a:prstGeom prst="rect">
            <a:avLst/>
          </a:prstGeom>
        </p:spPr>
      </p:pic>
      <p:pic>
        <p:nvPicPr>
          <p:cNvPr id="28" name="Picture 27" descr="url_upload_6a7f3d9e572a4.gif [effects output image]">
            <a:extLst>
              <a:ext uri="{FF2B5EF4-FFF2-40B4-BE49-F238E27FC236}">
                <a16:creationId xmlns:a16="http://schemas.microsoft.com/office/drawing/2014/main" id="{BD5F3A05-97A3-AEB7-0085-9F08A9DC8C5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8190844" y="4388056"/>
            <a:ext cx="2786643" cy="2667000"/>
          </a:xfrm>
          <a:prstGeom prst="rect">
            <a:avLst/>
          </a:prstGeom>
        </p:spPr>
      </p:pic>
      <p:pic>
        <p:nvPicPr>
          <p:cNvPr id="30" name="Picture 29" descr="url_upload_6a7f3d9e572a4.gif [effects output image]">
            <a:extLst>
              <a:ext uri="{FF2B5EF4-FFF2-40B4-BE49-F238E27FC236}">
                <a16:creationId xmlns:a16="http://schemas.microsoft.com/office/drawing/2014/main" id="{A17A3B87-5760-271D-2622-96C0BC318E5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10977487" y="4388056"/>
            <a:ext cx="2786643" cy="2667000"/>
          </a:xfrm>
          <a:prstGeom prst="rect">
            <a:avLst/>
          </a:prstGeom>
        </p:spPr>
      </p:pic>
      <p:pic>
        <p:nvPicPr>
          <p:cNvPr id="32" name="Picture 31" descr="url_upload_6a7f3d9e572a4.gif [effects output image]">
            <a:extLst>
              <a:ext uri="{FF2B5EF4-FFF2-40B4-BE49-F238E27FC236}">
                <a16:creationId xmlns:a16="http://schemas.microsoft.com/office/drawing/2014/main" id="{D6465FBC-B66B-79FB-ACEB-2DCDCF85F1E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684191" y="-2330208"/>
            <a:ext cx="2786643" cy="2667000"/>
          </a:xfrm>
          <a:prstGeom prst="rect">
            <a:avLst/>
          </a:prstGeom>
        </p:spPr>
      </p:pic>
      <p:pic>
        <p:nvPicPr>
          <p:cNvPr id="34" name="Picture 33" descr="url_upload_6a7f3d9e572a4.gif [effects output image]">
            <a:extLst>
              <a:ext uri="{FF2B5EF4-FFF2-40B4-BE49-F238E27FC236}">
                <a16:creationId xmlns:a16="http://schemas.microsoft.com/office/drawing/2014/main" id="{E2180E99-6E7F-D0AD-5B11-3A8AD8CC719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3897548" y="-2330208"/>
            <a:ext cx="2786643" cy="2667000"/>
          </a:xfrm>
          <a:prstGeom prst="rect">
            <a:avLst/>
          </a:prstGeom>
        </p:spPr>
      </p:pic>
      <p:pic>
        <p:nvPicPr>
          <p:cNvPr id="36" name="Picture 35" descr="url_upload_6a7f3d9e572a4.gif [effects output image]">
            <a:extLst>
              <a:ext uri="{FF2B5EF4-FFF2-40B4-BE49-F238E27FC236}">
                <a16:creationId xmlns:a16="http://schemas.microsoft.com/office/drawing/2014/main" id="{0130BB2A-2F5C-C6D8-B500-A2A8AC710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0738" r="41253"/>
          <a:stretch>
            <a:fillRect/>
          </a:stretch>
        </p:blipFill>
        <p:spPr>
          <a:xfrm>
            <a:off x="2094614" y="-2330208"/>
            <a:ext cx="1802934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36">
            <a:extLst>
              <a:ext uri="{FF2B5EF4-FFF2-40B4-BE49-F238E27FC236}">
                <a16:creationId xmlns:a16="http://schemas.microsoft.com/office/drawing/2014/main" id="{7D341957-430A-EF60-D3EA-CD511D2CA7D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D7D693E-B573-D0BC-DFB1-6C79697387BD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F25AC2E-0D02-E810-9216-42CF152FB28F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0793B20-5976-9D4C-5A7B-1C85E4E6D59A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B3F6CA5-D24F-822D-5553-1951788E1282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(a) The delay between an event happening and the system responding to it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(b) Interrupts — rare events, and polling would drain the battery quickly for no real benefit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(c) CPU time spent saving and restoring registers instead of doing real work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0C41D60-D405-256A-C157-C77194A788CD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49" name="Picture 48" descr="url_upload_6a7f3d9e572a4.gif [effects output image]">
            <a:extLst>
              <a:ext uri="{FF2B5EF4-FFF2-40B4-BE49-F238E27FC236}">
                <a16:creationId xmlns:a16="http://schemas.microsoft.com/office/drawing/2014/main" id="{1F63E1F1-0756-EF0C-E6AF-968433CAC62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-169085" y="4388056"/>
            <a:ext cx="2786643" cy="2667000"/>
          </a:xfrm>
          <a:prstGeom prst="rect">
            <a:avLst/>
          </a:prstGeom>
        </p:spPr>
      </p:pic>
      <p:pic>
        <p:nvPicPr>
          <p:cNvPr id="51" name="Picture 50" descr="url_upload_6a7f3d9e572a4.gif [effects output image]">
            <a:extLst>
              <a:ext uri="{FF2B5EF4-FFF2-40B4-BE49-F238E27FC236}">
                <a16:creationId xmlns:a16="http://schemas.microsoft.com/office/drawing/2014/main" id="{8A9E958D-CAB4-E31F-D274-C5DC23B9AAB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2617558" y="4388056"/>
            <a:ext cx="2786643" cy="2667000"/>
          </a:xfrm>
          <a:prstGeom prst="rect">
            <a:avLst/>
          </a:prstGeom>
        </p:spPr>
      </p:pic>
      <p:pic>
        <p:nvPicPr>
          <p:cNvPr id="53" name="Picture 52" descr="url_upload_6a7f3d9e572a4.gif [effects output image]">
            <a:extLst>
              <a:ext uri="{FF2B5EF4-FFF2-40B4-BE49-F238E27FC236}">
                <a16:creationId xmlns:a16="http://schemas.microsoft.com/office/drawing/2014/main" id="{EFA8071E-ECE9-5E87-EBC1-9406172589E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5404201" y="4388056"/>
            <a:ext cx="2786643" cy="2667000"/>
          </a:xfrm>
          <a:prstGeom prst="rect">
            <a:avLst/>
          </a:prstGeom>
        </p:spPr>
      </p:pic>
      <p:pic>
        <p:nvPicPr>
          <p:cNvPr id="55" name="Picture 54" descr="url_upload_6a7f3d9e572a4.gif [effects output image]">
            <a:extLst>
              <a:ext uri="{FF2B5EF4-FFF2-40B4-BE49-F238E27FC236}">
                <a16:creationId xmlns:a16="http://schemas.microsoft.com/office/drawing/2014/main" id="{535DAD8F-0FF6-7295-4492-667763D062E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8190844" y="4388056"/>
            <a:ext cx="2786643" cy="2667000"/>
          </a:xfrm>
          <a:prstGeom prst="rect">
            <a:avLst/>
          </a:prstGeom>
        </p:spPr>
      </p:pic>
      <p:pic>
        <p:nvPicPr>
          <p:cNvPr id="57" name="Picture 56" descr="url_upload_6a7f3d9e572a4.gif [effects output image]">
            <a:extLst>
              <a:ext uri="{FF2B5EF4-FFF2-40B4-BE49-F238E27FC236}">
                <a16:creationId xmlns:a16="http://schemas.microsoft.com/office/drawing/2014/main" id="{B0551EF5-1990-2D5E-C471-94E2AF03B51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10977487" y="4388056"/>
            <a:ext cx="2786643" cy="2667000"/>
          </a:xfrm>
          <a:prstGeom prst="rect">
            <a:avLst/>
          </a:prstGeom>
        </p:spPr>
      </p:pic>
      <p:pic>
        <p:nvPicPr>
          <p:cNvPr id="59" name="Picture 58" descr="url_upload_6a7f3d9e572a4.gif [effects output image]">
            <a:extLst>
              <a:ext uri="{FF2B5EF4-FFF2-40B4-BE49-F238E27FC236}">
                <a16:creationId xmlns:a16="http://schemas.microsoft.com/office/drawing/2014/main" id="{F6F5A0E4-4228-1D5B-57AD-F5A99AEDE57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684191" y="-2330208"/>
            <a:ext cx="2786643" cy="2667000"/>
          </a:xfrm>
          <a:prstGeom prst="rect">
            <a:avLst/>
          </a:prstGeom>
        </p:spPr>
      </p:pic>
      <p:pic>
        <p:nvPicPr>
          <p:cNvPr id="61" name="Picture 60" descr="url_upload_6a7f3d9e572a4.gif [effects output image]">
            <a:extLst>
              <a:ext uri="{FF2B5EF4-FFF2-40B4-BE49-F238E27FC236}">
                <a16:creationId xmlns:a16="http://schemas.microsoft.com/office/drawing/2014/main" id="{42DA75FB-0429-60F7-5515-8B7E611343C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3897548" y="-2330208"/>
            <a:ext cx="2786643" cy="2667000"/>
          </a:xfrm>
          <a:prstGeom prst="rect">
            <a:avLst/>
          </a:prstGeom>
        </p:spPr>
      </p:pic>
      <p:pic>
        <p:nvPicPr>
          <p:cNvPr id="63" name="Picture 62" descr="url_upload_6a7f3d9e572a4.gif [effects output image]">
            <a:extLst>
              <a:ext uri="{FF2B5EF4-FFF2-40B4-BE49-F238E27FC236}">
                <a16:creationId xmlns:a16="http://schemas.microsoft.com/office/drawing/2014/main" id="{02320BBC-A140-08D8-5B51-6950E8894A3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0738" r="41253"/>
          <a:stretch>
            <a:fillRect/>
          </a:stretch>
        </p:blipFill>
        <p:spPr>
          <a:xfrm>
            <a:off x="2094614" y="-2330208"/>
            <a:ext cx="1802934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Last lesson we talked about how the OS decides which program runs on the CPU at what time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Today, we talk about how computers perform operations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Such as operating a machine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control system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takes an input, processes it, and produces an output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Can you all think of anything you own that is a control system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606278" y="155968"/>
            <a:ext cx="1002082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INPUT, PROCESS, OUTPUT, FEEDBACK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D04ED8-5DF8-4546-EC22-163B5F7B1D43}"/>
              </a:ext>
            </a:extLst>
          </p:cNvPr>
          <p:cNvSpPr/>
          <p:nvPr/>
        </p:nvSpPr>
        <p:spPr>
          <a:xfrm>
            <a:off x="1265645" y="4727575"/>
            <a:ext cx="1384567" cy="625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78A085-B717-9C89-2003-81649E75699C}"/>
              </a:ext>
            </a:extLst>
          </p:cNvPr>
          <p:cNvSpPr/>
          <p:nvPr/>
        </p:nvSpPr>
        <p:spPr>
          <a:xfrm>
            <a:off x="4734330" y="5040312"/>
            <a:ext cx="1384567" cy="625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185EFC-AF7E-1B21-FFE6-70D195856BDB}"/>
              </a:ext>
            </a:extLst>
          </p:cNvPr>
          <p:cNvSpPr/>
          <p:nvPr/>
        </p:nvSpPr>
        <p:spPr>
          <a:xfrm>
            <a:off x="8029980" y="4624387"/>
            <a:ext cx="1384567" cy="625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8C51746-9FC8-4617-695A-FA67DB9D9158}"/>
              </a:ext>
            </a:extLst>
          </p:cNvPr>
          <p:cNvCxnSpPr>
            <a:stCxn id="2" idx="3"/>
          </p:cNvCxnSpPr>
          <p:nvPr/>
        </p:nvCxnSpPr>
        <p:spPr>
          <a:xfrm>
            <a:off x="2650212" y="5040313"/>
            <a:ext cx="2077685" cy="312736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C658C2-3FD0-7D93-8BF1-C8856B065D0D}"/>
              </a:ext>
            </a:extLst>
          </p:cNvPr>
          <p:cNvCxnSpPr>
            <a:cxnSpLocks/>
          </p:cNvCxnSpPr>
          <p:nvPr/>
        </p:nvCxnSpPr>
        <p:spPr>
          <a:xfrm flipV="1">
            <a:off x="6125330" y="4937124"/>
            <a:ext cx="1904650" cy="430286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Feedback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is the process measuring the output and sending it back as part of the input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system can then tell whether what it did actually worked, if it should continue the same thing, or if it should begin to do something different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If I’m running a heater, and I set the temperature, but the heater doesn’t check the heat in the room, how will it know to stop making things warmer?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→ Notes Q2 (a) and (b) [3 marks]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507074" y="155968"/>
            <a:ext cx="991777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INPUT, PROCESS, OUTPUT, FEEDBACK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C782CB-124B-1C16-A6A5-3C794008539E}"/>
              </a:ext>
            </a:extLst>
          </p:cNvPr>
          <p:cNvSpPr/>
          <p:nvPr/>
        </p:nvSpPr>
        <p:spPr>
          <a:xfrm>
            <a:off x="1935031" y="5607899"/>
            <a:ext cx="1384567" cy="625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CCBADC-FAAE-42DA-23F3-C4D49A7B3AD6}"/>
              </a:ext>
            </a:extLst>
          </p:cNvPr>
          <p:cNvSpPr/>
          <p:nvPr/>
        </p:nvSpPr>
        <p:spPr>
          <a:xfrm>
            <a:off x="5403716" y="5920636"/>
            <a:ext cx="1384567" cy="625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60B1CB-AADB-69E5-D2BB-468C91F8783D}"/>
              </a:ext>
            </a:extLst>
          </p:cNvPr>
          <p:cNvSpPr/>
          <p:nvPr/>
        </p:nvSpPr>
        <p:spPr>
          <a:xfrm>
            <a:off x="8699366" y="5504711"/>
            <a:ext cx="1384567" cy="625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413785B-E8EC-CFB6-793A-6A2890761F31}"/>
              </a:ext>
            </a:extLst>
          </p:cNvPr>
          <p:cNvCxnSpPr>
            <a:stCxn id="13" idx="3"/>
          </p:cNvCxnSpPr>
          <p:nvPr/>
        </p:nvCxnSpPr>
        <p:spPr>
          <a:xfrm>
            <a:off x="3319598" y="5920637"/>
            <a:ext cx="2077685" cy="312736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F1D0A22-E248-C3E7-EE96-ECCB94A0EB6E}"/>
              </a:ext>
            </a:extLst>
          </p:cNvPr>
          <p:cNvCxnSpPr>
            <a:cxnSpLocks/>
          </p:cNvCxnSpPr>
          <p:nvPr/>
        </p:nvCxnSpPr>
        <p:spPr>
          <a:xfrm flipV="1">
            <a:off x="6794716" y="5817448"/>
            <a:ext cx="1904650" cy="430286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AF56AE3-97FE-1A2B-6DAD-6335C2F8E164}"/>
              </a:ext>
            </a:extLst>
          </p:cNvPr>
          <p:cNvCxnSpPr>
            <a:cxnSpLocks/>
          </p:cNvCxnSpPr>
          <p:nvPr/>
        </p:nvCxnSpPr>
        <p:spPr>
          <a:xfrm flipH="1">
            <a:off x="3319598" y="5505450"/>
            <a:ext cx="5443402" cy="50335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Open-loop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: no feedback. The output does not affect the next decision.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Closed-loop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: the output is measured and fed back in. Feedback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It’s a different design, but machines can run both ways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It all depends on if there’s feedback involved or not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OPEN-LOOP AND CLOSED-LOOP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EEF06D-E799-77B8-3624-640883605A9E}"/>
              </a:ext>
            </a:extLst>
          </p:cNvPr>
          <p:cNvSpPr/>
          <p:nvPr/>
        </p:nvSpPr>
        <p:spPr>
          <a:xfrm>
            <a:off x="1265645" y="4727575"/>
            <a:ext cx="1384567" cy="625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824AC1-E99F-ECCE-D020-0277637ECE41}"/>
              </a:ext>
            </a:extLst>
          </p:cNvPr>
          <p:cNvSpPr/>
          <p:nvPr/>
        </p:nvSpPr>
        <p:spPr>
          <a:xfrm>
            <a:off x="3141602" y="5636842"/>
            <a:ext cx="1384567" cy="625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4921F3-F1B3-AD5B-68C1-4C5366BAE2F4}"/>
              </a:ext>
            </a:extLst>
          </p:cNvPr>
          <p:cNvSpPr/>
          <p:nvPr/>
        </p:nvSpPr>
        <p:spPr>
          <a:xfrm>
            <a:off x="4879115" y="4748674"/>
            <a:ext cx="1384567" cy="625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0A06405-AAB2-50CC-55F3-792C3D03BDD4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2650212" y="5040313"/>
            <a:ext cx="432242" cy="752899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DAFA65C-AFE6-90BB-155C-8887A14504AE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4533808" y="5374149"/>
            <a:ext cx="1037591" cy="592305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0FE9BDD-E6A0-CE53-E103-1AFF39619640}"/>
              </a:ext>
            </a:extLst>
          </p:cNvPr>
          <p:cNvSpPr/>
          <p:nvPr/>
        </p:nvSpPr>
        <p:spPr>
          <a:xfrm>
            <a:off x="6362239" y="5424559"/>
            <a:ext cx="1384567" cy="625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379CC4-A488-B17A-33E2-F03C39957D50}"/>
              </a:ext>
            </a:extLst>
          </p:cNvPr>
          <p:cNvSpPr/>
          <p:nvPr/>
        </p:nvSpPr>
        <p:spPr>
          <a:xfrm>
            <a:off x="8724900" y="5802482"/>
            <a:ext cx="1384567" cy="625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FFE8F1-5876-C621-FDF3-BD02250CA486}"/>
              </a:ext>
            </a:extLst>
          </p:cNvPr>
          <p:cNvSpPr/>
          <p:nvPr/>
        </p:nvSpPr>
        <p:spPr>
          <a:xfrm>
            <a:off x="10711208" y="5281219"/>
            <a:ext cx="1384567" cy="625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4FC48D9-C50A-F2D9-F4B9-7771B727981C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7746806" y="5737297"/>
            <a:ext cx="978094" cy="338794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28BF92D-4A0A-A5E9-6B9E-82097E64A17A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10135236" y="5593957"/>
            <a:ext cx="575972" cy="482134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B041A09-A2E0-ABAA-D013-9CB411EA4895}"/>
              </a:ext>
            </a:extLst>
          </p:cNvPr>
          <p:cNvCxnSpPr>
            <a:cxnSpLocks/>
          </p:cNvCxnSpPr>
          <p:nvPr/>
        </p:nvCxnSpPr>
        <p:spPr>
          <a:xfrm flipH="1">
            <a:off x="7746806" y="5306405"/>
            <a:ext cx="2964402" cy="127275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757B42-E855-5BF6-9CFE-E35B53655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E3CE356-08A4-059A-2CFF-0D881D8B83D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40951B9-2253-C0D0-5019-2147FAD04A0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BE72E1-2D87-A5F7-DCC6-F51856F3841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522E449-2EF6-7AB9-7017-AA3170AC5C9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67856D-922C-7063-AD8F-78107EA41351}"/>
              </a:ext>
            </a:extLst>
          </p:cNvPr>
          <p:cNvSpPr/>
          <p:nvPr/>
        </p:nvSpPr>
        <p:spPr>
          <a:xfrm>
            <a:off x="630768" y="1299334"/>
            <a:ext cx="10341382" cy="180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In each of these cases, which is the better solution to the problem?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→ Notes Q3 (a), (b) and (c) [4 marks]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38B42D-5F3F-CD25-3E4A-9705A319DE90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OPEN-LOOP AND CLOSED-LOOP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5711583-2485-9AEE-0CAA-A539594B45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999684"/>
              </p:ext>
            </p:extLst>
          </p:nvPr>
        </p:nvGraphicFramePr>
        <p:xfrm>
          <a:off x="746000" y="3300000"/>
          <a:ext cx="10700000" cy="2021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Job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Open-loop version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Closed-loop version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Watering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Runs 20 min at 6am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Runs until the soil sensor reads wet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Toasting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Runs for 2 minutes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Runs until the browning sensor trips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Traffic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Changes every 45 s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Changes when the road loop counts </a:t>
                      </a:r>
                      <a:r>
                        <a:rPr lang="en-US"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no cars going through the light</a:t>
                      </a:r>
                      <a:endParaRPr sz="2000" b="0" dirty="0">
                        <a:solidFill>
                          <a:srgbClr val="1A3C40"/>
                        </a:solidFill>
                        <a:latin typeface="Bahnschrift"/>
                      </a:endParaRP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976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sensor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measures something physical and turns it into a signal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Examples: Thermistor (temperature sensor), humidity sensor, motion sensor, etc.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transducer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converts energy from one form into another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Every sensor is a transducer, so is anything that takes a digital signal and converts it to something in the real world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0" y="155968"/>
            <a:ext cx="50449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THE COMPONENTS</a:t>
            </a:r>
          </a:p>
        </p:txBody>
      </p:sp>
      <p:pic>
        <p:nvPicPr>
          <p:cNvPr id="2" name="Picture 1" descr="Thermistor Temperature Sensor Arduino">
            <a:extLst>
              <a:ext uri="{FF2B5EF4-FFF2-40B4-BE49-F238E27FC236}">
                <a16:creationId xmlns:a16="http://schemas.microsoft.com/office/drawing/2014/main" id="{5937B232-AC71-4137-D001-4A3FCA09B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11" y="4360166"/>
            <a:ext cx="2019444" cy="21592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173853-B7C2-B11C-2230-637166FFD0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6434" y="4458161"/>
            <a:ext cx="2466975" cy="1847629"/>
          </a:xfrm>
          <a:prstGeom prst="rect">
            <a:avLst/>
          </a:prstGeom>
        </p:spPr>
      </p:pic>
      <p:pic>
        <p:nvPicPr>
          <p:cNvPr id="10" name="Picture 9" descr="What Is Passive Infrared Motion Sensor at Hamish Riddoch blog">
            <a:extLst>
              <a:ext uri="{FF2B5EF4-FFF2-40B4-BE49-F238E27FC236}">
                <a16:creationId xmlns:a16="http://schemas.microsoft.com/office/drawing/2014/main" id="{82257B54-25DC-A75D-F0B5-EC4992EF4B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2991" y="4458161"/>
            <a:ext cx="2374107" cy="23741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1561232" cy="265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controller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runs the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control algorithm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and decides what to do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This is the computer in the situation, often a microchip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An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actuator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is the part that acts, or moves, like a motor, valve, heating element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This is also a transducer, just like the sensors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→ Notes Q4 (a) and (b) [5 marks]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0" y="155968"/>
            <a:ext cx="51592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THE COMPONENTS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034725"/>
              </p:ext>
            </p:extLst>
          </p:nvPr>
        </p:nvGraphicFramePr>
        <p:xfrm>
          <a:off x="1046000" y="4150000"/>
          <a:ext cx="10100000" cy="2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Component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In a thermostat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Sensor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Thermistor reading room temperature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Controller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The chip comparing the reading to the set point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Control algorithm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The on / off rule it follows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Actuator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The relay that switches the </a:t>
                      </a:r>
                      <a:r>
                        <a:rPr lang="en-US"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heater on</a:t>
                      </a:r>
                      <a:endParaRPr sz="2000" b="0" dirty="0">
                        <a:solidFill>
                          <a:srgbClr val="1A3C40"/>
                        </a:solidFill>
                        <a:latin typeface="Bahnschrift"/>
                      </a:endParaRP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set point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is the temperature you asked for: 72.0 °F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error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is the difference between the set point and the current reading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Switching at exactly 72.0 would make the boiler toggle as it fluctuates between 71 and 72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26957" y="155968"/>
            <a:ext cx="479727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THE THERMOSTAT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584623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So the rule uses a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dead band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instead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Turn the heater on if the temperature is below 71.5 °F, OFF above 72.5 °F, nothing in between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If the temperature is hovering at 71.9 / 72.1 / 71.95: 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If the logic simply switches the heater on as soon as it’s higher than 21, the heater is toggling on and off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Wasting energy as it toggles and has to turn back 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0" y="129275"/>
            <a:ext cx="494967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THE THERMOSTAT</a:t>
            </a:r>
          </a:p>
        </p:txBody>
      </p:sp>
      <p:pic>
        <p:nvPicPr>
          <p:cNvPr id="2" name="Picture 1" descr="Katy Perry: Hot N Cold (Music Video 2008) - IMDb">
            <a:extLst>
              <a:ext uri="{FF2B5EF4-FFF2-40B4-BE49-F238E27FC236}">
                <a16:creationId xmlns:a16="http://schemas.microsoft.com/office/drawing/2014/main" id="{504A7DD2-9670-9F29-C9F8-3B5FE1B5E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1845" y="1143745"/>
            <a:ext cx="4999019" cy="49990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145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Using a trace table, and assuming that the heater begins in an OFF state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→ Notes Q5 (a) [3 marks] — fill the last column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04222" y="155968"/>
            <a:ext cx="475917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THE THERMOSTAT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617505"/>
              </p:ext>
            </p:extLst>
          </p:nvPr>
        </p:nvGraphicFramePr>
        <p:xfrm>
          <a:off x="2596000" y="2700000"/>
          <a:ext cx="7000000" cy="39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Time (min)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Temp (°C)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Heater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0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70</a:t>
                      </a:r>
                      <a:r>
                        <a:rPr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.8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000" b="0" dirty="0">
                        <a:solidFill>
                          <a:srgbClr val="1A3C40"/>
                        </a:solidFill>
                        <a:latin typeface="Bahnschrift"/>
                      </a:endParaRP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5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71</a:t>
                      </a:r>
                      <a:r>
                        <a:rPr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.2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000" b="0" dirty="0">
                        <a:solidFill>
                          <a:srgbClr val="1A3C40"/>
                        </a:solidFill>
                        <a:latin typeface="Bahnschrift"/>
                      </a:endParaRP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10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71</a:t>
                      </a:r>
                      <a:r>
                        <a:rPr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.7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000" b="0" dirty="0">
                        <a:solidFill>
                          <a:srgbClr val="1A3C40"/>
                        </a:solidFill>
                        <a:latin typeface="Bahnschrift"/>
                      </a:endParaRP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15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72</a:t>
                      </a:r>
                      <a:r>
                        <a:rPr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.1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000" b="0" dirty="0">
                        <a:solidFill>
                          <a:srgbClr val="1A3C40"/>
                        </a:solidFill>
                        <a:latin typeface="Bahnschrift"/>
                      </a:endParaRP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20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72</a:t>
                      </a:r>
                      <a:r>
                        <a:rPr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.6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000" b="0" dirty="0">
                        <a:solidFill>
                          <a:srgbClr val="1A3C40"/>
                        </a:solidFill>
                        <a:latin typeface="Bahnschrift"/>
                      </a:endParaRP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25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72</a:t>
                      </a:r>
                      <a:r>
                        <a:rPr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.3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000" b="0" dirty="0">
                        <a:solidFill>
                          <a:srgbClr val="1A3C40"/>
                        </a:solidFill>
                        <a:latin typeface="Bahnschrift"/>
                      </a:endParaRP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30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71</a:t>
                      </a:r>
                      <a:r>
                        <a:rPr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.8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000" b="0" dirty="0">
                        <a:solidFill>
                          <a:srgbClr val="1A3C40"/>
                        </a:solidFill>
                        <a:latin typeface="Bahnschrift"/>
                      </a:endParaRP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35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71</a:t>
                      </a:r>
                      <a:r>
                        <a:rPr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.4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000" b="0" dirty="0">
                        <a:solidFill>
                          <a:srgbClr val="1A3C40"/>
                        </a:solidFill>
                        <a:latin typeface="Bahnschrift"/>
                      </a:endParaRP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4CEB25-E4E8-0A72-C4A2-F893A0B16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3BD1C07-F5BD-F6CA-CE0A-26AE59A6954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BA63D8A-E4C9-F8D9-4ACE-C4555FC8171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2E242A7-DEF4-3D64-DAE7-E12A604406E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DC0512F-3912-F1FC-ADDC-BFEEA6C62FA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EB7DE6-B087-A187-26F7-4D6F6A4D7DCD}"/>
              </a:ext>
            </a:extLst>
          </p:cNvPr>
          <p:cNvSpPr/>
          <p:nvPr/>
        </p:nvSpPr>
        <p:spPr>
          <a:xfrm>
            <a:off x="630768" y="1299334"/>
            <a:ext cx="10341382" cy="145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Using a trace table, and assuming that the heater begins in an OFF state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→ Notes Q5 (a) [3 marks] — fill the last column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068F17-34C0-11D6-F67A-4420AC46C882}"/>
              </a:ext>
            </a:extLst>
          </p:cNvPr>
          <p:cNvSpPr/>
          <p:nvPr/>
        </p:nvSpPr>
        <p:spPr>
          <a:xfrm>
            <a:off x="-104222" y="155968"/>
            <a:ext cx="475917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THE THERMOSTAT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487C6B0-92EE-AB7A-3634-03BC48D00CB5}"/>
              </a:ext>
            </a:extLst>
          </p:cNvPr>
          <p:cNvGraphicFramePr>
            <a:graphicFrameLocks noGrp="1"/>
          </p:cNvGraphicFramePr>
          <p:nvPr/>
        </p:nvGraphicFramePr>
        <p:xfrm>
          <a:off x="2596000" y="2700000"/>
          <a:ext cx="7000000" cy="39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Time (min)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Temp (°C)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Heater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0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70</a:t>
                      </a:r>
                      <a:r>
                        <a:rPr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.8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ON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5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71</a:t>
                      </a:r>
                      <a:r>
                        <a:rPr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.2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ON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10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71</a:t>
                      </a:r>
                      <a:r>
                        <a:rPr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.7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ON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15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72</a:t>
                      </a:r>
                      <a:r>
                        <a:rPr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.1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ON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20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72</a:t>
                      </a:r>
                      <a:r>
                        <a:rPr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.6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OFF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25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72</a:t>
                      </a:r>
                      <a:r>
                        <a:rPr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.3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OFF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30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71</a:t>
                      </a:r>
                      <a:r>
                        <a:rPr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.8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3C40"/>
                          </a:solidFill>
                          <a:latin typeface="Bahnschrift"/>
                        </a:rPr>
                        <a:t>OFF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35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71</a:t>
                      </a:r>
                      <a:r>
                        <a:rPr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.4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ON</a:t>
                      </a: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1234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0537D5-22F1-DBC9-DFBE-47AF17871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B60BB94-AF46-1B63-2A71-3B48C858C75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0D65635-6A09-A2F3-31DB-5309EB1987B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A6F2A1-3A90-3AAA-64FE-E577F2BF62D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C1FA1B3-BB45-53F9-45B2-7243257AF84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A1BFE4-A3E6-FA12-212C-61AA5DC1F7D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output depends on what the system did before, not just the reading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→ Notes Q5 (b) [2 marks]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C387D4-2E1C-E701-7FD6-1486734E4B7A}"/>
              </a:ext>
            </a:extLst>
          </p:cNvPr>
          <p:cNvSpPr/>
          <p:nvPr/>
        </p:nvSpPr>
        <p:spPr>
          <a:xfrm>
            <a:off x="0" y="129275"/>
            <a:ext cx="50449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THE THERMOSTAT</a:t>
            </a:r>
          </a:p>
        </p:txBody>
      </p:sp>
    </p:spTree>
    <p:extLst>
      <p:ext uri="{BB962C8B-B14F-4D97-AF65-F5344CB8AC3E}">
        <p14:creationId xmlns:p14="http://schemas.microsoft.com/office/powerpoint/2010/main" val="160159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What are the input and output for each of these control systems?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Automatic doors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Elevators 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Washing machines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91207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REAL-WORLD CONTROL SYSTEMS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66211C-F9A2-5ADB-DD91-ECA4F93D7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2FB136C-9555-17D4-77E0-B75B169C8A8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E349E7-D140-DDE1-1AE0-E503CA3BB9F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8790C43-47B4-5D41-C8F3-52ED95DC073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F19486D-5FF5-01B4-F073-9C2A23D3BAE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5A455F-C5CF-36BC-55AF-F2BB6F03D133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Automatic doors: 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Input: Motion sensor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Output: Actuator to open door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Elevators: position sensor tells the controller when to stop level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Inputs: Position sensor, button press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Output: Movement of elevator to position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Washing machines: 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Input: water-level switch, thermostat, and cycle time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Output: heating water, dispensing water, motor movement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F9645A-DF94-959C-BF2B-DE2C0ADD2E30}"/>
              </a:ext>
            </a:extLst>
          </p:cNvPr>
          <p:cNvSpPr/>
          <p:nvPr/>
        </p:nvSpPr>
        <p:spPr>
          <a:xfrm>
            <a:off x="-358628" y="155968"/>
            <a:ext cx="891207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REAL-WORLD CONTROL SYSTEMS</a:t>
            </a:r>
          </a:p>
        </p:txBody>
      </p:sp>
    </p:spTree>
    <p:extLst>
      <p:ext uri="{BB962C8B-B14F-4D97-AF65-F5344CB8AC3E}">
        <p14:creationId xmlns:p14="http://schemas.microsoft.com/office/powerpoint/2010/main" val="36650497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895B68-326A-D562-94CD-CE0DA5B47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40CAB84-BF2C-7BCE-E714-064F1F542F5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3BF646A-8378-5BDA-B577-8307A117F92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6A35A9-A291-6465-34D8-13546FE2EDD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01D98F7-C0F5-E442-374A-0039748B512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92CD41-0AB0-14C1-088F-4FEF1CE4E7D1}"/>
              </a:ext>
            </a:extLst>
          </p:cNvPr>
          <p:cNvSpPr/>
          <p:nvPr/>
        </p:nvSpPr>
        <p:spPr>
          <a:xfrm>
            <a:off x="630768" y="1299334"/>
            <a:ext cx="10341382" cy="285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How about these?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Autonomous vehicles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Home security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473A1D-E623-81D7-66A3-E1FA0D9D04F7}"/>
              </a:ext>
            </a:extLst>
          </p:cNvPr>
          <p:cNvSpPr/>
          <p:nvPr/>
        </p:nvSpPr>
        <p:spPr>
          <a:xfrm>
            <a:off x="-358629" y="155968"/>
            <a:ext cx="906447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REAL-WORLD CONTROL SYSTEMS</a:t>
            </a:r>
          </a:p>
        </p:txBody>
      </p:sp>
    </p:spTree>
    <p:extLst>
      <p:ext uri="{BB962C8B-B14F-4D97-AF65-F5344CB8AC3E}">
        <p14:creationId xmlns:p14="http://schemas.microsoft.com/office/powerpoint/2010/main" val="3331840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FC9DF4-C9EB-702B-913F-3B4674737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162008B-B2B3-8FC8-68E5-43068C4FF7B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670075E-0BDE-B84E-D438-EA3CA7386F3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BB3CCE-618F-62A1-3AB5-0B230317EC9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DC3D37C-2F65-3833-C874-7FE138AB80C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C2B347-65A9-34BF-0EDF-FCCBBD01DFEF}"/>
              </a:ext>
            </a:extLst>
          </p:cNvPr>
          <p:cNvSpPr/>
          <p:nvPr/>
        </p:nvSpPr>
        <p:spPr>
          <a:xfrm>
            <a:off x="630768" y="1299334"/>
            <a:ext cx="10341382" cy="38822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Autonomous vehicles: dozens of loops running at once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Inputs: proximity sensors, motion sensors, etc.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Outputs: turning wheels, motor running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Home security: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Inputs: switches on doors, motion detector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Outputs: alarm sound, altering the user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24BE8A-7317-9F0E-1A4E-CCC87DACFBE4}"/>
              </a:ext>
            </a:extLst>
          </p:cNvPr>
          <p:cNvSpPr/>
          <p:nvPr/>
        </p:nvSpPr>
        <p:spPr>
          <a:xfrm>
            <a:off x="-358629" y="155968"/>
            <a:ext cx="906447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REAL-WORLD CONTROL SYSTEMS</a:t>
            </a:r>
          </a:p>
        </p:txBody>
      </p:sp>
    </p:spTree>
    <p:extLst>
      <p:ext uri="{BB962C8B-B14F-4D97-AF65-F5344CB8AC3E}">
        <p14:creationId xmlns:p14="http://schemas.microsoft.com/office/powerpoint/2010/main" val="3486233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62686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What think we of this table?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9" y="155968"/>
            <a:ext cx="906447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REAL-WORLD CONTROL SYSTEMS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898173"/>
              </p:ext>
            </p:extLst>
          </p:nvPr>
        </p:nvGraphicFramePr>
        <p:xfrm>
          <a:off x="996000" y="4570211"/>
          <a:ext cx="10200000" cy="17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1A3C40"/>
                          </a:solidFill>
                          <a:latin typeface="Bahnschrift"/>
                        </a:rPr>
                        <a:t>System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A3C40"/>
                          </a:solidFill>
                          <a:latin typeface="Bahnschrift"/>
                        </a:rPr>
                        <a:t>Open or closed loop?</a:t>
                      </a:r>
                      <a:endParaRPr sz="2000" b="1" dirty="0">
                        <a:solidFill>
                          <a:srgbClr val="1A3C40"/>
                        </a:solidFill>
                        <a:latin typeface="Bahnschrift"/>
                      </a:endParaRP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Traffic lights on a 45 second timer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000" b="0" dirty="0">
                        <a:solidFill>
                          <a:srgbClr val="1A3C40"/>
                        </a:solidFill>
                        <a:latin typeface="Bahnschrift"/>
                      </a:endParaRP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1A3C40"/>
                          </a:solidFill>
                          <a:latin typeface="Bahnschrift"/>
                        </a:rPr>
                        <a:t>A</a:t>
                      </a:r>
                      <a:r>
                        <a:rPr lang="en-US" sz="2000" b="1" dirty="0">
                          <a:solidFill>
                            <a:srgbClr val="1A3C40"/>
                          </a:solidFill>
                          <a:latin typeface="Bahnschrift"/>
                        </a:rPr>
                        <a:t>n elevator</a:t>
                      </a:r>
                      <a:r>
                        <a:rPr sz="2000" b="1" dirty="0">
                          <a:solidFill>
                            <a:srgbClr val="1A3C40"/>
                          </a:solidFill>
                          <a:latin typeface="Bahnschrift"/>
                        </a:rPr>
                        <a:t> stopping level with each floor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000" b="0" dirty="0">
                        <a:solidFill>
                          <a:srgbClr val="1A3C40"/>
                        </a:solidFill>
                        <a:latin typeface="Bahnschrift"/>
                      </a:endParaRP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A washing machine filling to a level switch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000" b="0" dirty="0">
                        <a:solidFill>
                          <a:srgbClr val="1A3C40"/>
                        </a:solidFill>
                        <a:latin typeface="Bahnschrift"/>
                      </a:endParaRP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351289-15FA-9D58-B58B-627EE9854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0318052-73E0-20EA-546C-72F280B493A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EF96647-CE4C-FFD5-DA70-00789682434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D09FB8-524C-631D-5B27-219F3B076A1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1F1DB04-BADA-2D85-1788-4294315658C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020F8C-753A-7301-4646-43C32A7770E7}"/>
              </a:ext>
            </a:extLst>
          </p:cNvPr>
          <p:cNvSpPr/>
          <p:nvPr/>
        </p:nvSpPr>
        <p:spPr>
          <a:xfrm>
            <a:off x="630768" y="1299334"/>
            <a:ext cx="10341382" cy="62686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What think we of this table?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8B20A8-B0F4-FB2D-FCC8-D5976531B65E}"/>
              </a:ext>
            </a:extLst>
          </p:cNvPr>
          <p:cNvSpPr/>
          <p:nvPr/>
        </p:nvSpPr>
        <p:spPr>
          <a:xfrm>
            <a:off x="-358629" y="155968"/>
            <a:ext cx="906447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REAL-WORLD CONTROL SYSTEMS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0C98547-8A7A-180B-3889-A599D08FB5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105469"/>
              </p:ext>
            </p:extLst>
          </p:nvPr>
        </p:nvGraphicFramePr>
        <p:xfrm>
          <a:off x="996000" y="4570211"/>
          <a:ext cx="10200000" cy="17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1A3C40"/>
                          </a:solidFill>
                          <a:latin typeface="Bahnschrift"/>
                        </a:rPr>
                        <a:t>System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A3C40"/>
                          </a:solidFill>
                          <a:latin typeface="Bahnschrift"/>
                        </a:rPr>
                        <a:t>Open or closed loop?</a:t>
                      </a:r>
                      <a:endParaRPr sz="2000" b="1" dirty="0">
                        <a:solidFill>
                          <a:srgbClr val="1A3C40"/>
                        </a:solidFill>
                        <a:latin typeface="Bahnschrift"/>
                      </a:endParaRP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3C40"/>
                          </a:solidFill>
                          <a:latin typeface="Bahnschrift"/>
                        </a:rPr>
                        <a:t>Traffic lights on a 45 second timer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Open</a:t>
                      </a:r>
                      <a:endParaRPr sz="2000" b="0" dirty="0">
                        <a:solidFill>
                          <a:srgbClr val="1A3C40"/>
                        </a:solidFill>
                        <a:latin typeface="Bahnschrift"/>
                      </a:endParaRP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1A3C40"/>
                          </a:solidFill>
                          <a:latin typeface="Bahnschrift"/>
                        </a:rPr>
                        <a:t>A</a:t>
                      </a:r>
                      <a:r>
                        <a:rPr lang="en-US" sz="2000" b="1" dirty="0">
                          <a:solidFill>
                            <a:srgbClr val="1A3C40"/>
                          </a:solidFill>
                          <a:latin typeface="Bahnschrift"/>
                        </a:rPr>
                        <a:t>n elevator </a:t>
                      </a:r>
                      <a:r>
                        <a:rPr sz="2000" b="1" dirty="0">
                          <a:solidFill>
                            <a:srgbClr val="1A3C40"/>
                          </a:solidFill>
                          <a:latin typeface="Bahnschrift"/>
                        </a:rPr>
                        <a:t>stopping level with each floor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Closed</a:t>
                      </a:r>
                      <a:endParaRPr sz="2000" b="0" dirty="0">
                        <a:solidFill>
                          <a:srgbClr val="1A3C40"/>
                        </a:solidFill>
                        <a:latin typeface="Bahnschrift"/>
                      </a:endParaRP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1A3C40"/>
                          </a:solidFill>
                          <a:latin typeface="Bahnschrift"/>
                        </a:rPr>
                        <a:t>A washing machine filling to a level switch</a:t>
                      </a:r>
                    </a:p>
                  </a:txBody>
                  <a:tcPr marL="36000" marR="36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rgbClr val="1A3C40"/>
                          </a:solidFill>
                          <a:latin typeface="Bahnschrift"/>
                        </a:rPr>
                        <a:t>Closed</a:t>
                      </a:r>
                      <a:endParaRPr sz="2000" b="0" dirty="0">
                        <a:solidFill>
                          <a:srgbClr val="1A3C40"/>
                        </a:solidFill>
                        <a:latin typeface="Bahnschrift"/>
                      </a:endParaRPr>
                    </a:p>
                  </a:txBody>
                  <a:tcPr marL="36000" marR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54237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 control loop is a process, and it typically has a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deadline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If a control system loops every 20 </a:t>
            </a: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ms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and it takes this much time to perform each task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read (input) 2 </a:t>
            </a: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ms</a:t>
            </a:r>
            <a:endParaRPr lang="en-US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decide (process) 3 </a:t>
            </a: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ms</a:t>
            </a:r>
            <a:endParaRPr lang="en-US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act (output) 1 </a:t>
            </a: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ms</a:t>
            </a:r>
            <a:endParaRPr lang="en-US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6 ms of work in a 20 ms period, so 30% of the CPU’s time and 14 </a:t>
            </a: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msto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spare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→ Notes Q7 (a) [2 marks]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606278" y="129275"/>
            <a:ext cx="1034138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CONTROL LOOPS AND THE SCHEDULER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Now, let’s assume that something, maybe an interrupt, delays the scheduler by 15 </a:t>
            </a: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ms</a:t>
            </a:r>
            <a:endParaRPr lang="en-US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6 + 15 = 21 ms, but our cycle time is only 20 </a:t>
            </a: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ms</a:t>
            </a:r>
            <a:endParaRPr lang="en-US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One of our cycles is missed!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Polling could become part of our cycle and avoid this happening, if this happening is catastrophic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→ Notes Q7 (b) [1 mark]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587228" y="155968"/>
            <a:ext cx="1016937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CONTROL LOOPS AND THE SCHEDULER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→ Notes Q8, Q9 and Q10 [8 marks]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Q8 Describe the role of the control algorithm in a closed-loop system [2]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Q9 Explain why a fixed-response system cannot use a long time quantum [3]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Q10 Evaluate a soil moisture sensor against an open-loop timer for a sprinkler in a field [3]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255923" y="185784"/>
            <a:ext cx="174927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LAB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WS A1-4 — Control Systems is on GitHub, due next lesson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255922" y="155968"/>
            <a:ext cx="201944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CLOSE</a:t>
            </a:r>
          </a:p>
        </p:txBody>
      </p:sp>
      <p:sp>
        <p:nvSpPr>
          <p:cNvPr id="3" name="Star: 12 Points 2">
            <a:extLst>
              <a:ext uri="{FF2B5EF4-FFF2-40B4-BE49-F238E27FC236}">
                <a16:creationId xmlns:a16="http://schemas.microsoft.com/office/drawing/2014/main" id="{F3AC0A41-837C-44D6-DBD9-4B30499E4909}"/>
              </a:ext>
            </a:extLst>
          </p:cNvPr>
          <p:cNvSpPr/>
          <p:nvPr/>
        </p:nvSpPr>
        <p:spPr>
          <a:xfrm>
            <a:off x="10148517" y="517212"/>
            <a:ext cx="1647265" cy="1647265"/>
          </a:xfrm>
          <a:prstGeom prst="star12">
            <a:avLst/>
          </a:prstGeom>
          <a:solidFill>
            <a:schemeClr val="accent6">
              <a:lumMod val="75000"/>
            </a:schemeClr>
          </a:solidFill>
          <a:ln>
            <a:noFill/>
          </a:ln>
          <a:scene3d>
            <a:camera prst="perspectiveHeroicExtremeRightFacing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HL ONLY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2897663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Control system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Input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Process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Output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Feedback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Open-loop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Closed-loop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VOCABULARY TO REMEMBER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8F6C99-7DA9-E963-361C-ABB7A467AD11}"/>
              </a:ext>
            </a:extLst>
          </p:cNvPr>
          <p:cNvSpPr/>
          <p:nvPr/>
        </p:nvSpPr>
        <p:spPr>
          <a:xfrm>
            <a:off x="3714308" y="1299334"/>
            <a:ext cx="360637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Sensor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Transducer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Controller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Actuator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Control algorithm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Set point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Error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Dead band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Deadline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42C1F0-BFEA-FF64-C8D1-26451E9CF3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394191" y="3429000"/>
            <a:ext cx="3278463" cy="2982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 0.0507 L 0.0095 0.0507 C 0.00833 -0.0368 0.00755 -0.09444 0.00729 -0.19467 C 0.00716 -0.23079 0.00781 -0.26667 0.00794 -0.30278 C 0.00729 -0.32986 0.00794 -0.35717 0.00573 -0.38403 C 0.00442 -0.40116 0.00065 -0.41713 -0.00248 -0.43333 C -0.00625 -0.45301 -0.01211 -0.47708 -0.02045 -0.49213 C -0.02591 -0.50185 -0.05482 -0.53241 -0.06029 -0.53611 C -0.07761 -0.54815 -0.09336 -0.55116 -0.1112 -0.55602 C -0.11602 -0.55463 -0.1211 -0.55532 -0.12552 -0.55208 C -0.13477 -0.54537 -0.14362 -0.53704 -0.1517 -0.52662 C -0.16341 -0.51204 -0.17578 -0.48588 -0.18555 -0.46667 C -0.18776 -0.45648 -0.19024 -0.44653 -0.19219 -0.43611 C -0.1974 -0.40856 -0.2056 -0.35486 -0.20873 -0.32801 C -0.21172 -0.30278 -0.21368 -0.27731 -0.21628 -0.25208 C -0.22071 -0.15972 -0.21966 -0.19884 -0.21771 -0.04815 C -0.21758 -0.03426 -0.21641 -0.02801 -0.21472 -0.01597 C -0.20951 -0.04838 -0.21146 -0.03194 -0.21849 -0.1 C -0.21966 -0.11204 -0.22227 -0.12338 -0.22448 -0.13472 C -0.2362 -0.19375 -0.23464 -0.18796 -0.253 -0.24005 C -0.25365 -0.2419 -0.26771 -0.28032 -0.27175 -0.28796 C -0.2737 -0.29167 -0.27618 -0.29421 -0.27852 -0.29745 C -0.28946 -0.28981 -0.30078 -0.28356 -0.31146 -0.27477 C -0.32591 -0.26296 -0.34375 -0.22292 -0.34974 -0.2081 C -0.35222 -0.20185 -0.35521 -0.19606 -0.35729 -0.18935 C -0.35977 -0.18102 -0.3612 -0.17153 -0.36328 -0.16273 C -0.36446 -0.14838 -0.36576 -0.13472 -0.36628 -0.12014 C -0.36719 -0.08403 -0.36745 -0.04815 -0.36849 -0.01204 C -0.36914 0.01412 -0.36836 0.00857 -0.37071 0.0213 C -0.37344 0.00648 -0.36966 0.02894 -0.36993 -0.01204 C -0.37019 -0.03032 -0.36953 -0.04907 -0.37227 -0.06667 C -0.37396 -0.07755 -0.37878 -0.08611 -0.38269 -0.09467 C -0.39284 -0.11643 -0.40443 -0.13125 -0.41875 -0.14398 C -0.42657 -0.15092 -0.42253 -0.14884 -0.43073 -0.15069 C -0.44427 -0.14977 -0.44584 -0.15393 -0.45469 -0.14398 C -0.45964 -0.13866 -0.46901 -0.12685 -0.46901 -0.12685 C -0.47149 -0.11875 -0.47487 -0.11134 -0.47644 -0.10278 C -0.47696 -0.1 -0.47761 -0.09745 -0.478 -0.09467 C -0.47904 -0.08634 -0.47956 -0.07662 -0.48021 -0.06805 C -0.47943 -0.05301 -0.48008 -0.0375 -0.478 -0.02268 C -0.47748 -0.01921 -0.47696 -0.01574 -0.47644 -0.01204 C -0.47487 0.00139 -0.47448 0.00833 -0.47344 0.02269 C -0.47396 0.0257 -0.47383 0.0294 -0.475 0.03195 C -0.47552 0.0331 -0.47644 0.03102 -0.47722 0.03056 C -0.47852 0.02963 -0.47969 0.0287 -0.48099 0.02801 C -0.48399 0.0213 -0.48828 0.01597 -0.48998 0.00787 C -0.49349 -0.00833 -0.49479 -0.01319 -0.49753 -0.03079 C -0.49857 -0.03819 -0.49948 -0.04583 -0.50052 -0.05347 C -0.49857 -0.07106 -0.49636 -0.10116 -0.49076 -0.11736 C -0.48516 -0.13333 -0.47839 -0.14768 -0.47123 -0.16134 C -0.46654 -0.17037 -0.46159 -0.17963 -0.45547 -0.18542 C -0.45078 -0.18981 -0.44493 -0.18889 -0.43972 -0.19074 C -0.42826 -0.1868 -0.41589 -0.1875 -0.40521 -0.1787 C -0.39987 -0.1743 -0.39714 -0.16296 -0.39466 -0.15347 C -0.38959 -0.13333 -0.38685 -0.09444 -0.38503 -0.07338 C -0.38594 -0.06551 -0.38568 -0.05648 -0.38802 -0.0493 C -0.39453 -0.02963 -0.40313 -0.0338 -0.4142 -0.03217 C -0.44675 -0.0419 -0.45834 -0.03773 -0.48477 -0.07338 C -0.49154 -0.08264 -0.49571 -0.09653 -0.50118 -0.1081 C -0.50378 -0.12222 -0.50808 -0.13588 -0.50873 -0.15069 C -0.51055 -0.19375 -0.50026 -0.21944 -0.4862 -0.25347 C -0.4694 -0.29398 -0.44662 -0.33333 -0.42175 -0.35741 C -0.40795 -0.3706 -0.39271 -0.3794 -0.37748 -0.38542 C -0.36472 -0.39051 -0.35144 -0.38889 -0.33854 -0.39074 C -0.32878 -0.3831 -0.31745 -0.37986 -0.30925 -0.36805 C -0.28464 -0.33287 -0.28425 -0.31458 -0.27552 -0.26944 C -0.27852 -0.24907 -0.27774 -0.22546 -0.28451 -0.2081 C -0.30417 -0.15764 -0.32318 -0.16366 -0.35274 -0.15602 C -0.36823 -0.1662 -0.38711 -0.16667 -0.39922 -0.1868 C -0.41237 -0.20833 -0.42045 -0.24074 -0.42318 -0.27199 C -0.42748 -0.31898 -0.4056 -0.37546 -0.38724 -0.40278 C -0.36602 -0.43426 -0.32552 -0.4588 -0.30026 -0.47083 C -0.28256 -0.47893 -0.2642 -0.4831 -0.24623 -0.48935 L -0.16224 -0.4868 C -0.11055 -0.47731 -0.09909 -0.46319 -0.05573 -0.43079 C -0.04974 -0.41597 -0.04089 -0.40393 -0.03776 -0.3868 C -0.03334 -0.3625 -0.03047 -0.33542 -0.03399 -0.31065 C -0.04466 -0.23518 -0.08073 -0.18565 -0.11875 -0.15602 C -0.13112 -0.1463 -0.14571 -0.15162 -0.15925 -0.1493 C -0.16771 -0.16852 -0.17891 -0.18472 -0.18477 -0.20671 C -0.19375 -0.2412 -0.19961 -0.27847 -0.20274 -0.31597 C -0.20508 -0.34467 -0.20534 -0.37477 -0.20118 -0.40278 C -0.19766 -0.42778 -0.18841 -0.4493 -0.18021 -0.47083 C -0.16302 -0.5162 -0.1487 -0.5375 -0.12019 -0.56134 C -0.11172 -0.56852 -0.07578 -0.58333 -0.06472 -0.58796 C -0.05821 -0.58727 -0.05131 -0.58958 -0.04519 -0.58542 C -0.03555 -0.57893 -0.01407 -0.55185 -0.00326 -0.53866 C 0.00026 -0.52893 0.0039 -0.51921 0.00729 -0.50949 C 0.01041 -0.50023 0.01302 -0.49051 0.01627 -0.48148 C 0.02578 -0.45509 0.01914 -0.48148 0.02669 -0.45347 C 0.02838 -0.44722 0.02968 -0.44097 0.03125 -0.43472 C 0.03242 -0.43032 0.03372 -0.42592 0.03502 -0.4213 C 0.03776 -0.41111 0.03932 -0.39977 0.04323 -0.39074 C 0.04674 -0.38264 0.05039 -0.37477 0.05377 -0.36667 C 0.05638 -0.36065 0.06562 -0.33495 0.06875 -0.33079 C 0.07513 -0.32199 0.08229 -0.31505 0.08971 -0.30949 C 0.09661 -0.30417 0.10416 -0.30185 0.11146 -0.29884 C 0.12304 -0.29398 0.13424 -0.29213 0.14596 -0.28935 C 0.16523 -0.2956 0.18489 -0.29907 0.20377 -0.3081 C 0.24127 -0.32616 0.26302 -0.33217 0.29752 -0.36667 C 0.3289 -0.39838 0.35833 -0.43565 0.38893 -0.46944 C 0.40208 -0.4838 0.41432 -0.50162 0.42877 -0.51065 C 0.44544 -0.5213 0.4625 -0.53102 0.47903 -0.54282 C 0.50494 -0.56111 0.52994 -0.58449 0.55625 -0.60139 C 0.57356 -0.6125 0.57031 -0.6088 0.58476 -0.62407 C 0.58698 -0.62662 0.59153 -0.63194 0.59153 -0.63194 " pathEditMode="relative" ptsTypes="AAAAAAAAAAAAAAAAAAAAAAAA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45565</TotalTime>
  <Words>1411</Words>
  <Application>Microsoft Office PowerPoint</Application>
  <PresentationFormat>Widescreen</PresentationFormat>
  <Paragraphs>239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40</cp:revision>
  <dcterms:created xsi:type="dcterms:W3CDTF">2025-08-11T14:07:39Z</dcterms:created>
  <dcterms:modified xsi:type="dcterms:W3CDTF">2026-09-17T19:44:23Z</dcterms:modified>
</cp:coreProperties>
</file>