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427" r:id="rId5"/>
    <p:sldId id="456" r:id="rId6"/>
    <p:sldId id="457" r:id="rId7"/>
    <p:sldId id="458" r:id="rId8"/>
    <p:sldId id="459" r:id="rId9"/>
    <p:sldId id="460" r:id="rId10"/>
    <p:sldId id="461" r:id="rId11"/>
    <p:sldId id="462" r:id="rId12"/>
    <p:sldId id="463" r:id="rId13"/>
    <p:sldId id="464" r:id="rId14"/>
    <p:sldId id="465" r:id="rId15"/>
    <p:sldId id="466" r:id="rId16"/>
    <p:sldId id="467" r:id="rId17"/>
    <p:sldId id="468" r:id="rId18"/>
    <p:sldId id="469" r:id="rId19"/>
    <p:sldId id="470" r:id="rId20"/>
    <p:sldId id="471" r:id="rId21"/>
    <p:sldId id="472" r:id="rId22"/>
    <p:sldId id="473" r:id="rId23"/>
    <p:sldId id="474" r:id="rId24"/>
    <p:sldId id="475" r:id="rId25"/>
    <p:sldId id="476" r:id="rId26"/>
    <p:sldId id="477" r:id="rId27"/>
    <p:sldId id="478" r:id="rId28"/>
    <p:sldId id="479" r:id="rId29"/>
    <p:sldId id="480" r:id="rId30"/>
    <p:sldId id="481" r:id="rId31"/>
    <p:sldId id="482" r:id="rId32"/>
    <p:sldId id="45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C8C1CE-DD7E-434C-B7A4-72EBA33A88B1}" v="42" dt="2025-11-13T19:09:26.8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67" autoAdjust="0"/>
    <p:restoredTop sz="94660"/>
  </p:normalViewPr>
  <p:slideViewPr>
    <p:cSldViewPr snapToGrid="0">
      <p:cViewPr>
        <p:scale>
          <a:sx n="90" d="100"/>
          <a:sy n="90" d="100"/>
        </p:scale>
        <p:origin x="1248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A3: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DATABASES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7451257" y="2714847"/>
            <a:ext cx="3039479" cy="116091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ICA A3-1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4425695" y="3692233"/>
            <a:ext cx="4994715" cy="98412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MAKING TABLES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60728" y="1213429"/>
            <a:ext cx="4626840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Redundant Data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Referential </a:t>
            </a:r>
            <a:r>
              <a:rPr lang="en-US" sz="2800" dirty="0" err="1">
                <a:latin typeface="Bahnschrift" panose="020B0502040204020203" pitchFamily="34" charset="0"/>
              </a:rPr>
              <a:t>Inegrity</a:t>
            </a:r>
            <a:endParaRPr lang="en-US" sz="2800" dirty="0">
              <a:latin typeface="Bahnschrift" panose="020B0502040204020203" pitchFamily="34" charset="0"/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First Normal Form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Second Normal Form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Third Normal Form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Redundant Data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Normalized Databases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Unnormalized Databases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Suppose that you’re designing a database for a library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You need to store information about Books, Authors, and Borrowers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What tables would you create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What attributes would they have, and what would their primary keys be?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What foreign keys would connect the tables?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F2867-8E56-228A-A272-D4ED8954C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926B7704-86EF-7FEC-8155-3D847292CD2C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690CDB7F-EB96-D8B0-D3AA-E3CAB1D0AB9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21671FCB-EF5E-A9AE-9B16-D4B88C68617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54A81DB0-35AE-121E-AE82-A4D31AF2D19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3F3785-EC31-8804-47D6-C260A012DD18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A9A261-C404-6850-0145-A6263A349EF9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2E8945-8B7A-5FF6-41CB-3A36AA2FF6DA}"/>
              </a:ext>
            </a:extLst>
          </p:cNvPr>
          <p:cNvSpPr/>
          <p:nvPr/>
        </p:nvSpPr>
        <p:spPr>
          <a:xfrm>
            <a:off x="1089140" y="1246841"/>
            <a:ext cx="9808033" cy="529250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Books(</a:t>
            </a:r>
            <a:r>
              <a:rPr lang="en-US" sz="2800" u="sng" dirty="0">
                <a:solidFill>
                  <a:prstClr val="white"/>
                </a:solidFill>
                <a:latin typeface="Bahnschrift" panose="020B0502040204020203" pitchFamily="34" charset="0"/>
              </a:rPr>
              <a:t>ISBN</a:t>
            </a: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, </a:t>
            </a:r>
            <a:r>
              <a:rPr lang="en-US" sz="2800" dirty="0" err="1">
                <a:solidFill>
                  <a:prstClr val="white"/>
                </a:solidFill>
                <a:latin typeface="Bahnschrift" panose="020B0502040204020203" pitchFamily="34" charset="0"/>
              </a:rPr>
              <a:t>AuthorID</a:t>
            </a: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, </a:t>
            </a:r>
            <a:r>
              <a:rPr lang="en-US" sz="2800" dirty="0" err="1">
                <a:solidFill>
                  <a:prstClr val="white"/>
                </a:solidFill>
                <a:latin typeface="Bahnschrift" panose="020B0502040204020203" pitchFamily="34" charset="0"/>
              </a:rPr>
              <a:t>BookName</a:t>
            </a: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)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Author(</a:t>
            </a:r>
            <a:r>
              <a:rPr lang="en-US" sz="2800" u="sng" dirty="0" err="1">
                <a:solidFill>
                  <a:prstClr val="white"/>
                </a:solidFill>
                <a:latin typeface="Bahnschrift" panose="020B0502040204020203" pitchFamily="34" charset="0"/>
              </a:rPr>
              <a:t>AuthorID</a:t>
            </a: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, FirstName, LastName)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Borrowers(</a:t>
            </a:r>
            <a:r>
              <a:rPr lang="en-US" sz="2800" u="sng" dirty="0" err="1">
                <a:solidFill>
                  <a:prstClr val="white"/>
                </a:solidFill>
                <a:latin typeface="Bahnschrift" panose="020B0502040204020203" pitchFamily="34" charset="0"/>
              </a:rPr>
              <a:t>BorrowerID</a:t>
            </a:r>
            <a:r>
              <a:rPr lang="en-US" sz="2800" u="sng" dirty="0">
                <a:solidFill>
                  <a:prstClr val="white"/>
                </a:solidFill>
                <a:latin typeface="Bahnschrift" panose="020B0502040204020203" pitchFamily="34" charset="0"/>
              </a:rPr>
              <a:t>,</a:t>
            </a: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 FirstName, LastName)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Borrows(</a:t>
            </a:r>
            <a:r>
              <a:rPr lang="en-US" sz="2800" u="sng" dirty="0" err="1">
                <a:solidFill>
                  <a:prstClr val="white"/>
                </a:solidFill>
                <a:latin typeface="Bahnschrift" panose="020B0502040204020203" pitchFamily="34" charset="0"/>
              </a:rPr>
              <a:t>BorrowerID</a:t>
            </a: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, </a:t>
            </a:r>
            <a:r>
              <a:rPr lang="en-US" sz="2800" u="sng" dirty="0">
                <a:solidFill>
                  <a:prstClr val="white"/>
                </a:solidFill>
                <a:latin typeface="Bahnschrift" panose="020B0502040204020203" pitchFamily="34" charset="0"/>
              </a:rPr>
              <a:t>ISBN</a:t>
            </a: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, </a:t>
            </a:r>
            <a:r>
              <a:rPr lang="en-US" sz="2800" u="sng" dirty="0">
                <a:solidFill>
                  <a:prstClr val="white"/>
                </a:solidFill>
                <a:latin typeface="Bahnschrift" panose="020B0502040204020203" pitchFamily="34" charset="0"/>
              </a:rPr>
              <a:t>Date</a:t>
            </a: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7B9208-16B9-4FF3-0246-620CA9B1108A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150267B-6788-74B0-B03C-5D096BDF8D8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083C1FE4-D717-FE13-FA70-8EC95E3A3D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91B051B8-C24A-43E0-0391-560DEA8A9ED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59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2B2ED3-4EF8-6330-1896-93D426F0E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33300CD-DA7F-9CB2-C806-2870D51E42B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70E4E65-71FC-1931-9D8E-688C9DADA7D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4EA5CB-05C5-DAE7-8A42-D443CC3BA99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71ADAC-1916-8360-D79E-4AF2FBD9B9A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1D10A6-6873-83B9-4A7A-C6B9FA36932C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does this table make you feel?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 you have any problems with it?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D05023-B49D-4826-0558-B56B39E7F0C2}"/>
              </a:ext>
            </a:extLst>
          </p:cNvPr>
          <p:cNvSpPr/>
          <p:nvPr/>
        </p:nvSpPr>
        <p:spPr>
          <a:xfrm>
            <a:off x="163793" y="155968"/>
            <a:ext cx="3768127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REDUNDANCY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CC5FD2-1C7F-13D3-710B-ECC1F1B15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58362"/>
              </p:ext>
            </p:extLst>
          </p:nvPr>
        </p:nvGraphicFramePr>
        <p:xfrm>
          <a:off x="233682" y="4471432"/>
          <a:ext cx="1172463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948">
                  <a:extLst>
                    <a:ext uri="{9D8B030D-6E8A-4147-A177-3AD203B41FA5}">
                      <a16:colId xmlns:a16="http://schemas.microsoft.com/office/drawing/2014/main" val="1394263601"/>
                    </a:ext>
                  </a:extLst>
                </a:gridCol>
                <a:gridCol w="1224038">
                  <a:extLst>
                    <a:ext uri="{9D8B030D-6E8A-4147-A177-3AD203B41FA5}">
                      <a16:colId xmlns:a16="http://schemas.microsoft.com/office/drawing/2014/main" val="4226567245"/>
                    </a:ext>
                  </a:extLst>
                </a:gridCol>
                <a:gridCol w="2125858">
                  <a:extLst>
                    <a:ext uri="{9D8B030D-6E8A-4147-A177-3AD203B41FA5}">
                      <a16:colId xmlns:a16="http://schemas.microsoft.com/office/drawing/2014/main" val="3689031494"/>
                    </a:ext>
                  </a:extLst>
                </a:gridCol>
                <a:gridCol w="2215849">
                  <a:extLst>
                    <a:ext uri="{9D8B030D-6E8A-4147-A177-3AD203B41FA5}">
                      <a16:colId xmlns:a16="http://schemas.microsoft.com/office/drawing/2014/main" val="2207439577"/>
                    </a:ext>
                  </a:extLst>
                </a:gridCol>
                <a:gridCol w="1991360">
                  <a:extLst>
                    <a:ext uri="{9D8B030D-6E8A-4147-A177-3AD203B41FA5}">
                      <a16:colId xmlns:a16="http://schemas.microsoft.com/office/drawing/2014/main" val="592735571"/>
                    </a:ext>
                  </a:extLst>
                </a:gridCol>
                <a:gridCol w="817635">
                  <a:extLst>
                    <a:ext uri="{9D8B030D-6E8A-4147-A177-3AD203B41FA5}">
                      <a16:colId xmlns:a16="http://schemas.microsoft.com/office/drawing/2014/main" val="2247736138"/>
                    </a:ext>
                  </a:extLst>
                </a:gridCol>
                <a:gridCol w="1674948">
                  <a:extLst>
                    <a:ext uri="{9D8B030D-6E8A-4147-A177-3AD203B41FA5}">
                      <a16:colId xmlns:a16="http://schemas.microsoft.com/office/drawing/2014/main" val="2736409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BookID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AuthorFirstName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AuthorLastName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ProofReader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23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History of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13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Great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Hamilton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47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Big Tonny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265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Amazing Future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270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0638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B14286-CDE7-5DAB-A71C-B555F88A1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295DD3B-6343-84E9-C69C-EC034926639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17B3F3F-190B-9070-A6B7-2F6E671685A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441E7EF-DF39-4967-18FF-72D26A93EF6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8ABFA9C-995D-DCBD-4AE7-CE8A4CAE6BD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7A84DD-1FF1-B21A-516A-27DB311B2085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is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redundant data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this table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AuthorFirstName and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AuthorLastName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attributes are entirely dependent on the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AuthorID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field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One author ID will only ever go to one author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B1CE39-1664-49B9-5242-A0F64A99B09F}"/>
              </a:ext>
            </a:extLst>
          </p:cNvPr>
          <p:cNvSpPr/>
          <p:nvPr/>
        </p:nvSpPr>
        <p:spPr>
          <a:xfrm>
            <a:off x="163793" y="155968"/>
            <a:ext cx="3768127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REDUNDANCY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4081F6-E463-6DEB-D77E-56ABAC973F2C}"/>
              </a:ext>
            </a:extLst>
          </p:cNvPr>
          <p:cNvGraphicFramePr>
            <a:graphicFrameLocks noGrp="1"/>
          </p:cNvGraphicFramePr>
          <p:nvPr/>
        </p:nvGraphicFramePr>
        <p:xfrm>
          <a:off x="233682" y="4471432"/>
          <a:ext cx="1172463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948">
                  <a:extLst>
                    <a:ext uri="{9D8B030D-6E8A-4147-A177-3AD203B41FA5}">
                      <a16:colId xmlns:a16="http://schemas.microsoft.com/office/drawing/2014/main" val="1394263601"/>
                    </a:ext>
                  </a:extLst>
                </a:gridCol>
                <a:gridCol w="1224038">
                  <a:extLst>
                    <a:ext uri="{9D8B030D-6E8A-4147-A177-3AD203B41FA5}">
                      <a16:colId xmlns:a16="http://schemas.microsoft.com/office/drawing/2014/main" val="4226567245"/>
                    </a:ext>
                  </a:extLst>
                </a:gridCol>
                <a:gridCol w="2125858">
                  <a:extLst>
                    <a:ext uri="{9D8B030D-6E8A-4147-A177-3AD203B41FA5}">
                      <a16:colId xmlns:a16="http://schemas.microsoft.com/office/drawing/2014/main" val="3689031494"/>
                    </a:ext>
                  </a:extLst>
                </a:gridCol>
                <a:gridCol w="2215849">
                  <a:extLst>
                    <a:ext uri="{9D8B030D-6E8A-4147-A177-3AD203B41FA5}">
                      <a16:colId xmlns:a16="http://schemas.microsoft.com/office/drawing/2014/main" val="2207439577"/>
                    </a:ext>
                  </a:extLst>
                </a:gridCol>
                <a:gridCol w="1991360">
                  <a:extLst>
                    <a:ext uri="{9D8B030D-6E8A-4147-A177-3AD203B41FA5}">
                      <a16:colId xmlns:a16="http://schemas.microsoft.com/office/drawing/2014/main" val="592735571"/>
                    </a:ext>
                  </a:extLst>
                </a:gridCol>
                <a:gridCol w="817635">
                  <a:extLst>
                    <a:ext uri="{9D8B030D-6E8A-4147-A177-3AD203B41FA5}">
                      <a16:colId xmlns:a16="http://schemas.microsoft.com/office/drawing/2014/main" val="2247736138"/>
                    </a:ext>
                  </a:extLst>
                </a:gridCol>
                <a:gridCol w="1674948">
                  <a:extLst>
                    <a:ext uri="{9D8B030D-6E8A-4147-A177-3AD203B41FA5}">
                      <a16:colId xmlns:a16="http://schemas.microsoft.com/office/drawing/2014/main" val="2736409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BookID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AuthorFirstName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AuthorLastName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ProofReader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23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History of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13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Great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Hamilton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47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Big Tonny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265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Amazing Future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270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3763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A59A62-D825-4C56-A9D9-CB1170AD4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7822B83-0498-52C1-ED79-20206D5AF83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1C90EAC-5867-D8AA-B3C9-0937B2FCA61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5CB2A02-1972-E9CE-C858-E4EE3FF88FA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60EE60A-75E8-EEAE-5E0D-0267F8611C5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98334D-C336-FC0D-0E80-4D9DCD8F0B7F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are some potential problems with this data redundancy?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D72762-1852-7920-AD61-A25165375B81}"/>
              </a:ext>
            </a:extLst>
          </p:cNvPr>
          <p:cNvSpPr/>
          <p:nvPr/>
        </p:nvSpPr>
        <p:spPr>
          <a:xfrm>
            <a:off x="163793" y="155968"/>
            <a:ext cx="3768127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REDUNDANCY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E09CC6-2070-4223-6162-44606AF61121}"/>
              </a:ext>
            </a:extLst>
          </p:cNvPr>
          <p:cNvGraphicFramePr>
            <a:graphicFrameLocks noGrp="1"/>
          </p:cNvGraphicFramePr>
          <p:nvPr/>
        </p:nvGraphicFramePr>
        <p:xfrm>
          <a:off x="233682" y="4471432"/>
          <a:ext cx="1172463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948">
                  <a:extLst>
                    <a:ext uri="{9D8B030D-6E8A-4147-A177-3AD203B41FA5}">
                      <a16:colId xmlns:a16="http://schemas.microsoft.com/office/drawing/2014/main" val="1394263601"/>
                    </a:ext>
                  </a:extLst>
                </a:gridCol>
                <a:gridCol w="1224038">
                  <a:extLst>
                    <a:ext uri="{9D8B030D-6E8A-4147-A177-3AD203B41FA5}">
                      <a16:colId xmlns:a16="http://schemas.microsoft.com/office/drawing/2014/main" val="4226567245"/>
                    </a:ext>
                  </a:extLst>
                </a:gridCol>
                <a:gridCol w="2125858">
                  <a:extLst>
                    <a:ext uri="{9D8B030D-6E8A-4147-A177-3AD203B41FA5}">
                      <a16:colId xmlns:a16="http://schemas.microsoft.com/office/drawing/2014/main" val="3689031494"/>
                    </a:ext>
                  </a:extLst>
                </a:gridCol>
                <a:gridCol w="2215849">
                  <a:extLst>
                    <a:ext uri="{9D8B030D-6E8A-4147-A177-3AD203B41FA5}">
                      <a16:colId xmlns:a16="http://schemas.microsoft.com/office/drawing/2014/main" val="2207439577"/>
                    </a:ext>
                  </a:extLst>
                </a:gridCol>
                <a:gridCol w="1991360">
                  <a:extLst>
                    <a:ext uri="{9D8B030D-6E8A-4147-A177-3AD203B41FA5}">
                      <a16:colId xmlns:a16="http://schemas.microsoft.com/office/drawing/2014/main" val="592735571"/>
                    </a:ext>
                  </a:extLst>
                </a:gridCol>
                <a:gridCol w="817635">
                  <a:extLst>
                    <a:ext uri="{9D8B030D-6E8A-4147-A177-3AD203B41FA5}">
                      <a16:colId xmlns:a16="http://schemas.microsoft.com/office/drawing/2014/main" val="2247736138"/>
                    </a:ext>
                  </a:extLst>
                </a:gridCol>
                <a:gridCol w="1674948">
                  <a:extLst>
                    <a:ext uri="{9D8B030D-6E8A-4147-A177-3AD203B41FA5}">
                      <a16:colId xmlns:a16="http://schemas.microsoft.com/office/drawing/2014/main" val="2736409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BookID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AuthorFirstName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AuthorLastName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ProofReader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23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History of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13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Great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Hamilton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47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Big Tonny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265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Amazing Future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270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3275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F3F104-94EC-52FC-9E76-081B1F4E6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D5BA3B9-7EA3-D676-53AB-D5653E7F43F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BBE30BE-7608-DFA7-9428-3AA662D88B9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02933E7-35D9-1A81-5FC3-A262AE79B08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081F02-5D4B-ACB8-B09A-974F905486C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C7AA9A-BD6B-0995-96CF-7A1161CFC82D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happens if an author changes their name, but only one name field is changed?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would be </a:t>
            </a:r>
            <a:r>
              <a:rPr lang="en-US" sz="2800" dirty="0">
                <a:solidFill>
                  <a:schemeClr val="accent4"/>
                </a:solidFill>
                <a:latin typeface="Bahnschrift" panose="020B0502040204020203" pitchFamily="34" charset="0"/>
              </a:rPr>
              <a:t>an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update anomaly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2AAFD2-FC02-8C02-1531-C1C3A0A83400}"/>
              </a:ext>
            </a:extLst>
          </p:cNvPr>
          <p:cNvSpPr/>
          <p:nvPr/>
        </p:nvSpPr>
        <p:spPr>
          <a:xfrm>
            <a:off x="163793" y="155968"/>
            <a:ext cx="3768127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REDUNDANCY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1608867-CF19-85C2-1C7B-13E3562CDB13}"/>
              </a:ext>
            </a:extLst>
          </p:cNvPr>
          <p:cNvGraphicFramePr>
            <a:graphicFrameLocks noGrp="1"/>
          </p:cNvGraphicFramePr>
          <p:nvPr/>
        </p:nvGraphicFramePr>
        <p:xfrm>
          <a:off x="233682" y="4471432"/>
          <a:ext cx="1172463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948">
                  <a:extLst>
                    <a:ext uri="{9D8B030D-6E8A-4147-A177-3AD203B41FA5}">
                      <a16:colId xmlns:a16="http://schemas.microsoft.com/office/drawing/2014/main" val="1394263601"/>
                    </a:ext>
                  </a:extLst>
                </a:gridCol>
                <a:gridCol w="1224038">
                  <a:extLst>
                    <a:ext uri="{9D8B030D-6E8A-4147-A177-3AD203B41FA5}">
                      <a16:colId xmlns:a16="http://schemas.microsoft.com/office/drawing/2014/main" val="4226567245"/>
                    </a:ext>
                  </a:extLst>
                </a:gridCol>
                <a:gridCol w="2125858">
                  <a:extLst>
                    <a:ext uri="{9D8B030D-6E8A-4147-A177-3AD203B41FA5}">
                      <a16:colId xmlns:a16="http://schemas.microsoft.com/office/drawing/2014/main" val="3689031494"/>
                    </a:ext>
                  </a:extLst>
                </a:gridCol>
                <a:gridCol w="2215849">
                  <a:extLst>
                    <a:ext uri="{9D8B030D-6E8A-4147-A177-3AD203B41FA5}">
                      <a16:colId xmlns:a16="http://schemas.microsoft.com/office/drawing/2014/main" val="2207439577"/>
                    </a:ext>
                  </a:extLst>
                </a:gridCol>
                <a:gridCol w="1991360">
                  <a:extLst>
                    <a:ext uri="{9D8B030D-6E8A-4147-A177-3AD203B41FA5}">
                      <a16:colId xmlns:a16="http://schemas.microsoft.com/office/drawing/2014/main" val="592735571"/>
                    </a:ext>
                  </a:extLst>
                </a:gridCol>
                <a:gridCol w="817635">
                  <a:extLst>
                    <a:ext uri="{9D8B030D-6E8A-4147-A177-3AD203B41FA5}">
                      <a16:colId xmlns:a16="http://schemas.microsoft.com/office/drawing/2014/main" val="2247736138"/>
                    </a:ext>
                  </a:extLst>
                </a:gridCol>
                <a:gridCol w="1674948">
                  <a:extLst>
                    <a:ext uri="{9D8B030D-6E8A-4147-A177-3AD203B41FA5}">
                      <a16:colId xmlns:a16="http://schemas.microsoft.com/office/drawing/2014/main" val="2736409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BookID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AuthorFirstName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AuthorLastName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ProofReader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23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History of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13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Great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Hamilton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47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Big Tonny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265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Amazing Future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270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7797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4B1D47-9A57-DC2F-D4EF-2991690E6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E9C1E77-42CF-BE99-3C2B-6BA1E2B1D0C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66E7402-97AB-52DF-D907-4786AAA9BE9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51EB765-6A0B-8EC5-02DB-384C2770DBD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163AA03-ADC5-F7E2-86E2-8E3F40F1454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9F2575-B74B-A84F-1BA0-53A070B73DB8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solve this problem, we can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normalize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our database in a way that reduces data redundancy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Normalization is achieved through “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normal forms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”, with each having specific requirements to be considered normalized </a:t>
            </a:r>
            <a:endParaRPr lang="en-US" sz="2800" dirty="0">
              <a:solidFill>
                <a:schemeClr val="accent5">
                  <a:lumMod val="40000"/>
                  <a:lumOff val="6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607395-90DA-70DF-FA21-24DF0923136E}"/>
              </a:ext>
            </a:extLst>
          </p:cNvPr>
          <p:cNvSpPr/>
          <p:nvPr/>
        </p:nvSpPr>
        <p:spPr>
          <a:xfrm>
            <a:off x="0" y="155968"/>
            <a:ext cx="4426495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NORMALIZATION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73E665-EE10-D13B-6D87-7B9195EA2385}"/>
              </a:ext>
            </a:extLst>
          </p:cNvPr>
          <p:cNvGraphicFramePr>
            <a:graphicFrameLocks noGrp="1"/>
          </p:cNvGraphicFramePr>
          <p:nvPr/>
        </p:nvGraphicFramePr>
        <p:xfrm>
          <a:off x="233682" y="4471432"/>
          <a:ext cx="1172463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948">
                  <a:extLst>
                    <a:ext uri="{9D8B030D-6E8A-4147-A177-3AD203B41FA5}">
                      <a16:colId xmlns:a16="http://schemas.microsoft.com/office/drawing/2014/main" val="1394263601"/>
                    </a:ext>
                  </a:extLst>
                </a:gridCol>
                <a:gridCol w="1224038">
                  <a:extLst>
                    <a:ext uri="{9D8B030D-6E8A-4147-A177-3AD203B41FA5}">
                      <a16:colId xmlns:a16="http://schemas.microsoft.com/office/drawing/2014/main" val="4226567245"/>
                    </a:ext>
                  </a:extLst>
                </a:gridCol>
                <a:gridCol w="2125858">
                  <a:extLst>
                    <a:ext uri="{9D8B030D-6E8A-4147-A177-3AD203B41FA5}">
                      <a16:colId xmlns:a16="http://schemas.microsoft.com/office/drawing/2014/main" val="3689031494"/>
                    </a:ext>
                  </a:extLst>
                </a:gridCol>
                <a:gridCol w="2215849">
                  <a:extLst>
                    <a:ext uri="{9D8B030D-6E8A-4147-A177-3AD203B41FA5}">
                      <a16:colId xmlns:a16="http://schemas.microsoft.com/office/drawing/2014/main" val="2207439577"/>
                    </a:ext>
                  </a:extLst>
                </a:gridCol>
                <a:gridCol w="1991360">
                  <a:extLst>
                    <a:ext uri="{9D8B030D-6E8A-4147-A177-3AD203B41FA5}">
                      <a16:colId xmlns:a16="http://schemas.microsoft.com/office/drawing/2014/main" val="592735571"/>
                    </a:ext>
                  </a:extLst>
                </a:gridCol>
                <a:gridCol w="817635">
                  <a:extLst>
                    <a:ext uri="{9D8B030D-6E8A-4147-A177-3AD203B41FA5}">
                      <a16:colId xmlns:a16="http://schemas.microsoft.com/office/drawing/2014/main" val="2247736138"/>
                    </a:ext>
                  </a:extLst>
                </a:gridCol>
                <a:gridCol w="1674948">
                  <a:extLst>
                    <a:ext uri="{9D8B030D-6E8A-4147-A177-3AD203B41FA5}">
                      <a16:colId xmlns:a16="http://schemas.microsoft.com/office/drawing/2014/main" val="2736409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BookID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AuthorFirstName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AuthorLastName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ProofReader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23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History of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13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Great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Hamilton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47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Big Tonny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265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Amazing Future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270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559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09EFC6-7559-DC59-D2B2-129205ED4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E4D3FB7-0D2D-86F8-13DD-DE748E576B7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1C29901-6188-F7C9-D502-41AC2FCD364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A60D20-F6AB-3F98-79E5-8CFBBAE5709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D576448-203D-1E50-D65E-DACC4BE4889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80DF75-E4B5-24C8-8697-D9D53C3E033D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For a table to be considered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First Normal Form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the table must have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primary key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Include no duplicate attributes from the same table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Include no repeated groups of attributes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Fields should be atomic (non-divisible)	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Name should be turned into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firstName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and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lastName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Address should be turned into Address, City, State,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Zipcode</a:t>
            </a:r>
            <a:endParaRPr lang="en-US" sz="2800" dirty="0">
              <a:solidFill>
                <a:schemeClr val="accent5">
                  <a:lumMod val="40000"/>
                  <a:lumOff val="6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B25130-0328-5B4F-465A-3DE37710D541}"/>
              </a:ext>
            </a:extLst>
          </p:cNvPr>
          <p:cNvSpPr/>
          <p:nvPr/>
        </p:nvSpPr>
        <p:spPr>
          <a:xfrm>
            <a:off x="163793" y="155968"/>
            <a:ext cx="3768127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REDUNDANCY</a:t>
            </a:r>
          </a:p>
        </p:txBody>
      </p:sp>
    </p:spTree>
    <p:extLst>
      <p:ext uri="{BB962C8B-B14F-4D97-AF65-F5344CB8AC3E}">
        <p14:creationId xmlns:p14="http://schemas.microsoft.com/office/powerpoint/2010/main" val="751385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68713A-AA78-F701-F207-24D2B9BE0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B4EF91A-9076-1482-A102-C48CFD78A11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0D705A2-C2D1-537A-8F72-E8A51EB942B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FD11F2-BDB5-5372-9006-D5ED4245A3E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67FF40D-8360-C8B5-7C92-7A926E3BFCC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630401-4100-87E4-ACBB-87C523EFC943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Is this table in First Normal Form?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Why or why not?</a:t>
            </a:r>
            <a:endParaRPr lang="en-US" sz="2800" dirty="0">
              <a:solidFill>
                <a:schemeClr val="accent5">
                  <a:lumMod val="40000"/>
                  <a:lumOff val="6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FF3BF7-7867-4D13-73CA-14B75E302C93}"/>
              </a:ext>
            </a:extLst>
          </p:cNvPr>
          <p:cNvSpPr/>
          <p:nvPr/>
        </p:nvSpPr>
        <p:spPr>
          <a:xfrm>
            <a:off x="-183679" y="155968"/>
            <a:ext cx="563766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FIRST NORMAL FORM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0F9A4E-54C8-AF9D-D23A-3675A9EC6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711170"/>
              </p:ext>
            </p:extLst>
          </p:nvPr>
        </p:nvGraphicFramePr>
        <p:xfrm>
          <a:off x="233682" y="4471432"/>
          <a:ext cx="1172463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948">
                  <a:extLst>
                    <a:ext uri="{9D8B030D-6E8A-4147-A177-3AD203B41FA5}">
                      <a16:colId xmlns:a16="http://schemas.microsoft.com/office/drawing/2014/main" val="1394263601"/>
                    </a:ext>
                  </a:extLst>
                </a:gridCol>
                <a:gridCol w="1224038">
                  <a:extLst>
                    <a:ext uri="{9D8B030D-6E8A-4147-A177-3AD203B41FA5}">
                      <a16:colId xmlns:a16="http://schemas.microsoft.com/office/drawing/2014/main" val="4226567245"/>
                    </a:ext>
                  </a:extLst>
                </a:gridCol>
                <a:gridCol w="2125858">
                  <a:extLst>
                    <a:ext uri="{9D8B030D-6E8A-4147-A177-3AD203B41FA5}">
                      <a16:colId xmlns:a16="http://schemas.microsoft.com/office/drawing/2014/main" val="3689031494"/>
                    </a:ext>
                  </a:extLst>
                </a:gridCol>
                <a:gridCol w="2215849">
                  <a:extLst>
                    <a:ext uri="{9D8B030D-6E8A-4147-A177-3AD203B41FA5}">
                      <a16:colId xmlns:a16="http://schemas.microsoft.com/office/drawing/2014/main" val="2207439577"/>
                    </a:ext>
                  </a:extLst>
                </a:gridCol>
                <a:gridCol w="1991360">
                  <a:extLst>
                    <a:ext uri="{9D8B030D-6E8A-4147-A177-3AD203B41FA5}">
                      <a16:colId xmlns:a16="http://schemas.microsoft.com/office/drawing/2014/main" val="592735571"/>
                    </a:ext>
                  </a:extLst>
                </a:gridCol>
                <a:gridCol w="817635">
                  <a:extLst>
                    <a:ext uri="{9D8B030D-6E8A-4147-A177-3AD203B41FA5}">
                      <a16:colId xmlns:a16="http://schemas.microsoft.com/office/drawing/2014/main" val="2247736138"/>
                    </a:ext>
                  </a:extLst>
                </a:gridCol>
                <a:gridCol w="1674948">
                  <a:extLst>
                    <a:ext uri="{9D8B030D-6E8A-4147-A177-3AD203B41FA5}">
                      <a16:colId xmlns:a16="http://schemas.microsoft.com/office/drawing/2014/main" val="2736409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BookID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AuthorFirstName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AuthorLastName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ProofReader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23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History of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13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Great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Hamilton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47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Big Tonny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265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Amazing Future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270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7336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067266-76C1-696E-3B18-7DA5816C4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1473B2B-A603-8772-E124-2661EAA1D36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E2B67FB-1041-FFAA-CEC8-3040294FA39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4F1EC99-1AA4-AE60-2175-1B5EB65C3E2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23D2B87-3AF7-163A-5480-7DF01B0D873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523AAC-3B46-6F4D-7334-272D9C43C6A0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table is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Second Normal Form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is in first normal form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Any non-key attributes are fully functionally dependent on the primary key – there are no partial dependencies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Well, what makes a full vs partial dependency?</a:t>
            </a:r>
            <a:endParaRPr lang="en-US" sz="2800" dirty="0">
              <a:solidFill>
                <a:schemeClr val="accent5">
                  <a:lumMod val="40000"/>
                  <a:lumOff val="6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F6E864-0352-A2C1-96CC-C25BF82CD632}"/>
              </a:ext>
            </a:extLst>
          </p:cNvPr>
          <p:cNvSpPr/>
          <p:nvPr/>
        </p:nvSpPr>
        <p:spPr>
          <a:xfrm>
            <a:off x="-136109" y="112328"/>
            <a:ext cx="6337591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SECOND NORMAL FORM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F4BC2A-0249-8EAD-765C-8095F0D2EBCF}"/>
              </a:ext>
            </a:extLst>
          </p:cNvPr>
          <p:cNvGraphicFramePr>
            <a:graphicFrameLocks noGrp="1"/>
          </p:cNvGraphicFramePr>
          <p:nvPr/>
        </p:nvGraphicFramePr>
        <p:xfrm>
          <a:off x="233682" y="4471432"/>
          <a:ext cx="1172463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948">
                  <a:extLst>
                    <a:ext uri="{9D8B030D-6E8A-4147-A177-3AD203B41FA5}">
                      <a16:colId xmlns:a16="http://schemas.microsoft.com/office/drawing/2014/main" val="1394263601"/>
                    </a:ext>
                  </a:extLst>
                </a:gridCol>
                <a:gridCol w="1224038">
                  <a:extLst>
                    <a:ext uri="{9D8B030D-6E8A-4147-A177-3AD203B41FA5}">
                      <a16:colId xmlns:a16="http://schemas.microsoft.com/office/drawing/2014/main" val="4226567245"/>
                    </a:ext>
                  </a:extLst>
                </a:gridCol>
                <a:gridCol w="2125858">
                  <a:extLst>
                    <a:ext uri="{9D8B030D-6E8A-4147-A177-3AD203B41FA5}">
                      <a16:colId xmlns:a16="http://schemas.microsoft.com/office/drawing/2014/main" val="3689031494"/>
                    </a:ext>
                  </a:extLst>
                </a:gridCol>
                <a:gridCol w="2215849">
                  <a:extLst>
                    <a:ext uri="{9D8B030D-6E8A-4147-A177-3AD203B41FA5}">
                      <a16:colId xmlns:a16="http://schemas.microsoft.com/office/drawing/2014/main" val="2207439577"/>
                    </a:ext>
                  </a:extLst>
                </a:gridCol>
                <a:gridCol w="1991360">
                  <a:extLst>
                    <a:ext uri="{9D8B030D-6E8A-4147-A177-3AD203B41FA5}">
                      <a16:colId xmlns:a16="http://schemas.microsoft.com/office/drawing/2014/main" val="592735571"/>
                    </a:ext>
                  </a:extLst>
                </a:gridCol>
                <a:gridCol w="817635">
                  <a:extLst>
                    <a:ext uri="{9D8B030D-6E8A-4147-A177-3AD203B41FA5}">
                      <a16:colId xmlns:a16="http://schemas.microsoft.com/office/drawing/2014/main" val="2247736138"/>
                    </a:ext>
                  </a:extLst>
                </a:gridCol>
                <a:gridCol w="1674948">
                  <a:extLst>
                    <a:ext uri="{9D8B030D-6E8A-4147-A177-3AD203B41FA5}">
                      <a16:colId xmlns:a16="http://schemas.microsoft.com/office/drawing/2014/main" val="2736409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BookID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AuthorFirstName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AuthorLastName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ProofReader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23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History of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13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Great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Hamilton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47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Big Tonny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265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Amazing Future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270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6423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CF2174-81AE-A344-300F-BD653ABFE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8DE69DD-855A-5391-1B30-F29808CED70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F4A481F-BEBE-4790-08C6-92062A35F60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50253AF-A887-1F0F-C489-58B960A140E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4FBF967-0E9A-E719-4C24-BCA44C8F919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CBB177-E470-7DCB-5DFE-D4824A8158B9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Functional Dependencies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created when one or more attributes (determinants) determines the value of one or more other attributes (dependent)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For example, in a Student table,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StudentID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would determine the FirstName, LastName, DOB, and Email values, but not the other way around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3B3A7E-0B6C-9306-CD40-1286AFCBF66A}"/>
              </a:ext>
            </a:extLst>
          </p:cNvPr>
          <p:cNvSpPr/>
          <p:nvPr/>
        </p:nvSpPr>
        <p:spPr>
          <a:xfrm>
            <a:off x="-392141" y="214990"/>
            <a:ext cx="7780493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FUNCTIONAL DEPENDENCIES</a:t>
            </a:r>
          </a:p>
        </p:txBody>
      </p:sp>
    </p:spTree>
    <p:extLst>
      <p:ext uri="{BB962C8B-B14F-4D97-AF65-F5344CB8AC3E}">
        <p14:creationId xmlns:p14="http://schemas.microsoft.com/office/powerpoint/2010/main" val="2260760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E8BFB1-F1DB-F5B0-3A99-6FCB17A28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2FAAF71-436C-7D42-98D4-405BD45110E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06F79D-5CE7-A5B7-71CA-46198EC9349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5E4C1B-B1D6-5424-B113-5B1216BA574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5EFF9B-336F-22FD-B033-AF8C07E00B9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7468A2-EE63-4AE8-10F5-68B75A0A54DE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Full Functional Dependencies</a:t>
            </a:r>
            <a:r>
              <a:rPr lang="en-US" sz="2800" dirty="0">
                <a:solidFill>
                  <a:schemeClr val="accent4"/>
                </a:solidFill>
                <a:latin typeface="Bahnschrift" panose="020B0502040204020203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determined by the determinant attributes.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would be like our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StudentID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determining FirstName, LastName, DOB, and Email from the last slide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ALL of the attributes must be functionally dependent for a table to be fully functionally dependent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053211-B99A-D25E-4A35-497D68D817AA}"/>
              </a:ext>
            </a:extLst>
          </p:cNvPr>
          <p:cNvSpPr/>
          <p:nvPr/>
        </p:nvSpPr>
        <p:spPr>
          <a:xfrm>
            <a:off x="-474437" y="214990"/>
            <a:ext cx="8612597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FULL FUNCTIONAL DEPENDENCY</a:t>
            </a:r>
          </a:p>
        </p:txBody>
      </p:sp>
    </p:spTree>
    <p:extLst>
      <p:ext uri="{BB962C8B-B14F-4D97-AF65-F5344CB8AC3E}">
        <p14:creationId xmlns:p14="http://schemas.microsoft.com/office/powerpoint/2010/main" val="3066724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2F665A-6495-4DBD-73ED-2B40A8D97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C56E856-1609-1793-CE3C-B87B6F43501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60D806B-58C8-0257-F4F6-7CFBD8608E4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BB52916-52F2-7757-9B27-97A176E14E0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EF2470E-7E9C-3665-7A00-8CDBEAA62A3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796F87-576A-E051-A05A-774910649DFA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Partial Functional Dependency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says that dependent attributes are only partially determined by the determinant attributes.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For example,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StudentID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wouldn’t determine the instructor for a club that they’re in, even if it’s on the same table, but it would still determine Name, DOB, and Email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Because an attribute isn’t determined by the determinant attributes, but some are, the table is partially functionally dependent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411038-9DCF-1BAC-59F3-16968845321A}"/>
              </a:ext>
            </a:extLst>
          </p:cNvPr>
          <p:cNvSpPr/>
          <p:nvPr/>
        </p:nvSpPr>
        <p:spPr>
          <a:xfrm>
            <a:off x="-474437" y="214990"/>
            <a:ext cx="9389837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PARTIAL FUNCTIONAL DEPENDENCY</a:t>
            </a:r>
          </a:p>
        </p:txBody>
      </p:sp>
    </p:spTree>
    <p:extLst>
      <p:ext uri="{BB962C8B-B14F-4D97-AF65-F5344CB8AC3E}">
        <p14:creationId xmlns:p14="http://schemas.microsoft.com/office/powerpoint/2010/main" val="123770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71844F-28FE-411A-F844-5624F7E79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7033067-2D2F-6336-7BE5-933FFAA48EB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241C63F-9B48-3698-E6C7-B97254C1F05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441E820-011B-0DE1-AD8F-D7A6010E53B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E580509-71D9-34BD-32EA-1186615FEE3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3F7E06-3568-D28F-FEA2-6936C2D9E5A7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Transitive Dependency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occurs when dependent attributes are determined by attributes not included in the determinant attributes.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For example, in an employee table, the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employeeID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may determine your department, which then determines your salary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Your salary isn’t determined by your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employeeID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in this case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49A234-15EF-2D8E-C50C-3BBDB8D68542}"/>
              </a:ext>
            </a:extLst>
          </p:cNvPr>
          <p:cNvSpPr/>
          <p:nvPr/>
        </p:nvSpPr>
        <p:spPr>
          <a:xfrm>
            <a:off x="-301952" y="214990"/>
            <a:ext cx="694838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TRANSITIVE DEPENDENCY</a:t>
            </a:r>
          </a:p>
        </p:txBody>
      </p:sp>
    </p:spTree>
    <p:extLst>
      <p:ext uri="{BB962C8B-B14F-4D97-AF65-F5344CB8AC3E}">
        <p14:creationId xmlns:p14="http://schemas.microsoft.com/office/powerpoint/2010/main" val="1658427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3059B4-5FD9-CB98-9C7B-5075772C5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194A397-0DE2-9B0F-253D-99CEA7134D4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D8BEA5D-1F09-5C88-3B7D-E77BAD15605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957DF30-7030-6020-564D-EAA9C5F1A1B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52EF74-C074-921B-6A74-B725009B49A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CB0E68-49C9-FDE3-7374-10AC98B22BE8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So, now let’s look at this table again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there any attributes dependent on a field other than the primary key of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BookID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?</a:t>
            </a:r>
            <a:endParaRPr lang="en-US" sz="2800" dirty="0">
              <a:solidFill>
                <a:schemeClr val="accent5">
                  <a:lumMod val="40000"/>
                  <a:lumOff val="6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7AFCBC-0B55-E3C6-B3A5-24AF897AE83F}"/>
              </a:ext>
            </a:extLst>
          </p:cNvPr>
          <p:cNvSpPr/>
          <p:nvPr/>
        </p:nvSpPr>
        <p:spPr>
          <a:xfrm>
            <a:off x="-301952" y="215932"/>
            <a:ext cx="6397952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SECOND NORMAL FORM</a:t>
            </a:r>
          </a:p>
        </p:txBody>
      </p:sp>
    </p:spTree>
    <p:extLst>
      <p:ext uri="{BB962C8B-B14F-4D97-AF65-F5344CB8AC3E}">
        <p14:creationId xmlns:p14="http://schemas.microsoft.com/office/powerpoint/2010/main" val="2849735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73EA65-CC52-BCA8-E43A-BB10C00E8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A805294-245B-9DD7-E2E5-BB1CAD23713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BE0C17F-0B06-4721-203F-8E342E7BAB4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277670-FAAA-462C-3A17-41653E62ADE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312E1E1-26B1-972D-F797-461B852C804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A90C7F-E626-CCE6-40B7-40283F4BF4E3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need to create a new Author table, because the name of the author isn’t dependent on the book, but the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AuthorID</a:t>
            </a:r>
            <a:endParaRPr lang="en-US" sz="2800" dirty="0">
              <a:solidFill>
                <a:schemeClr val="accent5">
                  <a:lumMod val="40000"/>
                  <a:lumOff val="6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3857A0-EEC2-A1DE-8A81-0A5B4E3FBE9B}"/>
              </a:ext>
            </a:extLst>
          </p:cNvPr>
          <p:cNvSpPr/>
          <p:nvPr/>
        </p:nvSpPr>
        <p:spPr>
          <a:xfrm>
            <a:off x="-301952" y="215932"/>
            <a:ext cx="6397952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SECOND NORMAL FORM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5819415-8EDD-DAE9-D10D-1ADFBC399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725660"/>
              </p:ext>
            </p:extLst>
          </p:nvPr>
        </p:nvGraphicFramePr>
        <p:xfrm>
          <a:off x="2984145" y="2606457"/>
          <a:ext cx="5565745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038">
                  <a:extLst>
                    <a:ext uri="{9D8B030D-6E8A-4147-A177-3AD203B41FA5}">
                      <a16:colId xmlns:a16="http://schemas.microsoft.com/office/drawing/2014/main" val="4226567245"/>
                    </a:ext>
                  </a:extLst>
                </a:gridCol>
                <a:gridCol w="2125858">
                  <a:extLst>
                    <a:ext uri="{9D8B030D-6E8A-4147-A177-3AD203B41FA5}">
                      <a16:colId xmlns:a16="http://schemas.microsoft.com/office/drawing/2014/main" val="3689031494"/>
                    </a:ext>
                  </a:extLst>
                </a:gridCol>
                <a:gridCol w="2215849">
                  <a:extLst>
                    <a:ext uri="{9D8B030D-6E8A-4147-A177-3AD203B41FA5}">
                      <a16:colId xmlns:a16="http://schemas.microsoft.com/office/drawing/2014/main" val="22074395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AuthorID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AuthorFirstName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AuthorLastName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23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Brown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13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47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26576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E018C6-3DD6-C72B-9A02-52A01B036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706534"/>
              </p:ext>
            </p:extLst>
          </p:nvPr>
        </p:nvGraphicFramePr>
        <p:xfrm>
          <a:off x="2109896" y="4525618"/>
          <a:ext cx="738292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948">
                  <a:extLst>
                    <a:ext uri="{9D8B030D-6E8A-4147-A177-3AD203B41FA5}">
                      <a16:colId xmlns:a16="http://schemas.microsoft.com/office/drawing/2014/main" val="1394263601"/>
                    </a:ext>
                  </a:extLst>
                </a:gridCol>
                <a:gridCol w="1224038">
                  <a:extLst>
                    <a:ext uri="{9D8B030D-6E8A-4147-A177-3AD203B41FA5}">
                      <a16:colId xmlns:a16="http://schemas.microsoft.com/office/drawing/2014/main" val="4226567245"/>
                    </a:ext>
                  </a:extLst>
                </a:gridCol>
                <a:gridCol w="1991360">
                  <a:extLst>
                    <a:ext uri="{9D8B030D-6E8A-4147-A177-3AD203B41FA5}">
                      <a16:colId xmlns:a16="http://schemas.microsoft.com/office/drawing/2014/main" val="592735571"/>
                    </a:ext>
                  </a:extLst>
                </a:gridCol>
                <a:gridCol w="817635">
                  <a:extLst>
                    <a:ext uri="{9D8B030D-6E8A-4147-A177-3AD203B41FA5}">
                      <a16:colId xmlns:a16="http://schemas.microsoft.com/office/drawing/2014/main" val="2247736138"/>
                    </a:ext>
                  </a:extLst>
                </a:gridCol>
                <a:gridCol w="1674948">
                  <a:extLst>
                    <a:ext uri="{9D8B030D-6E8A-4147-A177-3AD203B41FA5}">
                      <a16:colId xmlns:a16="http://schemas.microsoft.com/office/drawing/2014/main" val="2736409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BookID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ProofReader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23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History of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13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Great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Hamilton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47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Big Tonny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265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Amazing Future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270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91866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4E371D-E01C-0B84-F457-32D8484F2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2EBB1C9-ABDA-1C5E-A4F2-65B12A9EDCE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26C8330-2F74-8DE0-EAA0-6B1F7697CA3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3CE4D1-088A-F1AD-50C9-FBEDC7FC840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F878AFD-39C9-AC7D-398E-DFCF84F6789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277586-426B-7A8B-6D69-A11BF18F6C32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table is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Third Normal Form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is in second normal form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All attributes should be fully functionally dependent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table contains no non-key dependencies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All transitive dependencies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935B5E-E70B-98F3-EA7E-DEBAF1FCC465}"/>
              </a:ext>
            </a:extLst>
          </p:cNvPr>
          <p:cNvSpPr/>
          <p:nvPr/>
        </p:nvSpPr>
        <p:spPr>
          <a:xfrm>
            <a:off x="-237840" y="214990"/>
            <a:ext cx="5815784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THIRD NORMAL FORM</a:t>
            </a:r>
          </a:p>
        </p:txBody>
      </p:sp>
    </p:spTree>
    <p:extLst>
      <p:ext uri="{BB962C8B-B14F-4D97-AF65-F5344CB8AC3E}">
        <p14:creationId xmlns:p14="http://schemas.microsoft.com/office/powerpoint/2010/main" val="37066223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84C5CB-6521-C7CB-178D-1A08F2B37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9E42773-362F-F526-C49F-CDD2A43428B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C2A04F5-4A82-218E-2FA1-6BF07301B3C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280C33D-0AD8-FA10-D890-70ED9337A1D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B003C95-5066-9C61-9617-AA984BA0CEA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2BD01A-64DB-6504-C181-CA46ED276DDA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 let’s look at this again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Is this in 3</a:t>
            </a:r>
            <a:r>
              <a:rPr lang="en-US" sz="2800" baseline="30000" dirty="0">
                <a:solidFill>
                  <a:schemeClr val="bg1"/>
                </a:solidFill>
                <a:latin typeface="Bahnschrift" panose="020B0502040204020203" pitchFamily="34" charset="0"/>
              </a:rPr>
              <a:t>rd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normal form?</a:t>
            </a:r>
            <a:endParaRPr lang="en-US" sz="2800" dirty="0">
              <a:solidFill>
                <a:schemeClr val="accent5">
                  <a:lumMod val="40000"/>
                  <a:lumOff val="6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2722AB-9432-ECE9-EE04-1A0A9C089A8C}"/>
              </a:ext>
            </a:extLst>
          </p:cNvPr>
          <p:cNvSpPr/>
          <p:nvPr/>
        </p:nvSpPr>
        <p:spPr>
          <a:xfrm>
            <a:off x="-237840" y="214990"/>
            <a:ext cx="5815784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THIRD NORMAL FORM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117D07E-FCA1-30CA-E892-D420E9CB35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356897"/>
              </p:ext>
            </p:extLst>
          </p:nvPr>
        </p:nvGraphicFramePr>
        <p:xfrm>
          <a:off x="3018586" y="2844800"/>
          <a:ext cx="5565745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038">
                  <a:extLst>
                    <a:ext uri="{9D8B030D-6E8A-4147-A177-3AD203B41FA5}">
                      <a16:colId xmlns:a16="http://schemas.microsoft.com/office/drawing/2014/main" val="4226567245"/>
                    </a:ext>
                  </a:extLst>
                </a:gridCol>
                <a:gridCol w="2125858">
                  <a:extLst>
                    <a:ext uri="{9D8B030D-6E8A-4147-A177-3AD203B41FA5}">
                      <a16:colId xmlns:a16="http://schemas.microsoft.com/office/drawing/2014/main" val="3689031494"/>
                    </a:ext>
                  </a:extLst>
                </a:gridCol>
                <a:gridCol w="2215849">
                  <a:extLst>
                    <a:ext uri="{9D8B030D-6E8A-4147-A177-3AD203B41FA5}">
                      <a16:colId xmlns:a16="http://schemas.microsoft.com/office/drawing/2014/main" val="22074395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AuthorID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AuthorFirstName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AuthorLastName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23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Brown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13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47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26576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04725F-EBCF-46CC-3237-A007FF7A4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992195"/>
              </p:ext>
            </p:extLst>
          </p:nvPr>
        </p:nvGraphicFramePr>
        <p:xfrm>
          <a:off x="2109896" y="4525618"/>
          <a:ext cx="738292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948">
                  <a:extLst>
                    <a:ext uri="{9D8B030D-6E8A-4147-A177-3AD203B41FA5}">
                      <a16:colId xmlns:a16="http://schemas.microsoft.com/office/drawing/2014/main" val="1394263601"/>
                    </a:ext>
                  </a:extLst>
                </a:gridCol>
                <a:gridCol w="1224038">
                  <a:extLst>
                    <a:ext uri="{9D8B030D-6E8A-4147-A177-3AD203B41FA5}">
                      <a16:colId xmlns:a16="http://schemas.microsoft.com/office/drawing/2014/main" val="4226567245"/>
                    </a:ext>
                  </a:extLst>
                </a:gridCol>
                <a:gridCol w="1991360">
                  <a:extLst>
                    <a:ext uri="{9D8B030D-6E8A-4147-A177-3AD203B41FA5}">
                      <a16:colId xmlns:a16="http://schemas.microsoft.com/office/drawing/2014/main" val="592735571"/>
                    </a:ext>
                  </a:extLst>
                </a:gridCol>
                <a:gridCol w="817635">
                  <a:extLst>
                    <a:ext uri="{9D8B030D-6E8A-4147-A177-3AD203B41FA5}">
                      <a16:colId xmlns:a16="http://schemas.microsoft.com/office/drawing/2014/main" val="2247736138"/>
                    </a:ext>
                  </a:extLst>
                </a:gridCol>
                <a:gridCol w="1674948">
                  <a:extLst>
                    <a:ext uri="{9D8B030D-6E8A-4147-A177-3AD203B41FA5}">
                      <a16:colId xmlns:a16="http://schemas.microsoft.com/office/drawing/2014/main" val="2736409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BookID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ProofReader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23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History of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13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Great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Hamilton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47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Big Tonny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265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Amazing Future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270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7222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EEEDA8-9F84-A88E-54C0-57D718E43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615767C-83D8-BECB-AD16-FF955F9EB82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2F11862-3962-3133-512C-151CE10F690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32D6410-5899-1148-2BB4-7F521F8B1E5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BAF0CBC-FAD8-DDA5-68B1-441F3BDDB0A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E76568-D18A-E29F-1F80-4A2A0BC96FBC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need to spin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ProofReader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off into a new table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 we’re in Third Normal Form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394B67-20AC-3B28-E4F4-A1057DBEDF7F}"/>
              </a:ext>
            </a:extLst>
          </p:cNvPr>
          <p:cNvSpPr/>
          <p:nvPr/>
        </p:nvSpPr>
        <p:spPr>
          <a:xfrm>
            <a:off x="-237840" y="214990"/>
            <a:ext cx="5815784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THIRD NORMAL FORM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47B35E5-71C7-2B8F-8D5A-4EB25E349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854435"/>
              </p:ext>
            </p:extLst>
          </p:nvPr>
        </p:nvGraphicFramePr>
        <p:xfrm>
          <a:off x="1077163" y="2768580"/>
          <a:ext cx="5565745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038">
                  <a:extLst>
                    <a:ext uri="{9D8B030D-6E8A-4147-A177-3AD203B41FA5}">
                      <a16:colId xmlns:a16="http://schemas.microsoft.com/office/drawing/2014/main" val="4226567245"/>
                    </a:ext>
                  </a:extLst>
                </a:gridCol>
                <a:gridCol w="2125858">
                  <a:extLst>
                    <a:ext uri="{9D8B030D-6E8A-4147-A177-3AD203B41FA5}">
                      <a16:colId xmlns:a16="http://schemas.microsoft.com/office/drawing/2014/main" val="3689031494"/>
                    </a:ext>
                  </a:extLst>
                </a:gridCol>
                <a:gridCol w="2215849">
                  <a:extLst>
                    <a:ext uri="{9D8B030D-6E8A-4147-A177-3AD203B41FA5}">
                      <a16:colId xmlns:a16="http://schemas.microsoft.com/office/drawing/2014/main" val="22074395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AuthorID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AuthorFirstName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AuthorLastName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23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Brown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13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47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26576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D173359-1AD6-0C90-5B65-146980F1C2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743717"/>
              </p:ext>
            </p:extLst>
          </p:nvPr>
        </p:nvGraphicFramePr>
        <p:xfrm>
          <a:off x="2109895" y="4525618"/>
          <a:ext cx="767988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2318">
                  <a:extLst>
                    <a:ext uri="{9D8B030D-6E8A-4147-A177-3AD203B41FA5}">
                      <a16:colId xmlns:a16="http://schemas.microsoft.com/office/drawing/2014/main" val="1394263601"/>
                    </a:ext>
                  </a:extLst>
                </a:gridCol>
                <a:gridCol w="1273271">
                  <a:extLst>
                    <a:ext uri="{9D8B030D-6E8A-4147-A177-3AD203B41FA5}">
                      <a16:colId xmlns:a16="http://schemas.microsoft.com/office/drawing/2014/main" val="4226567245"/>
                    </a:ext>
                  </a:extLst>
                </a:gridCol>
                <a:gridCol w="2071457">
                  <a:extLst>
                    <a:ext uri="{9D8B030D-6E8A-4147-A177-3AD203B41FA5}">
                      <a16:colId xmlns:a16="http://schemas.microsoft.com/office/drawing/2014/main" val="592735571"/>
                    </a:ext>
                  </a:extLst>
                </a:gridCol>
                <a:gridCol w="850522">
                  <a:extLst>
                    <a:ext uri="{9D8B030D-6E8A-4147-A177-3AD203B41FA5}">
                      <a16:colId xmlns:a16="http://schemas.microsoft.com/office/drawing/2014/main" val="2247736138"/>
                    </a:ext>
                  </a:extLst>
                </a:gridCol>
                <a:gridCol w="1742318">
                  <a:extLst>
                    <a:ext uri="{9D8B030D-6E8A-4147-A177-3AD203B41FA5}">
                      <a16:colId xmlns:a16="http://schemas.microsoft.com/office/drawing/2014/main" val="2736409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BookID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AuthorID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ProofReaderID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23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History of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13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Great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47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Big Tonny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265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Amazing Future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27009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35B0E21-DEBD-1354-6351-7B29352BDD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403804"/>
              </p:ext>
            </p:extLst>
          </p:nvPr>
        </p:nvGraphicFramePr>
        <p:xfrm>
          <a:off x="7390887" y="2817554"/>
          <a:ext cx="413850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9438">
                  <a:extLst>
                    <a:ext uri="{9D8B030D-6E8A-4147-A177-3AD203B41FA5}">
                      <a16:colId xmlns:a16="http://schemas.microsoft.com/office/drawing/2014/main" val="1338226418"/>
                    </a:ext>
                  </a:extLst>
                </a:gridCol>
                <a:gridCol w="2269066">
                  <a:extLst>
                    <a:ext uri="{9D8B030D-6E8A-4147-A177-3AD203B41FA5}">
                      <a16:colId xmlns:a16="http://schemas.microsoft.com/office/drawing/2014/main" val="2736409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ProofReaderID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ProofReaderName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23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13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Hamilton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47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Juan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265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3464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9A5513-A387-D748-2375-7CFE14597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E006B7F-5CD9-C00D-9751-AA4223290D2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DB53E22-DC2D-E9BB-7AE3-8288EE03045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210704E-7BEC-729C-90DB-43255597C76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30B66A-088F-ED25-5C8A-3C1FCDF4128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A4B7EF-E4A6-4E6E-799C-011C37C27109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 convert this table into Third Normal Form: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5090A7-9DAA-2A52-B25B-F70D5CCF2F7D}"/>
              </a:ext>
            </a:extLst>
          </p:cNvPr>
          <p:cNvSpPr/>
          <p:nvPr/>
        </p:nvSpPr>
        <p:spPr>
          <a:xfrm>
            <a:off x="-237840" y="214990"/>
            <a:ext cx="5815784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THIRD NORMAL FORM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9EB510-CBF7-1783-5450-18B794655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360497"/>
              </p:ext>
            </p:extLst>
          </p:nvPr>
        </p:nvGraphicFramePr>
        <p:xfrm>
          <a:off x="929670" y="2677017"/>
          <a:ext cx="932919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637">
                  <a:extLst>
                    <a:ext uri="{9D8B030D-6E8A-4147-A177-3AD203B41FA5}">
                      <a16:colId xmlns:a16="http://schemas.microsoft.com/office/drawing/2014/main" val="1394263601"/>
                    </a:ext>
                  </a:extLst>
                </a:gridCol>
                <a:gridCol w="2689571">
                  <a:extLst>
                    <a:ext uri="{9D8B030D-6E8A-4147-A177-3AD203B41FA5}">
                      <a16:colId xmlns:a16="http://schemas.microsoft.com/office/drawing/2014/main" val="4226567245"/>
                    </a:ext>
                  </a:extLst>
                </a:gridCol>
                <a:gridCol w="1421842">
                  <a:extLst>
                    <a:ext uri="{9D8B030D-6E8A-4147-A177-3AD203B41FA5}">
                      <a16:colId xmlns:a16="http://schemas.microsoft.com/office/drawing/2014/main" val="592735571"/>
                    </a:ext>
                  </a:extLst>
                </a:gridCol>
                <a:gridCol w="2127652">
                  <a:extLst>
                    <a:ext uri="{9D8B030D-6E8A-4147-A177-3AD203B41FA5}">
                      <a16:colId xmlns:a16="http://schemas.microsoft.com/office/drawing/2014/main" val="2247736138"/>
                    </a:ext>
                  </a:extLst>
                </a:gridCol>
                <a:gridCol w="2116493">
                  <a:extLst>
                    <a:ext uri="{9D8B030D-6E8A-4147-A177-3AD203B41FA5}">
                      <a16:colId xmlns:a16="http://schemas.microsoft.com/office/drawing/2014/main" val="2736409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ClubID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ClubTitle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TeacherID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TeacherLastName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TeacherFirstName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23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Robotics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Williams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Bobby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13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Taekwondo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47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Robotics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Williams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Bobby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265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Arts and Crafts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270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53201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36E5CB-0033-BE5A-FEE4-3EB1AD5DA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0ACD29C-679C-EC7F-61DF-19C8894BA0F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D5D2486-4C95-3E27-0B0A-67C5C2D1F4A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47B81D0-F95E-9649-C49D-92EAC21EEEC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3790F74-B89A-0FBD-6B75-B6E4AC0DBCD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A446CB-40E5-5DEF-0474-D98A54B9BF6C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Sometimes, there can be downsides to normalizing a database as well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1217CC-EA54-B81F-F7C3-EBFA4AD2DAF4}"/>
              </a:ext>
            </a:extLst>
          </p:cNvPr>
          <p:cNvSpPr/>
          <p:nvPr/>
        </p:nvSpPr>
        <p:spPr>
          <a:xfrm>
            <a:off x="0" y="215932"/>
            <a:ext cx="374913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DOWNSIDES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7B72D3-00F9-6910-B938-AB96260A3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017260"/>
              </p:ext>
            </p:extLst>
          </p:nvPr>
        </p:nvGraphicFramePr>
        <p:xfrm>
          <a:off x="2030326" y="2190543"/>
          <a:ext cx="9151966" cy="430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6532">
                  <a:extLst>
                    <a:ext uri="{9D8B030D-6E8A-4147-A177-3AD203B41FA5}">
                      <a16:colId xmlns:a16="http://schemas.microsoft.com/office/drawing/2014/main" val="1394263601"/>
                    </a:ext>
                  </a:extLst>
                </a:gridCol>
                <a:gridCol w="4355434">
                  <a:extLst>
                    <a:ext uri="{9D8B030D-6E8A-4147-A177-3AD203B41FA5}">
                      <a16:colId xmlns:a16="http://schemas.microsoft.com/office/drawing/2014/main" val="4226567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23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Minimize data redundancy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Organized data reduces duplicates and saves storage space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Consistency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Complexity in database schema</a:t>
                      </a:r>
                    </a:p>
                    <a:p>
                      <a:r>
                        <a:rPr lang="en-US" dirty="0"/>
                        <a:t>- Difficult for developers to understand and maintain structure in large systems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13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Ensures data integrity</a:t>
                      </a:r>
                    </a:p>
                    <a:p>
                      <a:r>
                        <a:rPr lang="en-US" dirty="0"/>
                        <a:t>- Rules about insertion, updates, deletes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Increased query complexity</a:t>
                      </a:r>
                    </a:p>
                    <a:p>
                      <a:r>
                        <a:rPr lang="en-US" dirty="0"/>
                        <a:t>- Performance can drop with queries involving multiple tables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47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Facilitates efficient data retrieval</a:t>
                      </a:r>
                    </a:p>
                    <a:p>
                      <a:r>
                        <a:rPr lang="en-US" dirty="0"/>
                        <a:t>- Relationships support development of efficient 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Increased storage requirements</a:t>
                      </a:r>
                    </a:p>
                    <a:p>
                      <a:r>
                        <a:rPr lang="en-US" dirty="0"/>
                        <a:t>- More tables may lead to higher storage requirements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265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Supports scalability</a:t>
                      </a:r>
                    </a:p>
                    <a:p>
                      <a:r>
                        <a:rPr lang="en-US" dirty="0"/>
                        <a:t>- New data added without altering existing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ideal for all use cases</a:t>
                      </a:r>
                    </a:p>
                    <a:p>
                      <a:r>
                        <a:rPr lang="en-US" dirty="0"/>
                        <a:t>- May not fit all applications or types of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270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89046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2A9419-820A-F6A4-6A59-3B92A0613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8988C4C-A7A0-2960-7456-562E8D77F85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8ED2E31-C11E-074C-4FF2-D5184CF5B8C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6570F46-1C10-3CB7-2185-F83FF3124B3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624D55B-4179-AE18-DCF0-37519CD1130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A7D4BE-AC61-BE5E-DB89-664AD4657B21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Sometimes, there can be downsides to normalizing a database as well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D27C65-7678-4699-65F7-2EC8492143AC}"/>
              </a:ext>
            </a:extLst>
          </p:cNvPr>
          <p:cNvSpPr/>
          <p:nvPr/>
        </p:nvSpPr>
        <p:spPr>
          <a:xfrm>
            <a:off x="118832" y="201643"/>
            <a:ext cx="363940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DOWNSIDES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4492036-455B-ADE2-D055-5C908671CD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10372"/>
              </p:ext>
            </p:extLst>
          </p:nvPr>
        </p:nvGraphicFramePr>
        <p:xfrm>
          <a:off x="1265645" y="2850628"/>
          <a:ext cx="9151966" cy="274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6532">
                  <a:extLst>
                    <a:ext uri="{9D8B030D-6E8A-4147-A177-3AD203B41FA5}">
                      <a16:colId xmlns:a16="http://schemas.microsoft.com/office/drawing/2014/main" val="1394263601"/>
                    </a:ext>
                  </a:extLst>
                </a:gridCol>
                <a:gridCol w="4355434">
                  <a:extLst>
                    <a:ext uri="{9D8B030D-6E8A-4147-A177-3AD203B41FA5}">
                      <a16:colId xmlns:a16="http://schemas.microsoft.com/office/drawing/2014/main" val="4226567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23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Promotes data consistency</a:t>
                      </a:r>
                    </a:p>
                    <a:p>
                      <a:r>
                        <a:rPr lang="en-US" dirty="0"/>
                        <a:t>- Clear relationships promote data consistency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Difficulty in balancing normalization</a:t>
                      </a:r>
                    </a:p>
                    <a:p>
                      <a:r>
                        <a:rPr lang="en-US" dirty="0"/>
                        <a:t>- Need to aim for balance in reducing data redundancy and maintaining 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13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Simplifies database maintenance</a:t>
                      </a:r>
                    </a:p>
                    <a:p>
                      <a:r>
                        <a:rPr lang="en-US" dirty="0"/>
                        <a:t>- Changes made to one table without changing another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Overheads in updates</a:t>
                      </a:r>
                    </a:p>
                    <a:p>
                      <a:r>
                        <a:rPr lang="en-US" dirty="0"/>
                        <a:t>- Updating records may require multiple tables to be updated, increasing complexity and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471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71072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5CACAF-0049-6690-C5D1-3E63CF72B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5A354E1-541F-564C-44A6-C4FE4BAD9D1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9893ACD-2E96-C76E-F967-B2D6467B176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2D0DFD-7328-9959-9BCE-708F52F82A0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1F4E356-7EC4-2B5A-8EEE-A2F175BA4E3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DF1EA9-A724-B73E-6D9D-B8DD7827B457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Denormalization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refers to deliberately allowing data redundancy to occur to improve the performance of queries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0C9307-C426-9A15-75C3-B69F5CA5F0E0}"/>
              </a:ext>
            </a:extLst>
          </p:cNvPr>
          <p:cNvSpPr/>
          <p:nvPr/>
        </p:nvSpPr>
        <p:spPr>
          <a:xfrm>
            <a:off x="-118912" y="201643"/>
            <a:ext cx="509324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DENORMALIZATION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51FD5FB-14EE-32F1-F0F2-2A63F9BF9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201213"/>
              </p:ext>
            </p:extLst>
          </p:nvPr>
        </p:nvGraphicFramePr>
        <p:xfrm>
          <a:off x="1265645" y="2850628"/>
          <a:ext cx="9151966" cy="366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6532">
                  <a:extLst>
                    <a:ext uri="{9D8B030D-6E8A-4147-A177-3AD203B41FA5}">
                      <a16:colId xmlns:a16="http://schemas.microsoft.com/office/drawing/2014/main" val="1394263601"/>
                    </a:ext>
                  </a:extLst>
                </a:gridCol>
                <a:gridCol w="4355434">
                  <a:extLst>
                    <a:ext uri="{9D8B030D-6E8A-4147-A177-3AD203B41FA5}">
                      <a16:colId xmlns:a16="http://schemas.microsoft.com/office/drawing/2014/main" val="4226567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23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Improved query performance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Less need for joins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Improved performance of read-heavy 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redundancy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Possibility of inconsistencies if updates aren’t managed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Challenging to maintain and synchronize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13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Simplified data retrieval</a:t>
                      </a:r>
                    </a:p>
                    <a:p>
                      <a:r>
                        <a:rPr lang="en-US" dirty="0"/>
                        <a:t>- Data is stored closer to the way it’s accessed enabling faster retrieval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Increased storage overhead</a:t>
                      </a:r>
                    </a:p>
                    <a:p>
                      <a:r>
                        <a:rPr lang="en-US" dirty="0"/>
                        <a:t>- Redundant data requires additional storage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47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Enhanced scalability</a:t>
                      </a:r>
                    </a:p>
                    <a:p>
                      <a:r>
                        <a:rPr lang="en-US" dirty="0"/>
                        <a:t>- Reduces overhead of maintaining complex relationships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Maintenance challenges</a:t>
                      </a:r>
                    </a:p>
                    <a:p>
                      <a:r>
                        <a:rPr lang="en-US" dirty="0"/>
                        <a:t>- Denormalized databases require careful planning and maintenance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68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10227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84EE46-4FE5-74D3-D607-057E9760D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8E4C91D-B62A-AFB6-26E8-56FF25B40A7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292F9FC-AC9F-B57C-316F-456AF2A0FAA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88857F3-CA15-E037-55BB-BFED4504B98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DF1834B-AD9D-0959-E43A-DAC19EAD2B7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4E9A76-3279-114B-D68C-850537777CE7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Situations where this is beneficial: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Read intensive applications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Anything that gets data a lot more often than it updates it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Reducing number of tables and relationships lets data be accessed through queries way faster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Reporting and Analytics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Generating complex reports/analyzing large sets of data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Decreases need to join tables to run the reports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27B6B2-B3EC-C5F8-4017-38D0C49CB32C}"/>
              </a:ext>
            </a:extLst>
          </p:cNvPr>
          <p:cNvSpPr/>
          <p:nvPr/>
        </p:nvSpPr>
        <p:spPr>
          <a:xfrm>
            <a:off x="-118912" y="201643"/>
            <a:ext cx="509324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DENORMALIZATION</a:t>
            </a:r>
          </a:p>
        </p:txBody>
      </p:sp>
    </p:spTree>
    <p:extLst>
      <p:ext uri="{BB962C8B-B14F-4D97-AF65-F5344CB8AC3E}">
        <p14:creationId xmlns:p14="http://schemas.microsoft.com/office/powerpoint/2010/main" val="317253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D5CA08-D424-ABB4-260E-2C1DB63EC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5BD9DF3-78A2-52EA-047B-BCD84006BD9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C957F45-9A45-C7B1-643F-6577A28C6C1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6580EF7-BCD1-F1AB-0681-D8CF32DC555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EFAD649-5484-B27A-0E7E-577F22B390F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1294DB-02CE-F1F0-FF72-8698A4CF0698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warehousing (more on this to come):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Focus on storing and analyzing historical data from different sources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Improves query performance and response time</a:t>
            </a:r>
          </a:p>
          <a:p>
            <a:pPr>
              <a:spcBef>
                <a:spcPts val="1200"/>
              </a:spcBef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F18C6D-C1CD-AEF3-466D-041780749D53}"/>
              </a:ext>
            </a:extLst>
          </p:cNvPr>
          <p:cNvSpPr/>
          <p:nvPr/>
        </p:nvSpPr>
        <p:spPr>
          <a:xfrm>
            <a:off x="-118912" y="201643"/>
            <a:ext cx="509324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DENORMALIZATION</a:t>
            </a:r>
          </a:p>
        </p:txBody>
      </p:sp>
    </p:spTree>
    <p:extLst>
      <p:ext uri="{BB962C8B-B14F-4D97-AF65-F5344CB8AC3E}">
        <p14:creationId xmlns:p14="http://schemas.microsoft.com/office/powerpoint/2010/main" val="2558665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0D2792-B39D-0484-A33A-15EF67DA9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9CC931B-B3AD-E653-B6AF-D00385DAA35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FE01F2A-0065-EB71-7305-B09535516EF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C2C19FC-1930-323A-14AB-F3C38982577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EDE9AF-B900-7E55-D38A-075DDF5F738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732087-731B-4907-A403-B71C395F65D5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When tables are separated, they may need to be ‘joined’ together for certain queries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We’ll learn more about this later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Joins are a lot more costly when a database is normalized, so anything that does it a lot may be denormalized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Denormalization is a design choice that we make when we set up a database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A2B48C-587A-F1EB-2151-655788F0F47A}"/>
              </a:ext>
            </a:extLst>
          </p:cNvPr>
          <p:cNvSpPr/>
          <p:nvPr/>
        </p:nvSpPr>
        <p:spPr>
          <a:xfrm>
            <a:off x="-118912" y="201643"/>
            <a:ext cx="509324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DENORMALIZATION</a:t>
            </a:r>
          </a:p>
        </p:txBody>
      </p:sp>
    </p:spTree>
    <p:extLst>
      <p:ext uri="{BB962C8B-B14F-4D97-AF65-F5344CB8AC3E}">
        <p14:creationId xmlns:p14="http://schemas.microsoft.com/office/powerpoint/2010/main" val="37328860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B741EB-F4E4-E1F8-0463-BDC40E44E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AD90DBA-FA77-1174-52C1-C0EA77F92D3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FACA848-A915-E3B3-E94A-EBDA6A0793C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88B0526-A1D8-3550-A9BA-062ED8C56B2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4A51EC2-44CC-61FA-2CE1-1CACD0F3053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3DABE7-21A7-2561-6337-2718D6A6920C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should decide based on: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specific requirements of the application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Identifying if the benefits of denormalization are higher than the risk of data redundancy and complexity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we choose to, we should implement appropriate strategies to mitigate risks and optimize performance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29E154-FA01-3FB3-E19A-E0E6380505D5}"/>
              </a:ext>
            </a:extLst>
          </p:cNvPr>
          <p:cNvSpPr/>
          <p:nvPr/>
        </p:nvSpPr>
        <p:spPr>
          <a:xfrm>
            <a:off x="-118912" y="201643"/>
            <a:ext cx="509324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DENORMALIZATION</a:t>
            </a:r>
          </a:p>
        </p:txBody>
      </p:sp>
    </p:spTree>
    <p:extLst>
      <p:ext uri="{BB962C8B-B14F-4D97-AF65-F5344CB8AC3E}">
        <p14:creationId xmlns:p14="http://schemas.microsoft.com/office/powerpoint/2010/main" val="8399605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8B3FC3-505A-72F5-0609-EB4C6BE32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45D0A73-A0CA-A5CF-D3C1-04FE201EA02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5F877BC-F9A6-75F0-D17B-14AA5C218D2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4D4825D-920A-4BAC-3959-AE627CB6541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85A4D01-9BF1-217C-DF15-B82784AE33E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D0C1C5-5564-24D2-DF7E-A9A7412C3EA2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should decide based on: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specific requirements of the application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Identifying if the benefits of denormalization are higher than the risk of data redundancy and complexity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we choose to, we should implement appropriate strategies to mitigate risks and optimize performance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733236-A9F6-3FDD-B464-5828D93ED53C}"/>
              </a:ext>
            </a:extLst>
          </p:cNvPr>
          <p:cNvSpPr/>
          <p:nvPr/>
        </p:nvSpPr>
        <p:spPr>
          <a:xfrm>
            <a:off x="-118912" y="201643"/>
            <a:ext cx="509324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DENORMALIZATION</a:t>
            </a:r>
          </a:p>
        </p:txBody>
      </p:sp>
    </p:spTree>
    <p:extLst>
      <p:ext uri="{BB962C8B-B14F-4D97-AF65-F5344CB8AC3E}">
        <p14:creationId xmlns:p14="http://schemas.microsoft.com/office/powerpoint/2010/main" val="39288067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8A8DB2-562E-FD94-E013-119C2861F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50AD21D-9FCF-7125-AB24-A748BA8B7C5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C7C8597-3283-983F-1936-8A004F61C25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0D97942-7C2C-8196-674F-108D7C1C717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37573D2-B10C-02C8-55FF-E191B5BFC59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34FFEA-C55D-7192-E228-A3ABF11EA1D6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PA A3-1 is up!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2BA9F7-6E16-6658-F31A-03986374806B}"/>
              </a:ext>
            </a:extLst>
          </p:cNvPr>
          <p:cNvSpPr/>
          <p:nvPr/>
        </p:nvSpPr>
        <p:spPr>
          <a:xfrm>
            <a:off x="-118912" y="201643"/>
            <a:ext cx="509324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DENORMALIZATION</a:t>
            </a:r>
          </a:p>
        </p:txBody>
      </p:sp>
    </p:spTree>
    <p:extLst>
      <p:ext uri="{BB962C8B-B14F-4D97-AF65-F5344CB8AC3E}">
        <p14:creationId xmlns:p14="http://schemas.microsoft.com/office/powerpoint/2010/main" val="34628536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4770D-2655-8C26-4D48-F4A03198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1F651E-4940-E318-A076-228E3B8C31C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1209F0-0749-0516-0209-4407FCF4677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966181-5CE2-6722-3350-E00B8140334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2CE7C8-7F63-E472-2606-75A39E14A5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BA143-CA8C-162E-8EE1-5979D9C12717}"/>
              </a:ext>
            </a:extLst>
          </p:cNvPr>
          <p:cNvSpPr/>
          <p:nvPr/>
        </p:nvSpPr>
        <p:spPr>
          <a:xfrm>
            <a:off x="604883" y="1034378"/>
            <a:ext cx="4389221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First Normal Form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Second Normal Form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Third Normal Form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Normalization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Denormalization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Dependencies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Redundancy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Update Anomaly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Functional Dependency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C4382-6508-C8FE-9226-90B3DD641032}"/>
              </a:ext>
            </a:extLst>
          </p:cNvPr>
          <p:cNvSpPr/>
          <p:nvPr/>
        </p:nvSpPr>
        <p:spPr>
          <a:xfrm>
            <a:off x="-383840" y="155968"/>
            <a:ext cx="76990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F2185-2444-3B34-8D77-C197EB877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EF92E01-FB1B-8414-AD9A-F2E0CE0F89FE}"/>
              </a:ext>
            </a:extLst>
          </p:cNvPr>
          <p:cNvSpPr/>
          <p:nvPr/>
        </p:nvSpPr>
        <p:spPr>
          <a:xfrm>
            <a:off x="5343064" y="956573"/>
            <a:ext cx="2629024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Full functional dependency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Partial Functional Dependency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Transitive dependency</a:t>
            </a:r>
          </a:p>
        </p:txBody>
      </p:sp>
    </p:spTree>
    <p:extLst>
      <p:ext uri="{BB962C8B-B14F-4D97-AF65-F5344CB8AC3E}">
        <p14:creationId xmlns:p14="http://schemas.microsoft.com/office/powerpoint/2010/main" val="78211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16013</TotalTime>
  <Words>1721</Words>
  <Application>Microsoft Office PowerPoint</Application>
  <PresentationFormat>Widescreen</PresentationFormat>
  <Paragraphs>575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23</cp:revision>
  <dcterms:created xsi:type="dcterms:W3CDTF">2025-08-11T14:07:39Z</dcterms:created>
  <dcterms:modified xsi:type="dcterms:W3CDTF">2025-11-13T20:26:56Z</dcterms:modified>
</cp:coreProperties>
</file>