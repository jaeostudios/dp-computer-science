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95" r:id="rId4"/>
    <p:sldId id="296" r:id="rId5"/>
    <p:sldId id="260" r:id="rId6"/>
    <p:sldId id="261" r:id="rId7"/>
    <p:sldId id="29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0" r:id="rId16"/>
    <p:sldId id="269" r:id="rId17"/>
    <p:sldId id="270" r:id="rId18"/>
    <p:sldId id="271" r:id="rId19"/>
    <p:sldId id="272" r:id="rId20"/>
    <p:sldId id="273" r:id="rId21"/>
    <p:sldId id="274" r:id="rId22"/>
    <p:sldId id="291" r:id="rId23"/>
    <p:sldId id="294" r:id="rId24"/>
    <p:sldId id="276" r:id="rId25"/>
    <p:sldId id="277" r:id="rId26"/>
    <p:sldId id="278" r:id="rId27"/>
    <p:sldId id="279" r:id="rId28"/>
    <p:sldId id="280" r:id="rId29"/>
    <p:sldId id="292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79A12-58BC-408C-A13C-8A702E01779F}" v="15" dt="2026-08-19T20:48:18.8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93099" autoAdjust="0"/>
  </p:normalViewPr>
  <p:slideViewPr>
    <p:cSldViewPr snapToGrid="0">
      <p:cViewPr>
        <p:scale>
          <a:sx n="90" d="100"/>
          <a:sy n="90" d="100"/>
        </p:scale>
        <p:origin x="1122" y="5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8-19T20:48:18.886" v="48"/>
      <pc:docMkLst>
        <pc:docMk/>
      </pc:docMkLst>
      <pc:sldChg chg="modSp add del mod">
        <pc:chgData name="Michael Hill" userId="41dba03d-e58d-4389-9894-554c10310ba4" providerId="ADAL" clId="{EF23FE1D-A042-481E-AFD7-2A9FB0847F54}" dt="2026-08-19T20:46:39.949" v="9" actId="47"/>
        <pc:sldMkLst>
          <pc:docMk/>
          <pc:sldMk cId="0" sldId="258"/>
        </pc:sldMkLst>
        <pc:spChg chg="mod">
          <ac:chgData name="Michael Hill" userId="41dba03d-e58d-4389-9894-554c10310ba4" providerId="ADAL" clId="{EF23FE1D-A042-481E-AFD7-2A9FB0847F54}" dt="2026-08-19T20:46:31.160" v="5" actId="21"/>
          <ac:spMkLst>
            <pc:docMk/>
            <pc:sldMk cId="0" sldId="258"/>
            <ac:spMk id="8" creationId="{1812F390-3309-32E6-4E5B-EF9BB6857C6C}"/>
          </ac:spMkLst>
        </pc:spChg>
      </pc:sldChg>
      <pc:sldChg chg="modSp del mod">
        <pc:chgData name="Michael Hill" userId="41dba03d-e58d-4389-9894-554c10310ba4" providerId="ADAL" clId="{EF23FE1D-A042-481E-AFD7-2A9FB0847F54}" dt="2026-08-19T20:47:52.936" v="46" actId="47"/>
        <pc:sldMkLst>
          <pc:docMk/>
          <pc:sldMk cId="0" sldId="259"/>
        </pc:sldMkLst>
        <pc:spChg chg="mod">
          <ac:chgData name="Michael Hill" userId="41dba03d-e58d-4389-9894-554c10310ba4" providerId="ADAL" clId="{EF23FE1D-A042-481E-AFD7-2A9FB0847F54}" dt="2026-08-19T20:47:49.959" v="44" actId="21"/>
          <ac:spMkLst>
            <pc:docMk/>
            <pc:sldMk cId="0" sldId="259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9T20:45:49.553" v="1" actId="1076"/>
        <pc:sldMkLst>
          <pc:docMk/>
          <pc:sldMk cId="0" sldId="260"/>
        </pc:sldMkLst>
        <pc:spChg chg="mod">
          <ac:chgData name="Michael Hill" userId="41dba03d-e58d-4389-9894-554c10310ba4" providerId="ADAL" clId="{EF23FE1D-A042-481E-AFD7-2A9FB0847F54}" dt="2026-08-19T20:45:49.553" v="1" actId="1076"/>
          <ac:spMkLst>
            <pc:docMk/>
            <pc:sldMk cId="0" sldId="260"/>
            <ac:spMk id="5" creationId="{6101391E-910B-70E2-21F8-0AD7DBA98205}"/>
          </ac:spMkLst>
        </pc:spChg>
      </pc:sldChg>
      <pc:sldChg chg="addSp delSp modSp add mod setBg modShow">
        <pc:chgData name="Michael Hill" userId="41dba03d-e58d-4389-9894-554c10310ba4" providerId="ADAL" clId="{EF23FE1D-A042-481E-AFD7-2A9FB0847F54}" dt="2026-08-19T20:48:09.713" v="47"/>
        <pc:sldMkLst>
          <pc:docMk/>
          <pc:sldMk cId="1910594286" sldId="295"/>
        </pc:sldMkLst>
        <pc:spChg chg="mod">
          <ac:chgData name="Michael Hill" userId="41dba03d-e58d-4389-9894-554c10310ba4" providerId="ADAL" clId="{EF23FE1D-A042-481E-AFD7-2A9FB0847F54}" dt="2026-08-19T20:46:36.132" v="8" actId="404"/>
          <ac:spMkLst>
            <pc:docMk/>
            <pc:sldMk cId="1910594286" sldId="295"/>
            <ac:spMk id="8" creationId="{9D3B4A7A-A70B-0C4A-C7FF-462ADF36D440}"/>
          </ac:spMkLst>
        </pc:sp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3" creationId="{C661C0E2-B127-87E4-8FFB-232026327A00}"/>
          </ac:picMkLst>
        </pc:pic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4" creationId="{EADC1675-9D56-02EA-E0C9-41E656C43CFD}"/>
          </ac:picMkLst>
        </pc:pic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6" creationId="{F0D340D9-DB52-84AC-0F62-38189EA9AFC0}"/>
          </ac:picMkLst>
        </pc:pic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10" creationId="{0279DFD3-2ECB-1A16-BC08-F1EC5AD93860}"/>
          </ac:picMkLst>
        </pc:pic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11" creationId="{DD1E75B8-8260-838A-12FF-F327E289C5D4}"/>
          </ac:picMkLst>
        </pc:pic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13" creationId="{B0E14530-DDDD-7359-CDC9-A8CE49D04136}"/>
          </ac:picMkLst>
        </pc:picChg>
        <pc:picChg chg="add mod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14" creationId="{1D8244E0-7707-9D3B-1C8F-A864AC0DCCDB}"/>
          </ac:picMkLst>
        </pc:picChg>
        <pc:picChg chg="del">
          <ac:chgData name="Michael Hill" userId="41dba03d-e58d-4389-9894-554c10310ba4" providerId="ADAL" clId="{EF23FE1D-A042-481E-AFD7-2A9FB0847F54}" dt="2026-08-19T20:47:00.605" v="12" actId="478"/>
          <ac:picMkLst>
            <pc:docMk/>
            <pc:sldMk cId="1910594286" sldId="295"/>
            <ac:picMk id="15" creationId="{0572BAA1-AB30-2A31-99DA-E2636EF78735}"/>
          </ac:picMkLst>
        </pc:picChg>
        <pc:picChg chg="add mod modCrop">
          <ac:chgData name="Michael Hill" userId="41dba03d-e58d-4389-9894-554c10310ba4" providerId="ADAL" clId="{EF23FE1D-A042-481E-AFD7-2A9FB0847F54}" dt="2026-08-19T20:48:09.713" v="47"/>
          <ac:picMkLst>
            <pc:docMk/>
            <pc:sldMk cId="1910594286" sldId="295"/>
            <ac:picMk id="16" creationId="{A6F0F573-075D-7314-22BF-C565C588915F}"/>
          </ac:picMkLst>
        </pc:picChg>
        <pc:picChg chg="del">
          <ac:chgData name="Michael Hill" userId="41dba03d-e58d-4389-9894-554c10310ba4" providerId="ADAL" clId="{EF23FE1D-A042-481E-AFD7-2A9FB0847F54}" dt="2026-08-19T20:47:01.877" v="13" actId="478"/>
          <ac:picMkLst>
            <pc:docMk/>
            <pc:sldMk cId="1910594286" sldId="295"/>
            <ac:picMk id="17" creationId="{F9670370-72F4-78E6-7DE3-64A5614A0062}"/>
          </ac:picMkLst>
        </pc:picChg>
        <pc:picChg chg="del">
          <ac:chgData name="Michael Hill" userId="41dba03d-e58d-4389-9894-554c10310ba4" providerId="ADAL" clId="{EF23FE1D-A042-481E-AFD7-2A9FB0847F54}" dt="2026-08-19T20:47:03.238" v="14" actId="478"/>
          <ac:picMkLst>
            <pc:docMk/>
            <pc:sldMk cId="1910594286" sldId="295"/>
            <ac:picMk id="18" creationId="{21F28121-5FF8-B768-E483-38897AA8B765}"/>
          </ac:picMkLst>
        </pc:picChg>
        <pc:picChg chg="del">
          <ac:chgData name="Michael Hill" userId="41dba03d-e58d-4389-9894-554c10310ba4" providerId="ADAL" clId="{EF23FE1D-A042-481E-AFD7-2A9FB0847F54}" dt="2026-08-19T20:47:05.004" v="15" actId="478"/>
          <ac:picMkLst>
            <pc:docMk/>
            <pc:sldMk cId="1910594286" sldId="295"/>
            <ac:picMk id="19" creationId="{59044FD4-E5CB-7F72-D4E0-B3FF57F10D64}"/>
          </ac:picMkLst>
        </pc:picChg>
        <pc:picChg chg="del">
          <ac:chgData name="Michael Hill" userId="41dba03d-e58d-4389-9894-554c10310ba4" providerId="ADAL" clId="{EF23FE1D-A042-481E-AFD7-2A9FB0847F54}" dt="2026-08-19T20:47:06.344" v="16" actId="478"/>
          <ac:picMkLst>
            <pc:docMk/>
            <pc:sldMk cId="1910594286" sldId="295"/>
            <ac:picMk id="20" creationId="{9103A45C-BE5A-478E-4718-72C97F147BDD}"/>
          </ac:picMkLst>
        </pc:picChg>
      </pc:sldChg>
      <pc:sldChg chg="modSp add mod">
        <pc:chgData name="Michael Hill" userId="41dba03d-e58d-4389-9894-554c10310ba4" providerId="ADAL" clId="{EF23FE1D-A042-481E-AFD7-2A9FB0847F54}" dt="2026-08-19T20:48:18.886" v="48"/>
        <pc:sldMkLst>
          <pc:docMk/>
          <pc:sldMk cId="1949509297" sldId="296"/>
        </pc:sldMkLst>
        <pc:spChg chg="mod">
          <ac:chgData name="Michael Hill" userId="41dba03d-e58d-4389-9894-554c10310ba4" providerId="ADAL" clId="{EF23FE1D-A042-481E-AFD7-2A9FB0847F54}" dt="2026-08-19T20:47:46.586" v="43" actId="20577"/>
          <ac:spMkLst>
            <pc:docMk/>
            <pc:sldMk cId="1949509297" sldId="296"/>
            <ac:spMk id="5" creationId="{E33017C9-BAF1-3C25-D739-4C066EDADA82}"/>
          </ac:spMkLst>
        </pc:spChg>
        <pc:spChg chg="mod">
          <ac:chgData name="Michael Hill" userId="41dba03d-e58d-4389-9894-554c10310ba4" providerId="ADAL" clId="{EF23FE1D-A042-481E-AFD7-2A9FB0847F54}" dt="2026-08-19T20:47:51.465" v="45"/>
          <ac:spMkLst>
            <pc:docMk/>
            <pc:sldMk cId="1949509297" sldId="296"/>
            <ac:spMk id="8" creationId="{69CB194B-62F4-B4E1-FFA3-5E6D49F720A5}"/>
          </ac:spMkLst>
        </pc:sp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3" creationId="{2D5F34E1-EAD1-1E2C-D7A1-4F4CAC9B1A53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4" creationId="{F303CA34-8561-A867-9507-B4A75435EA24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6" creationId="{B1D1ACA9-EA93-73C6-9AF8-B3F67D6B769B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10" creationId="{D47D2010-085F-C3CE-48E8-1EE07C041B0F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11" creationId="{D470E6E7-A639-68A8-1566-E3181BB03E7E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13" creationId="{EA32C797-E69C-189D-8480-185D2F72CA84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14" creationId="{F477499B-63BC-460D-5B98-647B65AB19C6}"/>
          </ac:picMkLst>
        </pc:picChg>
        <pc:picChg chg="mod">
          <ac:chgData name="Michael Hill" userId="41dba03d-e58d-4389-9894-554c10310ba4" providerId="ADAL" clId="{EF23FE1D-A042-481E-AFD7-2A9FB0847F54}" dt="2026-08-19T20:48:18.886" v="48"/>
          <ac:picMkLst>
            <pc:docMk/>
            <pc:sldMk cId="1949509297" sldId="296"/>
            <ac:picMk id="16" creationId="{E2CBD788-EDA1-509D-E609-CEE0369A5B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D9D2-4D0F-826F-4E81-F3C19611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F83CE-F4A1-116F-8071-A160D07F2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008F9-7519-0D2A-295A-796247A0C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21E60-1A2B-33E9-B435-3CFDD5D9D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20010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F6AB-BF08-9661-2A31-EE206A0A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650E-4B0D-DCDC-FC54-31BAC049C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3E3CA-CF2C-9C4B-A9D6-C50E0165B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9AE0F-652F-A276-F695-1860762FD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8716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334535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TOPIC A1:</a:t>
            </a:r>
          </a:p>
          <a:p>
            <a:pPr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3850241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LESSON A1-3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806825" y="3738285"/>
            <a:ext cx="9879106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SECONDARY STORAGE, COMPRESSION, &amp; SAAS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PyCharm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Guided Notes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Secondary storage: what is inside the machine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Secondary storage: what you can unplug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Lossy and lossless compression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Run-length encoding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Transform coding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Cloud services: SaaS, PaaS, IaaS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PA A1-2: Compression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2364610" y="474132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Everything we looked at last lesson was primary memory. There was no storage that is non-volatile and writeable.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(a) State what is meant by volatile memory.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(b) From registers, cache, RAM and ROM, identify the one that is non-volatile.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(c) Your PA A1-1 cache hit 40% of the time. A hit costs 1 ns, a miss costs 100 ns. Calculate the average access time.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Q1 (a)-(c) [3 marks] - do them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3" name="Picture 2" descr="url_upload_6a7f3d9e572a4.gif [effects output image]">
            <a:extLst>
              <a:ext uri="{FF2B5EF4-FFF2-40B4-BE49-F238E27FC236}">
                <a16:creationId xmlns:a16="http://schemas.microsoft.com/office/drawing/2014/main" id="{C661C0E2-B127-87E4-8FFB-232026327A0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EADC1675-9D56-02EA-E0C9-41E656C43C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6" name="Picture 5" descr="url_upload_6a7f3d9e572a4.gif [effects output image]">
            <a:extLst>
              <a:ext uri="{FF2B5EF4-FFF2-40B4-BE49-F238E27FC236}">
                <a16:creationId xmlns:a16="http://schemas.microsoft.com/office/drawing/2014/main" id="{F0D340D9-DB52-84AC-0F62-38189EA9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10" name="Picture 9" descr="url_upload_6a7f3d9e572a4.gif [effects output image]">
            <a:extLst>
              <a:ext uri="{FF2B5EF4-FFF2-40B4-BE49-F238E27FC236}">
                <a16:creationId xmlns:a16="http://schemas.microsoft.com/office/drawing/2014/main" id="{0279DFD3-2ECB-1A16-BC08-F1EC5AD938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11" name="Picture 10" descr="url_upload_6a7f3d9e572a4.gif [effects output image]">
            <a:extLst>
              <a:ext uri="{FF2B5EF4-FFF2-40B4-BE49-F238E27FC236}">
                <a16:creationId xmlns:a16="http://schemas.microsoft.com/office/drawing/2014/main" id="{DD1E75B8-8260-838A-12FF-F327E289C5D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13" name="Picture 12" descr="url_upload_6a7f3d9e572a4.gif [effects output image]">
            <a:extLst>
              <a:ext uri="{FF2B5EF4-FFF2-40B4-BE49-F238E27FC236}">
                <a16:creationId xmlns:a16="http://schemas.microsoft.com/office/drawing/2014/main" id="{B0E14530-DDDD-7359-CDC9-A8CE49D041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14" name="Picture 13" descr="url_upload_6a7f3d9e572a4.gif [effects output image]">
            <a:extLst>
              <a:ext uri="{FF2B5EF4-FFF2-40B4-BE49-F238E27FC236}">
                <a16:creationId xmlns:a16="http://schemas.microsoft.com/office/drawing/2014/main" id="{1D8244E0-7707-9D3B-1C8F-A864AC0DCC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16" name="Picture 15" descr="url_upload_6a7f3d9e572a4.gif [effects output image]">
            <a:extLst>
              <a:ext uri="{FF2B5EF4-FFF2-40B4-BE49-F238E27FC236}">
                <a16:creationId xmlns:a16="http://schemas.microsoft.com/office/drawing/2014/main" id="{A6F0F573-075D-7314-22BF-C565C58891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5CFA8-D8F8-E15D-CE11-360FDF9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8A2261B1-E79E-D5C4-75A3-C5D1A0E562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AD7A4B-9A7D-25A7-B762-4A69270BA5B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2FF0E1-29B8-F38D-3EDF-9C5178B9FC6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509489-572B-DFE4-26E0-6FDB01C59E20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B194B-62F4-B4E1-FFA3-5E6D49F720A5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(a) Memory that loses its contents the moment power is removed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(b) ROM - it holds the firmware (BIOS/UEFI) whether the machine is plugged in or not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(c) 0.4 x 1 + 0.6 x 100 = 60.4 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3017C9-BAF1-3C25-D739-4C066EDADA82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3" name="Picture 2" descr="url_upload_6a7f3d9e572a4.gif [effects output image]">
            <a:extLst>
              <a:ext uri="{FF2B5EF4-FFF2-40B4-BE49-F238E27FC236}">
                <a16:creationId xmlns:a16="http://schemas.microsoft.com/office/drawing/2014/main" id="{2D5F34E1-EAD1-1E2C-D7A1-4F4CAC9B1A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F303CA34-8561-A867-9507-B4A75435EA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6" name="Picture 5" descr="url_upload_6a7f3d9e572a4.gif [effects output image]">
            <a:extLst>
              <a:ext uri="{FF2B5EF4-FFF2-40B4-BE49-F238E27FC236}">
                <a16:creationId xmlns:a16="http://schemas.microsoft.com/office/drawing/2014/main" id="{B1D1ACA9-EA93-73C6-9AF8-B3F67D6B76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10" name="Picture 9" descr="url_upload_6a7f3d9e572a4.gif [effects output image]">
            <a:extLst>
              <a:ext uri="{FF2B5EF4-FFF2-40B4-BE49-F238E27FC236}">
                <a16:creationId xmlns:a16="http://schemas.microsoft.com/office/drawing/2014/main" id="{D47D2010-085F-C3CE-48E8-1EE07C041B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11" name="Picture 10" descr="url_upload_6a7f3d9e572a4.gif [effects output image]">
            <a:extLst>
              <a:ext uri="{FF2B5EF4-FFF2-40B4-BE49-F238E27FC236}">
                <a16:creationId xmlns:a16="http://schemas.microsoft.com/office/drawing/2014/main" id="{D470E6E7-A639-68A8-1566-E3181BB03E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13" name="Picture 12" descr="url_upload_6a7f3d9e572a4.gif [effects output image]">
            <a:extLst>
              <a:ext uri="{FF2B5EF4-FFF2-40B4-BE49-F238E27FC236}">
                <a16:creationId xmlns:a16="http://schemas.microsoft.com/office/drawing/2014/main" id="{EA32C797-E69C-189D-8480-185D2F72CA8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14" name="Picture 13" descr="url_upload_6a7f3d9e572a4.gif [effects output image]">
            <a:extLst>
              <a:ext uri="{FF2B5EF4-FFF2-40B4-BE49-F238E27FC236}">
                <a16:creationId xmlns:a16="http://schemas.microsoft.com/office/drawing/2014/main" id="{F477499B-63BC-460D-5B98-647B65AB19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16" name="Picture 15" descr="url_upload_6a7f3d9e572a4.gif [effects output image]">
            <a:extLst>
              <a:ext uri="{FF2B5EF4-FFF2-40B4-BE49-F238E27FC236}">
                <a16:creationId xmlns:a16="http://schemas.microsoft.com/office/drawing/2014/main" id="{E2CBD788-EDA1-509D-E609-CEE0369A5B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0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Primary memory includes Registers, Cache, RAM, and ROM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Fast, small, and non-volatile (other than ROM)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Secondary storage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where data sits when the power is off: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non-volatile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, far bigger, far slower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CPU cannot execute anything directly from it, everything is copied into RAM first.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07616" y="129275"/>
            <a:ext cx="603328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SECONDARY 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2FC18-8784-C2F3-A760-0BE5B96A7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474" y="3815957"/>
            <a:ext cx="4505325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60784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HDD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Hard Disk Drive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Data stored magnetically on spinning metal platters; a read/write head swings across on an arm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Think like a record player, but data is magnetic, not etched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Moving parts, so it is slower, noisier, and does NOT like being dropped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Max out around 160 MB/s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Cheapest per gigabyte, can be large capacity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Found in: desktops, servers, bulk archives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96474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INTERNAL SECONDARY 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E752DF-A9B3-F894-5257-E557A9DD2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810" y="1970140"/>
            <a:ext cx="451485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5A951-6B03-1C77-C6E9-E5338E33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DAE58B6-A290-3B9C-52E2-DD22AF46E0D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A30248-71CE-0F57-A24B-9BA9F05A511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69F50A-949C-D22E-0183-F0A96632CB9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A4693E-5967-4539-08B8-7B1B035DFB2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77CB7-6209-982A-79D1-4AA555ACD608}"/>
              </a:ext>
            </a:extLst>
          </p:cNvPr>
          <p:cNvSpPr/>
          <p:nvPr/>
        </p:nvSpPr>
        <p:spPr>
          <a:xfrm>
            <a:off x="630768" y="1299334"/>
            <a:ext cx="660784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Fun fact!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rumor that using a magnet near a computer will break it is because of hard drives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Because these store data using magnetic media, a magnet will break a hard drive, making it seem like the device is broken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03ECA-4096-2C9E-3C7B-A28934B83013}"/>
              </a:ext>
            </a:extLst>
          </p:cNvPr>
          <p:cNvSpPr/>
          <p:nvPr/>
        </p:nvSpPr>
        <p:spPr>
          <a:xfrm>
            <a:off x="-358628" y="155968"/>
            <a:ext cx="896474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INTERNAL SECONDARY 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99D095-F57E-8034-C174-DFB114B11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810" y="1970140"/>
            <a:ext cx="45148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3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SSD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- Solid State Drive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Data stored as trapped electrical charge in flash memory cells. No moving parts anywhere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Roughly 550 MB/s over SATA (type of connection cord), up to about 3500 MB/s over </a:t>
            </a:r>
            <a:r>
              <a:rPr lang="en-US" sz="2200" dirty="0" err="1">
                <a:solidFill>
                  <a:schemeClr val="bg1"/>
                </a:solidFill>
                <a:latin typeface="Bahnschrift" panose="020B0502040204020203" pitchFamily="34" charset="0"/>
              </a:rPr>
              <a:t>NVMe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(screwed straight into motherboard)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More expensive per gigabyte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 cells wear out after a very large number of writes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Found in: pretty much everything nowadays. Laptops, even most desktops now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They’re just so much faster than HDDs lol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85971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INTERNAL SECONDARY STORAGE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A4F3D-2CAA-A18A-3EBB-561ADC06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98" y="4861042"/>
            <a:ext cx="3464880" cy="16850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eMMC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embedded MultiMediaCard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Flash memory and its controller soldered straight onto the motherboard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Like a USB drive or SD card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Cheap and compact, slower than a real SSD, and not upgradeable - it is part of the motherboard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Found in: phones, tablets, Chromebooks, cheapo laptops, smart TVs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a laptop advertises 64 GB of storage and never says SSD, this is what it has.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Y’know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your cheap $150 Walmart laptop fare.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901853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INTERNAL SECONDARY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Run:  A1-StorageSpeeds.py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Q2 [6 marks] - fill in the internal storage table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911714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HOW LONG DOES ONE READ TAKE?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We can use the same technology we used inside on the outside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External HDD</a:t>
            </a: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- cheap bulk capacity. Backups, archives, moving big files. Still fragile.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I keep my portable piracy drive on one of these bad boys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External SSD</a:t>
            </a: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- fast, pocket-sized, no moving parts, more expensive per gigabyte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Both arrive over USB, which becomes the speed bottleneck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92426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EXTERNAL SECONDARY STORAGE</a:t>
            </a:r>
          </a:p>
        </p:txBody>
      </p:sp>
      <p:pic>
        <p:nvPicPr>
          <p:cNvPr id="2" name="Picture 1" descr="SHELLTON 2.5'' Ultra Slim USB 3.0 Portable External Hard Drive 2 ...">
            <a:extLst>
              <a:ext uri="{FF2B5EF4-FFF2-40B4-BE49-F238E27FC236}">
                <a16:creationId xmlns:a16="http://schemas.microsoft.com/office/drawing/2014/main" id="{35333401-FB05-FC74-3AFA-EF1CBBA7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212" y="4989773"/>
            <a:ext cx="1712259" cy="1712259"/>
          </a:xfrm>
          <a:prstGeom prst="rect">
            <a:avLst/>
          </a:prstGeom>
        </p:spPr>
      </p:pic>
      <p:pic>
        <p:nvPicPr>
          <p:cNvPr id="6" name="Picture 5" descr="SanDisk Extreme PRO Portable SSD | Sandisk">
            <a:extLst>
              <a:ext uri="{FF2B5EF4-FFF2-40B4-BE49-F238E27FC236}">
                <a16:creationId xmlns:a16="http://schemas.microsoft.com/office/drawing/2014/main" id="{7CB77F7E-1292-4FDD-20A5-3D0353007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43" y="3795254"/>
            <a:ext cx="2750857" cy="2750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517069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Optical drive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- CD, DVD, Blu-ray. A laser reads pits in a reflective layer. Slow, cheap, and a written disc cannot be easily edited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Flash drive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– aka USB stick. Small capacity, durable, easy to lose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Memory card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- SD and microSD. Cameras, drones, Nintendo Switch, single-board computers (like the raspberry pi)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Archivists still buy optical discs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Blu ray discs are projected to be able to survive for longer than anybody has ever lived, 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OPTICAL, FLASH, AND CARDS</a:t>
            </a:r>
          </a:p>
        </p:txBody>
      </p:sp>
      <p:pic>
        <p:nvPicPr>
          <p:cNvPr id="2" name="Picture 1" descr="Amazon.com: SUIDEK External CD DVD Drive, USB 3.0 USB C Portable CD DVD ...">
            <a:extLst>
              <a:ext uri="{FF2B5EF4-FFF2-40B4-BE49-F238E27FC236}">
                <a16:creationId xmlns:a16="http://schemas.microsoft.com/office/drawing/2014/main" id="{5B56FEAF-E765-3FB6-F6D2-00F93BB2C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089" y="878457"/>
            <a:ext cx="6047764" cy="5957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792156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NAS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- Network Attached Storage my beloved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One or more drives in a box with its own network connection, sitting on the LAN (local area network)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Every device on the local network reads and writes to it at once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Works over Ethernet or Wi-Fi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Usually several drives holding duplicate copies, so one failure does not lose the data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RAID configuration (Redundant array of independent disks)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 use one of these as my personal backup at home, it’s super convenient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891095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NETWORK ATTACHED STORAGE</a:t>
            </a:r>
          </a:p>
        </p:txBody>
      </p:sp>
      <p:pic>
        <p:nvPicPr>
          <p:cNvPr id="2" name="Picture 1" descr="What is a network attached storage (NAS)? - IONOS CA">
            <a:extLst>
              <a:ext uri="{FF2B5EF4-FFF2-40B4-BE49-F238E27FC236}">
                <a16:creationId xmlns:a16="http://schemas.microsoft.com/office/drawing/2014/main" id="{84005390-B8BB-E9BE-4F9E-34AF9416F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173" y="2829295"/>
            <a:ext cx="28803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Q3 (a)-(b) [4 marks] - do them now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(a) 4 TB of raw footage posted to an editor in another city, small budget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(b) Four laptops in one house, automatic backups, over Wi-Fi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664288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PICK THE RIGHT DRIVE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Even if storage is cheap, bandwidth and patience might not be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Compression</a:t>
            </a: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re-encodes a file so it needs fewer bits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types of compression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endParaRPr lang="en-US" sz="2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We decide which type of compression we need based on how important it is that we need every single original bit back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-80723" y="185784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Lossless compression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the original file can be reconstructed with all bits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Works by removing redundancy: repetition, patterns, sequences that appear often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Common formats: ZIP, PNG, FLAC, GIF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these where any modification to the information is vitally important - code, spreadsheets, databases, text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Lossless compression doesn’t typically save that much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20483" y="155968"/>
            <a:ext cx="70731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LOSSLESS COMPRESSION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93799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Lossy compression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- some of the data is lost permanently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Works by discarding detail that human eyes and ears are (hopefully) bad at noticing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Formats: JPEG, MP3, AAC, MP4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Space saved is much bigger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Here we see John Compression at 100%, 30%, 5%, and 1% quality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 important part to note here is how close 30% is to 100% quality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61600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LOSSY COMPRESSION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96E76D-9678-62D5-5AF1-DD1E2F532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097" y="3241405"/>
            <a:ext cx="1814244" cy="2730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45B2AD-1678-1DAC-B77F-7609893ED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615" y="3241405"/>
            <a:ext cx="1814244" cy="27304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34972-5C03-27B7-DCEF-5CB60E890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580" y="204841"/>
            <a:ext cx="1938377" cy="29172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E3FC17-D5BB-92DB-44B0-AADEA6C079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1" y="204841"/>
            <a:ext cx="1930759" cy="2905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Q4 (a)-(b) [4 marks] - do them now</a:t>
            </a:r>
          </a:p>
          <a:p>
            <a:pPr marL="9144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Q4 (a)  Distinguish between lossy and lossless compression.  [2]</a:t>
            </a:r>
          </a:p>
          <a:p>
            <a:pPr marL="9144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Q4 (b)  State one file format that uses lossy compression and one that uses lossless.  [2]</a:t>
            </a:r>
          </a:p>
          <a:p>
            <a:pPr marL="9144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'Distinguish’ means both sides in one comparison, not two definitions back-to-back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102735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LOSSY, LOSSLESS, AND YOUR NOTES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Run-length encoding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(RLE) - a lossless method. Every run of identical values becomes the count followed by the values </a:t>
            </a:r>
          </a:p>
          <a:p>
            <a:pPr marL="8001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WWWWWWWWWWWWBBBBBBWWWWWWWWWWWW becomes 12W6B12W</a:t>
            </a:r>
          </a:p>
          <a:p>
            <a:pPr marL="8001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30 characters down to 8, and we can reverse these steps to get back to the original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compression ratio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is the original size divided by the compressed size. Here, 3.75 : 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0104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RUN-LENGTH ENCODING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Encode this one on your notes, then check it with the class: (Question 5 a and b)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   WWWBBBWWWBBBWWWBBB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Now this one: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   ABABABABABABABABAB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Which of these will compress more smoothly?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102556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YOUR TURN, BEFORE THE CODE RUNS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WWWWWWWWWWWWBBBBBBWWWWWWWWWWWW  -&gt;  12W6B12W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73.3% saved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WWWBBBWWWBBBWWWBBB  -&gt;  3W3B3W3B3W3B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33.3% saved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ABABABABABABABABAB  -&gt;  1A1B1A1B1A1B1A1B1A1B...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-100.0% saved lol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The last one doubled in length unfortunately. RLE rewards long runs and penalizes you for short ones.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" panose="020B0502040204020203" pitchFamily="34" charset="0"/>
              </a:rPr>
              <a:t>All three decoded back perfectly, including the one that got bigger. Lossless 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doesn’t </a:t>
            </a:r>
            <a:r>
              <a:rPr lang="en-US" i="1" dirty="0">
                <a:solidFill>
                  <a:schemeClr val="bg1"/>
                </a:solidFill>
                <a:latin typeface="Bahnschrift" panose="020B0502040204020203" pitchFamily="34" charset="0"/>
              </a:rPr>
              <a:t>always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promise the file will get smaller</a:t>
            </a:r>
            <a:endParaRPr lang="en-US" sz="1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2966" y="155968"/>
            <a:ext cx="562091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RUN LENGTH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Q5 (c) [5 marks] - do them now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(c)  Decode 3A1B4C.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1014172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RUN-LENGTH ENCODING: YOUR NOTES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740160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900"/>
              </a:spcBef>
              <a:buFont typeface="Arial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Transform coding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= describe the file a different way before shrinking it</a:t>
            </a:r>
          </a:p>
          <a:p>
            <a:pPr marL="457200" indent="-457200">
              <a:spcBef>
                <a:spcPts val="9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Instead of storing every pixel, it stores how much smooth colour and how much fine detail the image has</a:t>
            </a:r>
          </a:p>
          <a:p>
            <a:pPr marL="457200" indent="-457200">
              <a:spcBef>
                <a:spcPts val="9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Almost everything your eye notices ends up in a few big numbers. The rest are tiny</a:t>
            </a:r>
          </a:p>
          <a:p>
            <a:pPr marL="457200" indent="-457200">
              <a:spcBef>
                <a:spcPts val="900"/>
              </a:spcBef>
              <a:buFont typeface="Arial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Quantisation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then rounds off the tiny numbers, or throws them away</a:t>
            </a:r>
          </a:p>
          <a:p>
            <a:pPr marL="457200" indent="-457200">
              <a:spcBef>
                <a:spcPts val="9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So you lose fine detail, not whole chunks. A bad JPEG looks blurry, not full of holes</a:t>
            </a:r>
          </a:p>
          <a:p>
            <a:pPr marL="457200" indent="-457200">
              <a:spcBef>
                <a:spcPts val="9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Used by JPEG (images) and MP3 (sound)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69075" y="155968"/>
            <a:ext cx="597053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TRANSFORM CODING</a:t>
            </a:r>
          </a:p>
        </p:txBody>
      </p:sp>
      <p:pic>
        <p:nvPicPr>
          <p:cNvPr id="2" name="Picture 1" descr="JPEG: Image Compression Algorithm (2017) | Hacker News">
            <a:extLst>
              <a:ext uri="{FF2B5EF4-FFF2-40B4-BE49-F238E27FC236}">
                <a16:creationId xmlns:a16="http://schemas.microsoft.com/office/drawing/2014/main" id="{FCD9A606-6180-1461-D474-11CB6B65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82" t="18212" r="22065" b="6545"/>
          <a:stretch>
            <a:fillRect/>
          </a:stretch>
        </p:blipFill>
        <p:spPr>
          <a:xfrm>
            <a:off x="8223465" y="2106538"/>
            <a:ext cx="3829154" cy="363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68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Q6 [2 marks] - do it now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 Outline what transform coding does to a file before any data is discarded.  [2]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Two marks, so two things: the change of representation, and why that change makes discarding safe.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TRANSFORM CODING: YOUR NOTES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A NAS is storage you own, that you are responsible for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The cloud is just that but it’s somebody else's hardware that you’re renting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three service models, each taking control of some of these layers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2966" y="155968"/>
            <a:ext cx="562091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CLOUD COMPUTING</a:t>
            </a:r>
          </a:p>
        </p:txBody>
      </p:sp>
      <p:pic>
        <p:nvPicPr>
          <p:cNvPr id="3" name="Picture 2" descr="3.3: Operating Systems - Engineering LibreTexts">
            <a:extLst>
              <a:ext uri="{FF2B5EF4-FFF2-40B4-BE49-F238E27FC236}">
                <a16:creationId xmlns:a16="http://schemas.microsoft.com/office/drawing/2014/main" id="{E144B54A-959B-C978-5D6E-B7580C27C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913" y="3789415"/>
            <a:ext cx="3052582" cy="266592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SaaS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Software as a Service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are given a functioning application that another organization controls the backend of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Examples: Google Docs, ManageBac, Gmail, Netflix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Least control and least work. You cannot change the software or the machine it runs on.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do not choose the operating system or hardware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82890" y="155968"/>
            <a:ext cx="208881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FF8CC8-3843-F8D3-B6B8-EA282C3E7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77" y="4734754"/>
            <a:ext cx="2936348" cy="164782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PaaS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- Platform as a Service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 rent a virtual computer to deploy your own code, with the OS, runtime and scaling handled for you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Examples: Google App Engine, Heroku, Microsoft Azure App Service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 control the application. You do not control the machine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This is what your IA would likely use if you ever put it online.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98572" y="155968"/>
            <a:ext cx="194538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PAAS</a:t>
            </a:r>
          </a:p>
        </p:txBody>
      </p:sp>
      <p:pic>
        <p:nvPicPr>
          <p:cNvPr id="2" name="Picture 1" descr="¿Qué es Azure App Service y cómo puede beneficiar a tu empresa? - Nextcore">
            <a:extLst>
              <a:ext uri="{FF2B5EF4-FFF2-40B4-BE49-F238E27FC236}">
                <a16:creationId xmlns:a16="http://schemas.microsoft.com/office/drawing/2014/main" id="{2872A7F4-7F22-2965-254B-4907CD412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365" y="4694482"/>
            <a:ext cx="3072654" cy="17283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IaaS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Infrastructure as a Service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are handed a virtual machine, storage and a network, and nothing else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Examples: Amazon EC2, Google Compute Engine, Azure Virtual Machines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Most control and most work: you pick the OS, install the software, and patch it when it breaks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Also the model that scales furthest, because nothing about the setup is fixed for you.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201944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IAAS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B3DC8-54BC-25AF-D0F0-8206AB34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B18368-96B9-B5F9-7AB4-7B0E8F2CAA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FF08F2-5075-C0EF-E554-A00833F7D84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1754F0-8C1C-E1D7-995E-CCEE430273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48865E-B2DE-BF4A-3397-D882A82A95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9FA7A-3395-0222-5ABF-824301ECC1C0}"/>
              </a:ext>
            </a:extLst>
          </p:cNvPr>
          <p:cNvSpPr/>
          <p:nvPr/>
        </p:nvSpPr>
        <p:spPr>
          <a:xfrm>
            <a:off x="-358628" y="155968"/>
            <a:ext cx="770072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HOW MUCH OF IT IS YOURS?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IaaS   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 manage: operating system, runtime, application, data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PaaS   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 manage: application, data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SaaS    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 manage: your data (maybe if their privacy policy is good)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Control and convenience – the tradeoff. Every organization decides what they need and go from there. Alcuin uses almost entirely SaaS.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Q7 [3 marks] - fill in the cloud table now</a:t>
            </a:r>
          </a:p>
        </p:txBody>
      </p:sp>
    </p:spTree>
    <p:extLst>
      <p:ext uri="{BB962C8B-B14F-4D97-AF65-F5344CB8AC3E}">
        <p14:creationId xmlns:p14="http://schemas.microsoft.com/office/powerpoint/2010/main" val="3306715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Q8, Q9 and Q10 [8 marks]</a:t>
            </a:r>
          </a:p>
          <a:p>
            <a:pPr marL="8001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Q8   Describe two differences between an SSD and an HDD.  [2]</a:t>
            </a:r>
          </a:p>
          <a:p>
            <a:pPr marL="8001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Q9   A company must choose its own operating system, install its own database software, and patch both itself. Explain why IaaS suits this company better than SaaS.  [3]</a:t>
            </a:r>
          </a:p>
          <a:p>
            <a:pPr marL="8001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Q10  A streaming service compresses its audio using a lossy method. Explain why this is acceptable for the audio but would not be acceptable for the company's payroll spreadsheet. 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37063" y="155968"/>
            <a:ext cx="184676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Q8   No moving parts against spinning platters and a moving head; the SSD is far faster; the HDD is cheaper per gigabyte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Q9   IaaS hands over the virtual machine, so the OS, the installed software and the patching all belong to the customer. SaaS is only the finished application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Q10  Lossy throws away detail listeners will not notice and the size saving matters for streaming. Payroll figures have no unnoticeable detail - one altered digit is permanently wrong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455411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 ANSWERS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You have just encoded three strings by hand. Let’s write a program to do it for us.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This should be like PA A1-1: read a file, process it, report the numbers, then explain the behaviour you observed.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6607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PA A1-2: COMPRESSION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Download from the Resources tab:   A1-Bitmap.txt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11 rows, 16 characters each. W is a white pixel, B is a black pixel. 176 characters in total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you print it out you might see a picture!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Ensure you’re being careful of the newline characters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INPUT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1C0E1-7663-BD5E-CB61-4F34BD28B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74" y="4164529"/>
            <a:ext cx="3438497" cy="23815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Part 1 [4]   load_image()  -  the file into a list of rows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Part 2 [8]   rle_encode()  -  one row in, a '16W' string out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Part 3 [6]   compression_report()  -  totals and ratio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Part 4 [2]   rle_decode()  -  prove the round trip is lossless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Reflection R1-R4 [10]     Five Laws of Codecraft [5]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Target numbers: 176 characters in, 91 out, 1.93 : 1, 48.30% saved.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502027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FOUR PARTS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Ten minutes. Parts 1 and 2 are today's goal.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rle_encode() is the whole assignment. Get it right on one row before you loop over eleven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Finished early? Part 4, then the reflection questions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Whatever is left goes home. Due at the start of Lesson A1-5.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63977" y="155968"/>
            <a:ext cx="363971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WORK TIME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Your bitmap will go from 176 characters to 91 and lose no information.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 JPEG of John Compression will never be the same again 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</a:t>
            </a:r>
            <a:endParaRPr lang="en-US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Both of those are decisions about how to write bits down.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Next time: A1-5 - Data Representation. Binary, hexadecimal, and what those bits were saying all along.</a:t>
            </a:r>
          </a:p>
          <a:p>
            <a:pPr marL="457200" indent="0">
              <a:spcBef>
                <a:spcPts val="1200"/>
              </a:spcBef>
              <a:buNone/>
            </a:pPr>
            <a:endParaRPr lang="en-US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321388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 CLOSING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4927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Secondary storage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Non-volatile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HDD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SSD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eMMC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NAS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Optical drive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Flash drive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Memory card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5354429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Compression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Lossless compression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Lossy compression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Run-length encoding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Compression ratio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Transform coding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Quantisation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SaaS  /  PaaS  /  IaaS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FB4DE-CB62-FDD0-DA67-B7F994712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553848" y="3717853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1AB3A0-B29F-4AB2-B4B4-9B8D12831462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519f88c-4cc2-49df-b33b-bbbf2c1153e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45509</TotalTime>
  <Words>2378</Words>
  <Application>Microsoft Office PowerPoint</Application>
  <PresentationFormat>Widescreen</PresentationFormat>
  <Paragraphs>241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40</cp:revision>
  <dcterms:created xsi:type="dcterms:W3CDTF">2025-08-11T14:07:39Z</dcterms:created>
  <dcterms:modified xsi:type="dcterms:W3CDTF">2026-08-19T20:48:27Z</dcterms:modified>
</cp:coreProperties>
</file>