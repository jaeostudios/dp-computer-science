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648"/>
    <a:srgbClr val="388049"/>
    <a:srgbClr val="274F3F"/>
    <a:srgbClr val="2A4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95892-A2C8-44D5-91CE-FE11EF40E5EA}" v="21" dt="2025-08-14T18:03:21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98B95892-A2C8-44D5-91CE-FE11EF40E5EA}"/>
    <pc:docChg chg="modSld">
      <pc:chgData name="Michael Hill" userId="41dba03d-e58d-4389-9894-554c10310ba4" providerId="ADAL" clId="{98B95892-A2C8-44D5-91CE-FE11EF40E5EA}" dt="2025-08-14T18:03:21.111" v="20"/>
      <pc:docMkLst>
        <pc:docMk/>
      </pc:docMkLst>
      <pc:sldChg chg="modAnim">
        <pc:chgData name="Michael Hill" userId="41dba03d-e58d-4389-9894-554c10310ba4" providerId="ADAL" clId="{98B95892-A2C8-44D5-91CE-FE11EF40E5EA}" dt="2025-08-14T18:02:25.210" v="2"/>
        <pc:sldMkLst>
          <pc:docMk/>
          <pc:sldMk cId="1878848435" sldId="256"/>
        </pc:sldMkLst>
      </pc:sldChg>
      <pc:sldChg chg="modAnim">
        <pc:chgData name="Michael Hill" userId="41dba03d-e58d-4389-9894-554c10310ba4" providerId="ADAL" clId="{98B95892-A2C8-44D5-91CE-FE11EF40E5EA}" dt="2025-08-14T18:02:18.909" v="0"/>
        <pc:sldMkLst>
          <pc:docMk/>
          <pc:sldMk cId="854122100" sldId="257"/>
        </pc:sldMkLst>
      </pc:sldChg>
      <pc:sldChg chg="modAnim">
        <pc:chgData name="Michael Hill" userId="41dba03d-e58d-4389-9894-554c10310ba4" providerId="ADAL" clId="{98B95892-A2C8-44D5-91CE-FE11EF40E5EA}" dt="2025-08-14T18:02:23.163" v="1"/>
        <pc:sldMkLst>
          <pc:docMk/>
          <pc:sldMk cId="1910594286" sldId="258"/>
        </pc:sldMkLst>
      </pc:sldChg>
      <pc:sldChg chg="modAnim">
        <pc:chgData name="Michael Hill" userId="41dba03d-e58d-4389-9894-554c10310ba4" providerId="ADAL" clId="{98B95892-A2C8-44D5-91CE-FE11EF40E5EA}" dt="2025-08-14T18:02:27.836" v="3"/>
        <pc:sldMkLst>
          <pc:docMk/>
          <pc:sldMk cId="399920200" sldId="259"/>
        </pc:sldMkLst>
      </pc:sldChg>
      <pc:sldChg chg="modAnim">
        <pc:chgData name="Michael Hill" userId="41dba03d-e58d-4389-9894-554c10310ba4" providerId="ADAL" clId="{98B95892-A2C8-44D5-91CE-FE11EF40E5EA}" dt="2025-08-14T18:02:33.886" v="5"/>
        <pc:sldMkLst>
          <pc:docMk/>
          <pc:sldMk cId="868297224" sldId="260"/>
        </pc:sldMkLst>
      </pc:sldChg>
      <pc:sldChg chg="modAnim">
        <pc:chgData name="Michael Hill" userId="41dba03d-e58d-4389-9894-554c10310ba4" providerId="ADAL" clId="{98B95892-A2C8-44D5-91CE-FE11EF40E5EA}" dt="2025-08-14T18:02:30.542" v="4"/>
        <pc:sldMkLst>
          <pc:docMk/>
          <pc:sldMk cId="3307172092" sldId="261"/>
        </pc:sldMkLst>
      </pc:sldChg>
      <pc:sldChg chg="modAnim">
        <pc:chgData name="Michael Hill" userId="41dba03d-e58d-4389-9894-554c10310ba4" providerId="ADAL" clId="{98B95892-A2C8-44D5-91CE-FE11EF40E5EA}" dt="2025-08-14T18:02:36.558" v="6"/>
        <pc:sldMkLst>
          <pc:docMk/>
          <pc:sldMk cId="1541739012" sldId="262"/>
        </pc:sldMkLst>
      </pc:sldChg>
      <pc:sldChg chg="modAnim">
        <pc:chgData name="Michael Hill" userId="41dba03d-e58d-4389-9894-554c10310ba4" providerId="ADAL" clId="{98B95892-A2C8-44D5-91CE-FE11EF40E5EA}" dt="2025-08-14T18:02:39.106" v="7"/>
        <pc:sldMkLst>
          <pc:docMk/>
          <pc:sldMk cId="818761657" sldId="263"/>
        </pc:sldMkLst>
      </pc:sldChg>
      <pc:sldChg chg="modAnim">
        <pc:chgData name="Michael Hill" userId="41dba03d-e58d-4389-9894-554c10310ba4" providerId="ADAL" clId="{98B95892-A2C8-44D5-91CE-FE11EF40E5EA}" dt="2025-08-14T18:02:42.865" v="8"/>
        <pc:sldMkLst>
          <pc:docMk/>
          <pc:sldMk cId="2652243951" sldId="264"/>
        </pc:sldMkLst>
      </pc:sldChg>
      <pc:sldChg chg="modAnim">
        <pc:chgData name="Michael Hill" userId="41dba03d-e58d-4389-9894-554c10310ba4" providerId="ADAL" clId="{98B95892-A2C8-44D5-91CE-FE11EF40E5EA}" dt="2025-08-14T18:02:46.487" v="9"/>
        <pc:sldMkLst>
          <pc:docMk/>
          <pc:sldMk cId="1454794168" sldId="265"/>
        </pc:sldMkLst>
      </pc:sldChg>
      <pc:sldChg chg="modAnim">
        <pc:chgData name="Michael Hill" userId="41dba03d-e58d-4389-9894-554c10310ba4" providerId="ADAL" clId="{98B95892-A2C8-44D5-91CE-FE11EF40E5EA}" dt="2025-08-14T18:02:49.686" v="10"/>
        <pc:sldMkLst>
          <pc:docMk/>
          <pc:sldMk cId="2554995492" sldId="266"/>
        </pc:sldMkLst>
      </pc:sldChg>
      <pc:sldChg chg="modAnim">
        <pc:chgData name="Michael Hill" userId="41dba03d-e58d-4389-9894-554c10310ba4" providerId="ADAL" clId="{98B95892-A2C8-44D5-91CE-FE11EF40E5EA}" dt="2025-08-14T18:02:52.006" v="11"/>
        <pc:sldMkLst>
          <pc:docMk/>
          <pc:sldMk cId="1007562469" sldId="267"/>
        </pc:sldMkLst>
      </pc:sldChg>
      <pc:sldChg chg="modAnim">
        <pc:chgData name="Michael Hill" userId="41dba03d-e58d-4389-9894-554c10310ba4" providerId="ADAL" clId="{98B95892-A2C8-44D5-91CE-FE11EF40E5EA}" dt="2025-08-14T18:02:55.196" v="12"/>
        <pc:sldMkLst>
          <pc:docMk/>
          <pc:sldMk cId="4188486475" sldId="268"/>
        </pc:sldMkLst>
      </pc:sldChg>
      <pc:sldChg chg="modAnim">
        <pc:chgData name="Michael Hill" userId="41dba03d-e58d-4389-9894-554c10310ba4" providerId="ADAL" clId="{98B95892-A2C8-44D5-91CE-FE11EF40E5EA}" dt="2025-08-14T18:02:57.729" v="13"/>
        <pc:sldMkLst>
          <pc:docMk/>
          <pc:sldMk cId="3990812849" sldId="269"/>
        </pc:sldMkLst>
      </pc:sldChg>
      <pc:sldChg chg="modAnim">
        <pc:chgData name="Michael Hill" userId="41dba03d-e58d-4389-9894-554c10310ba4" providerId="ADAL" clId="{98B95892-A2C8-44D5-91CE-FE11EF40E5EA}" dt="2025-08-14T18:03:00.418" v="14"/>
        <pc:sldMkLst>
          <pc:docMk/>
          <pc:sldMk cId="2938424496" sldId="270"/>
        </pc:sldMkLst>
      </pc:sldChg>
      <pc:sldChg chg="modAnim">
        <pc:chgData name="Michael Hill" userId="41dba03d-e58d-4389-9894-554c10310ba4" providerId="ADAL" clId="{98B95892-A2C8-44D5-91CE-FE11EF40E5EA}" dt="2025-08-14T18:03:04.942" v="15"/>
        <pc:sldMkLst>
          <pc:docMk/>
          <pc:sldMk cId="1048470063" sldId="271"/>
        </pc:sldMkLst>
      </pc:sldChg>
      <pc:sldChg chg="modAnim">
        <pc:chgData name="Michael Hill" userId="41dba03d-e58d-4389-9894-554c10310ba4" providerId="ADAL" clId="{98B95892-A2C8-44D5-91CE-FE11EF40E5EA}" dt="2025-08-14T18:03:07.272" v="16"/>
        <pc:sldMkLst>
          <pc:docMk/>
          <pc:sldMk cId="2608623467" sldId="272"/>
        </pc:sldMkLst>
      </pc:sldChg>
      <pc:sldChg chg="modAnim">
        <pc:chgData name="Michael Hill" userId="41dba03d-e58d-4389-9894-554c10310ba4" providerId="ADAL" clId="{98B95892-A2C8-44D5-91CE-FE11EF40E5EA}" dt="2025-08-14T18:03:10.099" v="17"/>
        <pc:sldMkLst>
          <pc:docMk/>
          <pc:sldMk cId="166052799" sldId="273"/>
        </pc:sldMkLst>
      </pc:sldChg>
      <pc:sldChg chg="modAnim">
        <pc:chgData name="Michael Hill" userId="41dba03d-e58d-4389-9894-554c10310ba4" providerId="ADAL" clId="{98B95892-A2C8-44D5-91CE-FE11EF40E5EA}" dt="2025-08-14T18:03:13.078" v="18"/>
        <pc:sldMkLst>
          <pc:docMk/>
          <pc:sldMk cId="4146026946" sldId="274"/>
        </pc:sldMkLst>
      </pc:sldChg>
      <pc:sldChg chg="modAnim">
        <pc:chgData name="Michael Hill" userId="41dba03d-e58d-4389-9894-554c10310ba4" providerId="ADAL" clId="{98B95892-A2C8-44D5-91CE-FE11EF40E5EA}" dt="2025-08-14T18:03:16.227" v="19"/>
        <pc:sldMkLst>
          <pc:docMk/>
          <pc:sldMk cId="544269767" sldId="275"/>
        </pc:sldMkLst>
      </pc:sldChg>
      <pc:sldChg chg="modAnim">
        <pc:chgData name="Michael Hill" userId="41dba03d-e58d-4389-9894-554c10310ba4" providerId="ADAL" clId="{98B95892-A2C8-44D5-91CE-FE11EF40E5EA}" dt="2025-08-14T18:03:21.111" v="20"/>
        <pc:sldMkLst>
          <pc:docMk/>
          <pc:sldMk cId="510623671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6074735" y="3606998"/>
            <a:ext cx="4096073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77431" y="938421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Variables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Data Types of Variables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Assigning Variables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Operators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Programming Lab</a:t>
            </a:r>
          </a:p>
          <a:p>
            <a:pPr algn="ctr"/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474132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666053" y="1120703"/>
            <a:ext cx="906602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Variables </a:t>
            </a:r>
            <a:r>
              <a:rPr lang="en-US" sz="2800" dirty="0">
                <a:latin typeface="Bahnschrift" panose="020B0502040204020203" pitchFamily="34" charset="0"/>
              </a:rPr>
              <a:t> are programming constructs built to store and manipulate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Think of a variable as a box with an identifier (name) and a current value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Each variable can only hold one value at a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0" y="63619"/>
            <a:ext cx="360590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VARIABLES</a:t>
            </a:r>
          </a:p>
        </p:txBody>
      </p:sp>
      <p:pic>
        <p:nvPicPr>
          <p:cNvPr id="4" name="Picture 3" descr="A cardboard box with a black background&#10;&#10;AI-generated content may be incorrect.">
            <a:extLst>
              <a:ext uri="{FF2B5EF4-FFF2-40B4-BE49-F238E27FC236}">
                <a16:creationId xmlns:a16="http://schemas.microsoft.com/office/drawing/2014/main" id="{415D1A76-C37E-B5CC-6049-731250761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313" y="3870251"/>
            <a:ext cx="4241565" cy="2827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1AA13-1519-FF07-5507-BCCCBCE74A7C}"/>
              </a:ext>
            </a:extLst>
          </p:cNvPr>
          <p:cNvSpPr txBox="1"/>
          <p:nvPr/>
        </p:nvSpPr>
        <p:spPr>
          <a:xfrm rot="878542">
            <a:off x="5284752" y="4496742"/>
            <a:ext cx="133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“JERRY”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A38A2-7F55-6C62-0A20-EEC74DA6B663}"/>
              </a:ext>
            </a:extLst>
          </p:cNvPr>
          <p:cNvSpPr txBox="1"/>
          <p:nvPr/>
        </p:nvSpPr>
        <p:spPr>
          <a:xfrm rot="878542">
            <a:off x="4951083" y="5697809"/>
            <a:ext cx="133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19A09-2395-58A7-5229-EE1A514F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0CC6809-2968-E40E-0F53-FDEB4EB85F0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1A3917-87C4-A60F-E2B3-9F220375913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4B990D-487F-C27C-8C62-CF2FF0BFB32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85C9AF-42BF-7E8A-084D-652D5AFBF8EB}"/>
              </a:ext>
            </a:extLst>
          </p:cNvPr>
          <p:cNvSpPr/>
          <p:nvPr/>
        </p:nvSpPr>
        <p:spPr>
          <a:xfrm>
            <a:off x="1666053" y="1120703"/>
            <a:ext cx="906602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Variables must be one of many </a:t>
            </a: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data types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that specify which kind of data the variable will store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we don’t have to tell the program what data type we want to use like many programming languages do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94ACE-0221-A296-E096-A1CCCF2555B5}"/>
              </a:ext>
            </a:extLst>
          </p:cNvPr>
          <p:cNvSpPr/>
          <p:nvPr/>
        </p:nvSpPr>
        <p:spPr>
          <a:xfrm>
            <a:off x="0" y="63619"/>
            <a:ext cx="360590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399920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0268E-D364-4D9D-29AB-04704D35C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EC97D9B-BE6D-4324-3769-54ADF5CA3B3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C1AA49-2B88-3995-C07D-E9ED1874AD8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70EB3C-7074-C649-E10E-F6D225ED098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C31C9-62DC-3675-D099-2F45431523AD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Strings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store a sequence of characters, digits, and symbols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Basically, a string stores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text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strings are written as to the left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variable name is getting assigned the value “Jerry”</a:t>
            </a:r>
            <a:endParaRPr lang="en-US" sz="28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C02FC-7E07-3A7E-6B2B-FD078F0B388B}"/>
              </a:ext>
            </a:extLst>
          </p:cNvPr>
          <p:cNvSpPr/>
          <p:nvPr/>
        </p:nvSpPr>
        <p:spPr>
          <a:xfrm>
            <a:off x="0" y="63619"/>
            <a:ext cx="360590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STRINGS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F0E0BD-BC9F-778B-2DC3-BCBBC6899E4A}"/>
              </a:ext>
            </a:extLst>
          </p:cNvPr>
          <p:cNvSpPr/>
          <p:nvPr/>
        </p:nvSpPr>
        <p:spPr>
          <a:xfrm>
            <a:off x="5992933" y="1972801"/>
            <a:ext cx="5744945" cy="3490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name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"Jerry"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phoneNumber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"555-555-5555"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password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"Num@1tja23"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(name)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phoneNumber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(password)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7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346BB-F860-12AC-2D2B-8B514711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94A7F31-FD19-0294-FEFC-3CFB859A23D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B99F19-0640-A838-841C-88C12DF1833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446D44-70A2-D5E9-516E-8EF2804A0F6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CE3601-0788-F550-C7D9-C7683C9FBB63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Integers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store a whole number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Whole numbers are positive or negative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integers are written as to the left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variable age is getting assigned the value 15</a:t>
            </a:r>
            <a:endParaRPr lang="en-US" sz="28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1E3E3-987B-9672-DC04-8AE244D8AADE}"/>
              </a:ext>
            </a:extLst>
          </p:cNvPr>
          <p:cNvSpPr/>
          <p:nvPr/>
        </p:nvSpPr>
        <p:spPr>
          <a:xfrm>
            <a:off x="0" y="63619"/>
            <a:ext cx="360590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INTEGERS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21A2F1-DB25-8DB6-EADC-C94D893D7732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age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salary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60000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netWorth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2000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(age)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(salary)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netWorth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297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E22BD5-BEFC-D02A-655B-D6C270EF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20CA0AF-7032-FC10-378B-E4F088058A4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D5FED0-3390-C7D0-4131-46A3AE4E5F0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5D4C91-E754-30D7-67F6-667779B1686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7D1BFE-2B35-3D8D-F8CF-0C9B82B59116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Decimals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store decimal numbers (woah)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can also be referred to as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floats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or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doubles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decimals are written as to the left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variable GPA is getting assigned the value 3.94</a:t>
            </a:r>
            <a:endParaRPr lang="en-US" sz="28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28E19D-D500-D259-A37C-1379F3CE088C}"/>
              </a:ext>
            </a:extLst>
          </p:cNvPr>
          <p:cNvSpPr/>
          <p:nvPr/>
        </p:nvSpPr>
        <p:spPr>
          <a:xfrm>
            <a:off x="0" y="63619"/>
            <a:ext cx="360590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DECIMALS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3A1665-2D65-3DD6-C81D-3A2D875D9A4C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GPA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3.94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weight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1.5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price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0.99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(GPA)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(weight)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(price)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3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9D276-3546-741E-5803-69C684888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0832F79C-B887-54F2-463F-5EA4044DEC6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0AFFA8-8834-A3C0-314B-047482CE83F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A595-6FC1-6C0B-B41A-05CFA9E3A9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46F9F-BCE9-6AD6-30D2-6351C2482FC8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Chars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store single characters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can be digits, letters, or symbols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chars are written as to the left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Notice they are like strings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variable grade is getting assigned to ‘A’</a:t>
            </a:r>
            <a:endParaRPr lang="en-US" sz="28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CEDD1-0B25-9764-A25B-1942CE490F1D}"/>
              </a:ext>
            </a:extLst>
          </p:cNvPr>
          <p:cNvSpPr/>
          <p:nvPr/>
        </p:nvSpPr>
        <p:spPr>
          <a:xfrm>
            <a:off x="0" y="63619"/>
            <a:ext cx="257307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CHARS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E911A8-F982-0AF8-0A6A-B58175737C12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grade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'A'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digit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'4'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punctuation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'!'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(grade)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(digit)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(punctuation)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761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E9069-0136-FB03-AE6E-F8A0C900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C58326D-E635-8A7D-DAD7-A841E4D575D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BE7253-2197-C738-403F-9DFDA0E37E6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6F8CC8-5CD8-0179-0452-CDE5E9FC25F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8F0B83-3F30-DBF2-6E80-A17BD2CF853E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Booleans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store True or False values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the ONLY two options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booleans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are written as to the left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Notice the capitalization</a:t>
            </a:r>
            <a:endParaRPr lang="en-US" sz="28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variable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isFunny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60C328-542C-50DD-E94C-FF6B358C60CB}"/>
              </a:ext>
            </a:extLst>
          </p:cNvPr>
          <p:cNvSpPr/>
          <p:nvPr/>
        </p:nvSpPr>
        <p:spPr>
          <a:xfrm>
            <a:off x="0" y="63619"/>
            <a:ext cx="347330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BOOLEANS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BF13A8-4842-94D5-6C77-BEC01BB27A64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isFunny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False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finished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hydrated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isFunny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(finished)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(hydrated)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243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4E6CA-97E1-0B6F-70AC-AB8A1709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F5023C8-B342-BA42-A829-E6A98BE13D6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94A76F-31A9-86BD-63C3-75FC3983B1D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1BCD4A-9C0D-F40E-A7FE-3078CEC1DC6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44465-4AAE-50D4-792A-29721E3D35F4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Booleans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store True or False values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the ONLY two options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booleans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are written as to the left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Notice the capitalization</a:t>
            </a:r>
            <a:endParaRPr lang="en-US" sz="2800" dirty="0">
              <a:solidFill>
                <a:schemeClr val="accent5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variable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isFunny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False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0C09B-1462-6755-E9D8-7CC21E7DD31B}"/>
              </a:ext>
            </a:extLst>
          </p:cNvPr>
          <p:cNvSpPr/>
          <p:nvPr/>
        </p:nvSpPr>
        <p:spPr>
          <a:xfrm>
            <a:off x="0" y="63619"/>
            <a:ext cx="347330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BOOLEANS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3BE3E0-6553-7166-FC8D-E9E923AA7B2A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isFunny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False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finished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hydrated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isFunny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(finished)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(hydrated)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794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02E12-2CE5-2515-327C-4BAE1C86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B4B9DCE-0CAC-B50B-0E63-8C0422AF137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08CBB5-E783-84B8-D366-44EE82F6118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05A6C1-E7EC-73F3-75AC-C122D7A9758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DB843F-1775-E7EB-C944-A1033B4BB49C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Booleans are used for logical expressions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code, we sometimes have to check conditions, and when those conditions are True, we want parts of our code to run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will also use these to control our loops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F8EA1E-5CD4-C16B-CAC9-BCCA24887D8E}"/>
              </a:ext>
            </a:extLst>
          </p:cNvPr>
          <p:cNvSpPr/>
          <p:nvPr/>
        </p:nvSpPr>
        <p:spPr>
          <a:xfrm>
            <a:off x="0" y="63619"/>
            <a:ext cx="347330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BOOLEANS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CEFA35-827E-D257-0955-A1A7AD3C395D}"/>
              </a:ext>
            </a:extLst>
          </p:cNvPr>
          <p:cNvSpPr/>
          <p:nvPr/>
        </p:nvSpPr>
        <p:spPr>
          <a:xfrm>
            <a:off x="5982492" y="172812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JetBrains Mono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JetBrains Mono"/>
              </a:rPr>
              <a:t>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JetBrains Mono"/>
              </a:rPr>
              <a:t>(a == 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JetBrains Mono"/>
              </a:rPr>
              <a:t>(a &gt; 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JetBrains Mono"/>
              </a:rPr>
              <a:t>(a &lt; b)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64CAB3-0997-353F-4308-5615FEDA1AA6}"/>
              </a:ext>
            </a:extLst>
          </p:cNvPr>
          <p:cNvSpPr/>
          <p:nvPr/>
        </p:nvSpPr>
        <p:spPr>
          <a:xfrm>
            <a:off x="5952103" y="3642567"/>
            <a:ext cx="5744945" cy="311974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Named after this dork, George Boole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9CF8D2-D822-8D40-7526-337385CE957D}"/>
              </a:ext>
            </a:extLst>
          </p:cNvPr>
          <p:cNvSpPr/>
          <p:nvPr/>
        </p:nvSpPr>
        <p:spPr>
          <a:xfrm>
            <a:off x="5480379" y="3642567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6D10E05-84CE-E823-2743-D48317389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713" y="3717853"/>
            <a:ext cx="2516838" cy="304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9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C4C2F-4A91-A41F-0B0E-96F4C0C1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C2864CE-586F-E522-52E1-3DD0B99F56FC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DF966C-42C4-3972-B834-A64251AEEB7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69EDB2-6029-8C1D-D99C-3DD3F5FC9D3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20BAC4-99E8-1FB9-1651-D625D27FE5CA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Expressions can be joined using the keywords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and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&amp; </a:t>
            </a:r>
            <a:r>
              <a:rPr lang="en-US" sz="2800" i="1" dirty="0">
                <a:solidFill>
                  <a:schemeClr val="bg1"/>
                </a:solidFill>
                <a:latin typeface="Bahnschrift" panose="020B0502040204020203" pitchFamily="34" charset="0"/>
              </a:rPr>
              <a:t>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09D0D-E54C-E055-8F0B-4DBF35102BA9}"/>
              </a:ext>
            </a:extLst>
          </p:cNvPr>
          <p:cNvSpPr/>
          <p:nvPr/>
        </p:nvSpPr>
        <p:spPr>
          <a:xfrm>
            <a:off x="0" y="63619"/>
            <a:ext cx="3473302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BOOLEANS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938CBB-5FAB-5978-D386-10E08F381F76}"/>
              </a:ext>
            </a:extLst>
          </p:cNvPr>
          <p:cNvSpPr/>
          <p:nvPr/>
        </p:nvSpPr>
        <p:spPr>
          <a:xfrm>
            <a:off x="5992933" y="1916552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((a &gt; b)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(b &lt; c))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((a &gt; b)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(b &lt; c))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((b &lt; a)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(c &lt; b))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62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C779C-27FE-22E7-AC7D-202DCCB0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DF39475-73E7-4F5F-30BC-2C8F3AF2744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C88C4-2FD4-90DB-56E3-EDC91459692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405003-D7CA-442C-11BE-D829F16762A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C7C1C-579E-F2CF-397F-6ED66FEB0194}"/>
              </a:ext>
            </a:extLst>
          </p:cNvPr>
          <p:cNvSpPr/>
          <p:nvPr/>
        </p:nvSpPr>
        <p:spPr>
          <a:xfrm>
            <a:off x="875556" y="1154440"/>
            <a:ext cx="10440887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data types should I use to store these variables?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person’s name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person’s age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status of a seat being booked on a flight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price of a Nintendo Switch 2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person’s order ID at the drive through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4C5B8F-FB14-55CC-2F98-CC34FA677FAC}"/>
              </a:ext>
            </a:extLst>
          </p:cNvPr>
          <p:cNvSpPr/>
          <p:nvPr/>
        </p:nvSpPr>
        <p:spPr>
          <a:xfrm>
            <a:off x="0" y="63619"/>
            <a:ext cx="360590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4188486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4DE5E-64CA-82BB-8E5A-B92D4F69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271F482-2605-A649-9EB6-BDB34736472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4AF9E6-4027-93CA-03F7-DFFB4B79521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22CE2E-0178-C82E-BFC4-516B3B1719A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738A54-40B8-338A-B701-1E0BEBADA34C}"/>
              </a:ext>
            </a:extLst>
          </p:cNvPr>
          <p:cNvSpPr/>
          <p:nvPr/>
        </p:nvSpPr>
        <p:spPr>
          <a:xfrm>
            <a:off x="875556" y="1154440"/>
            <a:ext cx="10440887" cy="270872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will ask for a number, store it in a variable, and output if that number is greater than 15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copy the following code and print out the value of “output” at each step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FB14DF-25B9-78E2-0BD6-8C0E3BBD49B0}"/>
              </a:ext>
            </a:extLst>
          </p:cNvPr>
          <p:cNvSpPr/>
          <p:nvPr/>
        </p:nvSpPr>
        <p:spPr>
          <a:xfrm>
            <a:off x="-404038" y="37149"/>
            <a:ext cx="7761768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PROGRAMMING EXERCISES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E81602-8220-272E-8F18-0F81CAD931F6}"/>
              </a:ext>
            </a:extLst>
          </p:cNvPr>
          <p:cNvSpPr/>
          <p:nvPr/>
        </p:nvSpPr>
        <p:spPr>
          <a:xfrm>
            <a:off x="1881677" y="4051877"/>
            <a:ext cx="7879011" cy="27087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output = (a &lt; b)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output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not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 &gt;= 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output = (a &lt;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844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(b &gt;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output = (a == b)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812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64739-411C-2CDF-0030-B0E7D301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F712E6E-E6F0-06B4-863E-EFB3010AE686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37FC93-25D4-5AD7-07F9-4D6C5C0D462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DE92BE-FEFD-0A7D-8014-741E2E877DA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2473F0-8C99-C781-0097-1882EAA49C12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Assignment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refers to setting a variable to have a certain value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value is always on the right and the variable is always on the left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F65A7A-D5D4-6991-F647-A2209AD9AFBD}"/>
              </a:ext>
            </a:extLst>
          </p:cNvPr>
          <p:cNvSpPr/>
          <p:nvPr/>
        </p:nvSpPr>
        <p:spPr>
          <a:xfrm>
            <a:off x="-666307" y="66355"/>
            <a:ext cx="1014346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ASSIGNMENT (THE VARIABLE KIND)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F0AF85-FF42-54F6-371C-D39EC8F76E79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test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424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0B82A-9062-4006-E175-6F1E653F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C3B6991-497C-8ABB-96D1-A488BBAC6821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B2BAD8-9C9A-B889-2F7A-FF5765E1F97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117754-AAE5-5504-2C25-1949C405F48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AAC8C-2434-DA4E-F3A9-7D500BCE132A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Incrementing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variable adds to the value and reassigns it to the same variable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same process applies for decrementing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do this by any amount, but 1 is the most common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686429-D8C3-931C-A81C-01900BB925B8}"/>
              </a:ext>
            </a:extLst>
          </p:cNvPr>
          <p:cNvSpPr/>
          <p:nvPr/>
        </p:nvSpPr>
        <p:spPr>
          <a:xfrm>
            <a:off x="-361507" y="66355"/>
            <a:ext cx="8194158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INCREMENT &amp; DECREMENT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E94EE-DB59-7B50-81A2-1F17E0AB6591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test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4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test = test +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(test)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test = test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(test)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470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EEBD5-49B7-C6ED-B1DC-0B367AD66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7F332752-2F53-220B-38EB-B84DD88A781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67E3EC-18A2-9050-BC0D-D40C59CBE60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9201DE-71F5-CEC8-2C2E-8D8776DB10A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99A07-EFDC-8F05-5FFF-2A4507D52648}"/>
              </a:ext>
            </a:extLst>
          </p:cNvPr>
          <p:cNvSpPr/>
          <p:nvPr/>
        </p:nvSpPr>
        <p:spPr>
          <a:xfrm>
            <a:off x="761449" y="1212852"/>
            <a:ext cx="4685128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do we swap variables?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problem with the code on the right?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6502C0-E64B-ABA6-4F02-0617A27B2710}"/>
              </a:ext>
            </a:extLst>
          </p:cNvPr>
          <p:cNvSpPr/>
          <p:nvPr/>
        </p:nvSpPr>
        <p:spPr>
          <a:xfrm>
            <a:off x="-361507" y="66355"/>
            <a:ext cx="7719237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SWITCHING VARIABLES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D634B7-2BDC-BED1-F1AC-A2FF5F6180E2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b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= a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623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8FED1-4FE3-3576-AEF1-7BD8946E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C5DBE3D-4DA3-E159-BEAF-A0B9FD8D7CA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0B2017-8D86-D54B-E271-DD8D26B77B2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6E736B-1903-4897-38BC-F3BC039142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A39BD1-14FD-65B7-6306-B9E6ABCF2637}"/>
              </a:ext>
            </a:extLst>
          </p:cNvPr>
          <p:cNvSpPr/>
          <p:nvPr/>
        </p:nvSpPr>
        <p:spPr>
          <a:xfrm>
            <a:off x="761448" y="1212852"/>
            <a:ext cx="1055868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Operators perform calculations, comparisons, and other logical operations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2838E5-E421-5B58-F96C-FCE1D67A10EF}"/>
              </a:ext>
            </a:extLst>
          </p:cNvPr>
          <p:cNvSpPr/>
          <p:nvPr/>
        </p:nvSpPr>
        <p:spPr>
          <a:xfrm>
            <a:off x="0" y="87816"/>
            <a:ext cx="4101365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OPERATORS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80EC31-ECB8-2BD7-5014-36BC57290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274017"/>
              </p:ext>
            </p:extLst>
          </p:nvPr>
        </p:nvGraphicFramePr>
        <p:xfrm>
          <a:off x="1079509" y="2289172"/>
          <a:ext cx="9826848" cy="41364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4476">
                  <a:extLst>
                    <a:ext uri="{9D8B030D-6E8A-4147-A177-3AD203B41FA5}">
                      <a16:colId xmlns:a16="http://schemas.microsoft.com/office/drawing/2014/main" val="896254935"/>
                    </a:ext>
                  </a:extLst>
                </a:gridCol>
                <a:gridCol w="2154865">
                  <a:extLst>
                    <a:ext uri="{9D8B030D-6E8A-4147-A177-3AD203B41FA5}">
                      <a16:colId xmlns:a16="http://schemas.microsoft.com/office/drawing/2014/main" val="2260160907"/>
                    </a:ext>
                  </a:extLst>
                </a:gridCol>
                <a:gridCol w="1127051">
                  <a:extLst>
                    <a:ext uri="{9D8B030D-6E8A-4147-A177-3AD203B41FA5}">
                      <a16:colId xmlns:a16="http://schemas.microsoft.com/office/drawing/2014/main" val="3288740738"/>
                    </a:ext>
                  </a:extLst>
                </a:gridCol>
                <a:gridCol w="2020187">
                  <a:extLst>
                    <a:ext uri="{9D8B030D-6E8A-4147-A177-3AD203B41FA5}">
                      <a16:colId xmlns:a16="http://schemas.microsoft.com/office/drawing/2014/main" val="656201142"/>
                    </a:ext>
                  </a:extLst>
                </a:gridCol>
                <a:gridCol w="1112874">
                  <a:extLst>
                    <a:ext uri="{9D8B030D-6E8A-4147-A177-3AD203B41FA5}">
                      <a16:colId xmlns:a16="http://schemas.microsoft.com/office/drawing/2014/main" val="1939341584"/>
                    </a:ext>
                  </a:extLst>
                </a:gridCol>
                <a:gridCol w="2197395">
                  <a:extLst>
                    <a:ext uri="{9D8B030D-6E8A-4147-A177-3AD203B41FA5}">
                      <a16:colId xmlns:a16="http://schemas.microsoft.com/office/drawing/2014/main" val="3287283888"/>
                    </a:ext>
                  </a:extLst>
                </a:gridCol>
              </a:tblGrid>
              <a:tr h="68940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628367"/>
                  </a:ext>
                </a:extLst>
              </a:tr>
              <a:tr h="68940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Not Equal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862801"/>
                  </a:ext>
                </a:extLst>
              </a:tr>
              <a:tr h="68940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Less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266979"/>
                  </a:ext>
                </a:extLst>
              </a:tr>
              <a:tr h="68940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740933"/>
                  </a:ext>
                </a:extLst>
              </a:tr>
              <a:tr h="68940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Greater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443999"/>
                  </a:ext>
                </a:extLst>
              </a:tr>
              <a:tr h="68940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Modulo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" panose="020B0502040204020203" pitchFamily="34" charset="0"/>
                        </a:rPr>
                        <a:t>Integer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30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52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3A592-767D-1761-A4D3-F03451E9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36FEA01-389C-209E-4D2F-E0BCD6DD980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CEC4D6-7A37-AD71-E8EF-062424A31CD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D9C8F0-762E-F076-2118-20CB6974BA6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237154-F415-76C3-52FE-F8EC23811A6F}"/>
              </a:ext>
            </a:extLst>
          </p:cNvPr>
          <p:cNvSpPr/>
          <p:nvPr/>
        </p:nvSpPr>
        <p:spPr>
          <a:xfrm>
            <a:off x="761449" y="1212852"/>
            <a:ext cx="41862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may have noticed that there were two division operators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/ represents decimal division, where the result will have a decimal point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// represents integer division, where the result will truncate with no decimal point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8D8B5-5F06-C78A-FCDC-91989533CBBC}"/>
              </a:ext>
            </a:extLst>
          </p:cNvPr>
          <p:cNvSpPr/>
          <p:nvPr/>
        </p:nvSpPr>
        <p:spPr>
          <a:xfrm>
            <a:off x="0" y="87816"/>
            <a:ext cx="4101365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DIVISION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50BCC-A49B-8EB0-2F07-1C34FC74D0F2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(a/b)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(a//b)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026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6DA1A-8015-473D-33B2-4D15E6D3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C34FCC0-2F8A-BC00-5136-F93ADACE418A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7D3751-4CE8-EF5C-61FC-E9C4D1BFA79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FE6E14-EC2B-9D8F-77DB-720A2F7C830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1BF025-9B2C-2D3C-9417-2F836C791079}"/>
              </a:ext>
            </a:extLst>
          </p:cNvPr>
          <p:cNvSpPr/>
          <p:nvPr/>
        </p:nvSpPr>
        <p:spPr>
          <a:xfrm>
            <a:off x="761449" y="1212852"/>
            <a:ext cx="418623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Most operators are straightforward, but modulo becomes more complex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Modulo gives the remainder of what would occur if you divided the numbers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useful for checking evenness or oddness of numbers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33200-9AA5-4D45-B13D-37A6DDB3AE6F}"/>
              </a:ext>
            </a:extLst>
          </p:cNvPr>
          <p:cNvSpPr/>
          <p:nvPr/>
        </p:nvSpPr>
        <p:spPr>
          <a:xfrm>
            <a:off x="0" y="87816"/>
            <a:ext cx="352292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MODULO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7B126E-5EBB-C416-6756-E66650351CFB}"/>
              </a:ext>
            </a:extLst>
          </p:cNvPr>
          <p:cNvSpPr/>
          <p:nvPr/>
        </p:nvSpPr>
        <p:spPr>
          <a:xfrm>
            <a:off x="6022987" y="1656054"/>
            <a:ext cx="5744945" cy="3256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a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input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"Enter a"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b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(a % b)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5AA5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"Is a even?"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((a % b) ==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8AFBE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772B496-650B-E4A0-57F4-7DB1DBED9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61C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269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761448" y="1212852"/>
            <a:ext cx="1029641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1: Ask the user to input 3 numbers, then output the average of those three numbers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2: Ask the user to enter their name and age. Output a message that includes the name and the age the user will be in 10 years.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Problem 3: Ask the user to enter a three-digit number, then output the result of those three digits added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148856" y="94904"/>
            <a:ext cx="2601433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1197</Words>
  <Application>Microsoft Office PowerPoint</Application>
  <PresentationFormat>Widescreen</PresentationFormat>
  <Paragraphs>149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Bahnschrift</vt:lpstr>
      <vt:lpstr>Bahnschrift SemiBold</vt:lpstr>
      <vt:lpstr>Cascadia Mono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</cp:revision>
  <dcterms:created xsi:type="dcterms:W3CDTF">2025-08-11T14:07:39Z</dcterms:created>
  <dcterms:modified xsi:type="dcterms:W3CDTF">2025-08-14T18:03:26Z</dcterms:modified>
</cp:coreProperties>
</file>