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93" r:id="rId5"/>
    <p:sldId id="294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95" r:id="rId15"/>
    <p:sldId id="268" r:id="rId16"/>
    <p:sldId id="290" r:id="rId17"/>
    <p:sldId id="269" r:id="rId18"/>
    <p:sldId id="270" r:id="rId19"/>
    <p:sldId id="271" r:id="rId20"/>
    <p:sldId id="272" r:id="rId21"/>
    <p:sldId id="273" r:id="rId22"/>
    <p:sldId id="274" r:id="rId23"/>
    <p:sldId id="291" r:id="rId24"/>
    <p:sldId id="275" r:id="rId25"/>
    <p:sldId id="276" r:id="rId26"/>
    <p:sldId id="277" r:id="rId27"/>
    <p:sldId id="296" r:id="rId28"/>
    <p:sldId id="278" r:id="rId29"/>
    <p:sldId id="279" r:id="rId30"/>
    <p:sldId id="280" r:id="rId31"/>
    <p:sldId id="292" r:id="rId32"/>
    <p:sldId id="289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FF66CC"/>
    <a:srgbClr val="584500"/>
    <a:srgbClr val="2A4C45"/>
    <a:srgbClr val="326648"/>
    <a:srgbClr val="D2A65C"/>
    <a:srgbClr val="A74923"/>
    <a:srgbClr val="388049"/>
    <a:srgbClr val="274F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97" autoAdjust="0"/>
    <p:restoredTop sz="89467" autoAdjust="0"/>
  </p:normalViewPr>
  <p:slideViewPr>
    <p:cSldViewPr snapToGrid="0">
      <p:cViewPr>
        <p:scale>
          <a:sx n="50" d="100"/>
          <a:sy n="50" d="100"/>
        </p:scale>
        <p:origin x="324" y="113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0EF95B-9744-42BF-8E95-B5A640A352E6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23B401-C566-4517-ADD4-C67058331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927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CB10B-360C-D0DA-720F-DA9A1E782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796DBA-B68D-9EA4-9A39-A461E99DBD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7F6973-594F-C9DD-B01B-798D1EB455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508B84-2EF4-CC55-3ED4-45B5F1E845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0543212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AF277-C9A0-2004-1E53-1CE9CF3E8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338B1E-8F48-E51B-A08C-72044CC67C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1BC505-8C3B-7351-5EF6-2D4C76EC44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313E83-B016-4105-5495-581A21443E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0890959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49978-75CB-024D-E571-DF4422618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FE77E7-BF23-06BD-5FD4-B9ED92E514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E324E8-B8A7-D7CB-C910-4FB0ACD9E9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D0B50F-08F7-9125-2A3A-2D78C116FE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5623403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17086-4C6E-8DF5-AC6E-C4A5EB0FF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616CF9-5126-01A0-D651-8DED19BF0B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D860BA-EA55-68B5-33EC-20B0FA47D1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9735CD-BD7B-54CC-0451-661215D831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5448765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981BF-5AED-A6B7-E6B0-B0A56E8BE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D756BC-1A5D-1C67-1902-73875DBF61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30636B-5A9B-D72A-2FD4-3F0D10C9C6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81A120-361B-5FD2-F475-1F866DEA77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54140739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6F6AB-BF08-9661-2A31-EE206A0A4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49650E-4B0D-DCDC-FC54-31BAC049C6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73E3CA-CF2C-9C4B-A9D6-C50E0165BE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E9AE0F-652F-A276-F695-1860762FD1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528716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6A4B-E724-C642-63ED-9C1381B80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5E653-4903-1005-D15B-66DB874D2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4A978-A4B2-A67F-C69F-38ADC7DB4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910B7-42B2-3D3D-3AE4-AC7E6C388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21657-9CFD-95BE-EEE3-E1B47D77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72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0003-439B-FA69-F591-6D66E2741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20904-0912-32D7-F6E6-31372E488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3E7E8-F851-BEB7-2C68-8FE1EF67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AE2CA-7781-6E95-12BA-557F775A9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9952B-F381-1189-2020-9A14F470C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39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F060-3D96-5480-3C88-EE775B82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569D8-9209-8B7C-1538-E818415FF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66B1C-5056-EDDF-CD36-E7BFD2F43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F8CB3-3858-3C51-AA38-3F86C097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EA923-CF31-8772-A331-247B9144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25B0-376D-3011-4FDF-D4CA713D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71C86-3E65-FA4B-6F6C-0BB7AA390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E646B-5AE1-A23D-3D1F-474544BF3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279F2-41EE-1489-59DC-32CD90629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EC4E9-67EE-D095-37A7-39EFE82D1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B2442-8F9C-AC5E-9546-BDE753C1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41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8DBA-2489-9EF4-F45E-238BC26E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34AAF-B93F-48B6-1B8B-FD3E959FB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8698B-3528-B8DC-27B8-D49145D60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9008AA-A42D-2259-0D36-908024A20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8A62E1-25E1-7552-ABA8-BE7F2A3B1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97670D-8F54-733D-3639-1B7CCE4C1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C6C20-7A45-CC6A-CA55-61F7CCF3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B7766C-30F5-1A8E-58AF-CDC986CF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76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690D-7611-3967-E6F3-81F032CFF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D4BA6-7CE7-229C-2BD5-FECCA288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691A-621C-6EB1-3EB8-CA9FF47F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257F05-B410-F8DD-455C-490CEB14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66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709F58-5A85-92F4-B06D-21643033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9B9967-5360-F0CB-62AE-C03CEF75E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E68E6-84C0-1723-6611-61380FA19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5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55B2-ECD6-C08F-72AD-183650C66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96BA6-2739-2BD7-969A-4113A5119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86298-57FD-A8A8-D424-73178F2DB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784E3-D576-8AA7-A98D-17AA30F76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48EE1-5288-E1AE-89F1-37B64F23E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75274-EEF3-4830-9978-53BE36B7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0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32C3-BAF4-D846-43C1-525BE354E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2DC9A-2E8B-6C73-166E-961BCED000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E3A54-E42B-7858-93B4-F1A981487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C60C9-5A10-7256-4190-5DE6C1C30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2744C-0DE9-DCDB-4998-7A3221F1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D5596-7365-792E-D0E3-4ED3B5E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5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A8605-B3B6-D788-279D-476906E34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D9E01-2C5E-0FD4-BF7C-54659537D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685CA-CEBB-6B85-90D4-1BEF716FC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0A526-A1AA-3BC7-DC9D-B44EBC07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ED0B1-5EB5-A414-75E8-6BA511C0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5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BD8E7E-5301-E447-23C8-B8B5D2932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36805-717E-9F25-0794-88BD42C6E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3C3FF-BEC2-31C8-6723-85EC31276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A1747-0799-AAD2-1377-F19D1A5E7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F77C4-38FB-B4D4-348D-9D295742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7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A3BEBB-B682-7839-B2B4-500CE17C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D3092-A078-5BEF-361E-CB3FDD457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4A81F-9B16-8EEC-9FE4-9E9D0C8E8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FA067-BC5A-4095-A3A5-99A1BAFE9208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43794-F45F-30BE-BC6F-DDF9A70C2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2708D-8AD6-9D50-70CF-8FFDD3AB7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98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9BBF4B62-D7BF-1C6A-40E3-7B807FA87977}"/>
              </a:ext>
            </a:extLst>
          </p:cNvPr>
          <p:cNvSpPr/>
          <p:nvPr/>
        </p:nvSpPr>
        <p:spPr>
          <a:xfrm>
            <a:off x="4713768" y="2110368"/>
            <a:ext cx="2565990" cy="256599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B883CE-936E-CB73-2B3E-56A618536A26}"/>
              </a:ext>
            </a:extLst>
          </p:cNvPr>
          <p:cNvSpPr/>
          <p:nvPr/>
        </p:nvSpPr>
        <p:spPr>
          <a:xfrm>
            <a:off x="895936" y="1574232"/>
            <a:ext cx="5652932" cy="230153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541717" lon="20311593" rev="27507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TOPIC A1:</a:t>
            </a:r>
          </a:p>
          <a:p>
            <a:pPr marL="0" indent="0" algn="ctr">
              <a:buNone/>
            </a:pPr>
            <a:r>
              <a:rPr lang="en-US" sz="4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COMPUTER FUNDAMENTALS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C18ECD-1A29-4735-FBF9-2230E3FED94F}"/>
              </a:ext>
            </a:extLst>
          </p:cNvPr>
          <p:cNvSpPr/>
          <p:nvPr/>
        </p:nvSpPr>
        <p:spPr>
          <a:xfrm>
            <a:off x="6719147" y="2724998"/>
            <a:ext cx="4008656" cy="116091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chemeClr val="bg1"/>
                </a:solidFill>
                <a:latin typeface="Bahnschrift SemiBold" panose="020B0502040204020203" pitchFamily="34" charset="0"/>
              </a:rPr>
              <a:t>LESSON A1-5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5BB639-AC69-FE40-4352-5D3077A94591}"/>
              </a:ext>
            </a:extLst>
          </p:cNvPr>
          <p:cNvSpPr/>
          <p:nvPr/>
        </p:nvSpPr>
        <p:spPr>
          <a:xfrm>
            <a:off x="1740569" y="3728134"/>
            <a:ext cx="8250456" cy="76226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chemeClr val="bg1"/>
                </a:solidFill>
                <a:latin typeface="Bahnschrift SemiBold" panose="020B0502040204020203" pitchFamily="34" charset="0"/>
              </a:rPr>
              <a:t>LOGIC DIAGRAMS &amp; TRUTH TABLES</a:t>
            </a:r>
          </a:p>
        </p:txBody>
      </p:sp>
    </p:spTree>
    <p:extLst>
      <p:ext uri="{BB962C8B-B14F-4D97-AF65-F5344CB8AC3E}">
        <p14:creationId xmlns:p14="http://schemas.microsoft.com/office/powerpoint/2010/main" val="1878848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50A9E-999F-1BB1-2C00-779227746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6893419-8B7B-38C3-2D89-D4BB95E0AB2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D4645F-350F-77B1-036C-D01223EB808D}"/>
              </a:ext>
            </a:extLst>
          </p:cNvPr>
          <p:cNvSpPr/>
          <p:nvPr/>
        </p:nvSpPr>
        <p:spPr>
          <a:xfrm>
            <a:off x="7095753" y="1908368"/>
            <a:ext cx="4516539" cy="225568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1072296" lon="587304" rev="2156784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>
              <a:buFont typeface="Arial"/>
              <a:buChar char="•"/>
            </a:pPr>
            <a:r>
              <a:rPr lang="en-US" sz="2000" dirty="0" err="1">
                <a:solidFill>
                  <a:schemeClr val="bg1"/>
                </a:solidFill>
                <a:latin typeface="Bahnschrift" panose="020B0502040204020203" pitchFamily="34" charset="0"/>
              </a:rPr>
              <a:t>Guided Notes</a:t>
            </a:r>
          </a:p>
          <a:p>
            <a:pPr algn="ctr">
              <a:buFont typeface="Arial"/>
              <a:buChar char="•"/>
            </a:pPr>
            <a:r>
              <a:rPr lang="en-US" sz="2000" dirty="0" err="1">
                <a:solidFill>
                  <a:schemeClr val="bg1"/>
                </a:solidFill>
                <a:latin typeface="Bahnschrift" panose="020B0502040204020203" pitchFamily="34" charset="0"/>
              </a:rPr>
              <a:t>ur</a:t>
            </a: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" panose="020B0502040204020203" pitchFamily="34" charset="0"/>
              </a:rPr>
              <a:t>hedz</a:t>
            </a:r>
            <a:endParaRPr lang="en-US" sz="20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CF6B3F-1F6D-7800-03EB-3D197914A30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3133FC-E875-8442-9063-C305CC0BFB2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7671A2-401B-58C3-4049-2F9F2E07BD91}"/>
              </a:ext>
            </a:extLst>
          </p:cNvPr>
          <p:cNvSpPr/>
          <p:nvPr/>
        </p:nvSpPr>
        <p:spPr>
          <a:xfrm>
            <a:off x="1109714" y="1181477"/>
            <a:ext cx="5413224" cy="539167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457200" indent="-457200" algn="ctr"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Logic Gates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The seven operators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Truth tables – Circuits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Truth tables - descriptions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Boolean expressions and logic diagrams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Boolean algebra: simplifying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Karnaugh maps</a:t>
            </a:r>
          </a:p>
          <a:p>
            <a:pPr marL="457200" indent="-457200" algn="ctr">
              <a:buFont typeface="Arial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WS A1-2: Diagram Double Down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468F18-96E8-0BDE-DEDF-19E7735BE1E6}"/>
              </a:ext>
            </a:extLst>
          </p:cNvPr>
          <p:cNvSpPr/>
          <p:nvPr/>
        </p:nvSpPr>
        <p:spPr>
          <a:xfrm>
            <a:off x="6825600" y="1466923"/>
            <a:ext cx="5014261" cy="63244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ahnschrift SemiBold" panose="020B0502040204020203" pitchFamily="34" charset="0"/>
              </a:rPr>
              <a:t>WHAT U NEED 4 LESSON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D8CB0-8A02-BF4E-6CF1-A22B96E02C67}"/>
              </a:ext>
            </a:extLst>
          </p:cNvPr>
          <p:cNvSpPr/>
          <p:nvPr/>
        </p:nvSpPr>
        <p:spPr>
          <a:xfrm>
            <a:off x="1824466" y="252900"/>
            <a:ext cx="2903431" cy="9285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854122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600" dirty="0">
                <a:solidFill>
                  <a:schemeClr val="bg1"/>
                </a:solidFill>
                <a:latin typeface="Bahnschrift" panose="020B0502040204020203" pitchFamily="34" charset="0"/>
              </a:rPr>
              <a:t>Last lesson everything was a number written in binary.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600" dirty="0">
                <a:solidFill>
                  <a:schemeClr val="bg1"/>
                </a:solidFill>
                <a:latin typeface="Bahnschrift" panose="020B0502040204020203" pitchFamily="34" charset="0"/>
              </a:rPr>
              <a:t>(a) Convert 1010 0110 to decimal.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600" dirty="0">
                <a:solidFill>
                  <a:schemeClr val="bg1"/>
                </a:solidFill>
                <a:latin typeface="Bahnschrift" panose="020B0502040204020203" pitchFamily="34" charset="0"/>
              </a:rPr>
              <a:t>(b) Convert the same byte to hexadecimal.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600" dirty="0">
                <a:solidFill>
                  <a:schemeClr val="bg1"/>
                </a:solidFill>
                <a:latin typeface="Bahnschrift" panose="020B0502040204020203" pitchFamily="34" charset="0"/>
              </a:rPr>
              <a:t>(c) State how many different values one nibble can represent.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26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2600" dirty="0">
                <a:solidFill>
                  <a:schemeClr val="bg1"/>
                </a:solidFill>
                <a:latin typeface="Bahnschrift" panose="020B0502040204020203" pitchFamily="34" charset="0"/>
              </a:rPr>
              <a:t>-&gt; Notes Q1 (a)-(c) [3 marks] - do them now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THE WARM UP QUESTION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67C203-F59C-97B4-F9CA-3AD4019DE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98E09AF5-B79F-7D18-1D4D-F046FC060525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519FD1B-ECD8-E91A-E35B-516ACAAB140F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F5EEEC8-310D-BFBE-3731-C28B0B3B172C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A711E31-2171-88B0-DB43-A04236FF2D66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A591722-12B6-1DA3-EE85-A6F751C054CD}"/>
              </a:ext>
            </a:extLst>
          </p:cNvPr>
          <p:cNvSpPr/>
          <p:nvPr/>
        </p:nvSpPr>
        <p:spPr>
          <a:xfrm>
            <a:off x="1089140" y="1246841"/>
            <a:ext cx="9808033" cy="38305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Last time, we looked at how to convert numbers to and from binary and hexadecimal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(a) Convert 1010 0110 to decimal.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(b) Convert the same byte to hexadecimal.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(c) State how many different values one nibble can represent.</a:t>
            </a:r>
          </a:p>
          <a:p>
            <a:pPr>
              <a:spcBef>
                <a:spcPts val="1200"/>
              </a:spcBef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-&gt; Notes Q1 (a)-(c)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77A9F53-5D59-2B8C-FFEA-E38C0AB61633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QUESTION</a:t>
            </a:r>
          </a:p>
        </p:txBody>
      </p:sp>
      <p:pic>
        <p:nvPicPr>
          <p:cNvPr id="21" name="Picture 20" descr="url_upload_6a7f3d9e572a4.gif [effects output image]">
            <a:extLst>
              <a:ext uri="{FF2B5EF4-FFF2-40B4-BE49-F238E27FC236}">
                <a16:creationId xmlns:a16="http://schemas.microsoft.com/office/drawing/2014/main" id="{9DC98C2E-F774-9FC7-B3E5-D25F5EB6D8C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-169085" y="4388056"/>
            <a:ext cx="2786643" cy="2667000"/>
          </a:xfrm>
          <a:prstGeom prst="rect">
            <a:avLst/>
          </a:prstGeom>
        </p:spPr>
      </p:pic>
      <p:pic>
        <p:nvPicPr>
          <p:cNvPr id="23" name="Picture 22" descr="url_upload_6a7f3d9e572a4.gif [effects output image]">
            <a:extLst>
              <a:ext uri="{FF2B5EF4-FFF2-40B4-BE49-F238E27FC236}">
                <a16:creationId xmlns:a16="http://schemas.microsoft.com/office/drawing/2014/main" id="{4EC1401C-1498-6DB0-0E39-FF3F91B983B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2617558" y="4388056"/>
            <a:ext cx="2786643" cy="2667000"/>
          </a:xfrm>
          <a:prstGeom prst="rect">
            <a:avLst/>
          </a:prstGeom>
        </p:spPr>
      </p:pic>
      <p:pic>
        <p:nvPicPr>
          <p:cNvPr id="25" name="Picture 24" descr="url_upload_6a7f3d9e572a4.gif [effects output image]">
            <a:extLst>
              <a:ext uri="{FF2B5EF4-FFF2-40B4-BE49-F238E27FC236}">
                <a16:creationId xmlns:a16="http://schemas.microsoft.com/office/drawing/2014/main" id="{15D2C0E0-573E-36B0-2332-CB54766FDE1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5404201" y="4388056"/>
            <a:ext cx="2786643" cy="2667000"/>
          </a:xfrm>
          <a:prstGeom prst="rect">
            <a:avLst/>
          </a:prstGeom>
        </p:spPr>
      </p:pic>
      <p:pic>
        <p:nvPicPr>
          <p:cNvPr id="27" name="Picture 26" descr="url_upload_6a7f3d9e572a4.gif [effects output image]">
            <a:extLst>
              <a:ext uri="{FF2B5EF4-FFF2-40B4-BE49-F238E27FC236}">
                <a16:creationId xmlns:a16="http://schemas.microsoft.com/office/drawing/2014/main" id="{CA0681F5-56F1-8A78-BD3F-7210AF0099B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8190844" y="4388056"/>
            <a:ext cx="2786643" cy="2667000"/>
          </a:xfrm>
          <a:prstGeom prst="rect">
            <a:avLst/>
          </a:prstGeom>
        </p:spPr>
      </p:pic>
      <p:pic>
        <p:nvPicPr>
          <p:cNvPr id="29" name="Picture 28" descr="url_upload_6a7f3d9e572a4.gif [effects output image]">
            <a:extLst>
              <a:ext uri="{FF2B5EF4-FFF2-40B4-BE49-F238E27FC236}">
                <a16:creationId xmlns:a16="http://schemas.microsoft.com/office/drawing/2014/main" id="{35FF1069-5FC4-5B5D-56CC-910FD463C30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10977487" y="4388056"/>
            <a:ext cx="2786643" cy="2667000"/>
          </a:xfrm>
          <a:prstGeom prst="rect">
            <a:avLst/>
          </a:prstGeom>
        </p:spPr>
      </p:pic>
      <p:pic>
        <p:nvPicPr>
          <p:cNvPr id="31" name="Picture 30" descr="url_upload_6a7f3d9e572a4.gif [effects output image]">
            <a:extLst>
              <a:ext uri="{FF2B5EF4-FFF2-40B4-BE49-F238E27FC236}">
                <a16:creationId xmlns:a16="http://schemas.microsoft.com/office/drawing/2014/main" id="{B58411F2-115F-E1E4-722B-D2D4F30C910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6684191" y="-2330208"/>
            <a:ext cx="2786643" cy="2667000"/>
          </a:xfrm>
          <a:prstGeom prst="rect">
            <a:avLst/>
          </a:prstGeom>
        </p:spPr>
      </p:pic>
      <p:pic>
        <p:nvPicPr>
          <p:cNvPr id="33" name="Picture 32" descr="url_upload_6a7f3d9e572a4.gif [effects output image]">
            <a:extLst>
              <a:ext uri="{FF2B5EF4-FFF2-40B4-BE49-F238E27FC236}">
                <a16:creationId xmlns:a16="http://schemas.microsoft.com/office/drawing/2014/main" id="{E765E1C3-6146-21A7-16E4-632DE1C535C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3897548" y="-2330208"/>
            <a:ext cx="2786643" cy="2667000"/>
          </a:xfrm>
          <a:prstGeom prst="rect">
            <a:avLst/>
          </a:prstGeom>
        </p:spPr>
      </p:pic>
      <p:pic>
        <p:nvPicPr>
          <p:cNvPr id="35" name="Picture 34" descr="url_upload_6a7f3d9e572a4.gif [effects output image]">
            <a:extLst>
              <a:ext uri="{FF2B5EF4-FFF2-40B4-BE49-F238E27FC236}">
                <a16:creationId xmlns:a16="http://schemas.microsoft.com/office/drawing/2014/main" id="{F5B4EBCE-E504-899F-B604-956EEBCF49B5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l="20738" r="41253"/>
          <a:stretch>
            <a:fillRect/>
          </a:stretch>
        </p:blipFill>
        <p:spPr>
          <a:xfrm>
            <a:off x="2094614" y="-2330208"/>
            <a:ext cx="1802934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346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392A13-FCAD-5CFB-F5CC-8F04FE24A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Oval 36">
            <a:extLst>
              <a:ext uri="{FF2B5EF4-FFF2-40B4-BE49-F238E27FC236}">
                <a16:creationId xmlns:a16="http://schemas.microsoft.com/office/drawing/2014/main" id="{FD2670A1-8E97-E8EE-32B8-78F4DB4AA639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432D250E-57C1-1F03-09D7-22E3CB27634B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6E93656D-579C-58AF-60C7-CC6D04A5A985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40615BF-33AB-D553-93CA-0084AD4EEE80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E9BFFB3-21A1-E2AA-D8CA-CDF52C90CE7B}"/>
              </a:ext>
            </a:extLst>
          </p:cNvPr>
          <p:cNvSpPr/>
          <p:nvPr/>
        </p:nvSpPr>
        <p:spPr>
          <a:xfrm>
            <a:off x="1089140" y="1246841"/>
            <a:ext cx="9808033" cy="38305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(a) 128 + 32 + 4 + 2 = 166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(b) 1010 = A, 0110 = 6, so A6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(c) Four bits, 2^4 = 16</a:t>
            </a:r>
          </a:p>
          <a:p>
            <a:pPr>
              <a:spcBef>
                <a:spcPts val="1200"/>
              </a:spcBef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A6476EB-44CD-AEFE-F4C0-C8D674021136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ANSWER</a:t>
            </a:r>
          </a:p>
        </p:txBody>
      </p:sp>
      <p:pic>
        <p:nvPicPr>
          <p:cNvPr id="49" name="Picture 48" descr="url_upload_6a7f3d9e572a4.gif [effects output image]">
            <a:extLst>
              <a:ext uri="{FF2B5EF4-FFF2-40B4-BE49-F238E27FC236}">
                <a16:creationId xmlns:a16="http://schemas.microsoft.com/office/drawing/2014/main" id="{AD3F84CC-C5A3-55F0-C902-EFDD4524F9B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-169085" y="4388056"/>
            <a:ext cx="2786643" cy="2667000"/>
          </a:xfrm>
          <a:prstGeom prst="rect">
            <a:avLst/>
          </a:prstGeom>
        </p:spPr>
      </p:pic>
      <p:pic>
        <p:nvPicPr>
          <p:cNvPr id="51" name="Picture 50" descr="url_upload_6a7f3d9e572a4.gif [effects output image]">
            <a:extLst>
              <a:ext uri="{FF2B5EF4-FFF2-40B4-BE49-F238E27FC236}">
                <a16:creationId xmlns:a16="http://schemas.microsoft.com/office/drawing/2014/main" id="{7FD9B299-F62B-45AA-2B97-25D6715DB57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2617558" y="4388056"/>
            <a:ext cx="2786643" cy="2667000"/>
          </a:xfrm>
          <a:prstGeom prst="rect">
            <a:avLst/>
          </a:prstGeom>
        </p:spPr>
      </p:pic>
      <p:pic>
        <p:nvPicPr>
          <p:cNvPr id="53" name="Picture 52" descr="url_upload_6a7f3d9e572a4.gif [effects output image]">
            <a:extLst>
              <a:ext uri="{FF2B5EF4-FFF2-40B4-BE49-F238E27FC236}">
                <a16:creationId xmlns:a16="http://schemas.microsoft.com/office/drawing/2014/main" id="{77EF1537-9017-C2F4-F1B0-02D9FF3214F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5404201" y="4388056"/>
            <a:ext cx="2786643" cy="2667000"/>
          </a:xfrm>
          <a:prstGeom prst="rect">
            <a:avLst/>
          </a:prstGeom>
        </p:spPr>
      </p:pic>
      <p:pic>
        <p:nvPicPr>
          <p:cNvPr id="55" name="Picture 54" descr="url_upload_6a7f3d9e572a4.gif [effects output image]">
            <a:extLst>
              <a:ext uri="{FF2B5EF4-FFF2-40B4-BE49-F238E27FC236}">
                <a16:creationId xmlns:a16="http://schemas.microsoft.com/office/drawing/2014/main" id="{E8B27706-E29C-7EFF-6A9D-6FB90FE0C0F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8190844" y="4388056"/>
            <a:ext cx="2786643" cy="2667000"/>
          </a:xfrm>
          <a:prstGeom prst="rect">
            <a:avLst/>
          </a:prstGeom>
        </p:spPr>
      </p:pic>
      <p:pic>
        <p:nvPicPr>
          <p:cNvPr id="57" name="Picture 56" descr="url_upload_6a7f3d9e572a4.gif [effects output image]">
            <a:extLst>
              <a:ext uri="{FF2B5EF4-FFF2-40B4-BE49-F238E27FC236}">
                <a16:creationId xmlns:a16="http://schemas.microsoft.com/office/drawing/2014/main" id="{A00EA99D-D85D-457B-BAC2-C7D34FEA4E8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10977487" y="4388056"/>
            <a:ext cx="2786643" cy="2667000"/>
          </a:xfrm>
          <a:prstGeom prst="rect">
            <a:avLst/>
          </a:prstGeom>
        </p:spPr>
      </p:pic>
      <p:pic>
        <p:nvPicPr>
          <p:cNvPr id="59" name="Picture 58" descr="url_upload_6a7f3d9e572a4.gif [effects output image]">
            <a:extLst>
              <a:ext uri="{FF2B5EF4-FFF2-40B4-BE49-F238E27FC236}">
                <a16:creationId xmlns:a16="http://schemas.microsoft.com/office/drawing/2014/main" id="{7AA9D8BE-EECC-D2D6-80F6-581936BF554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6684191" y="-2330208"/>
            <a:ext cx="2786643" cy="2667000"/>
          </a:xfrm>
          <a:prstGeom prst="rect">
            <a:avLst/>
          </a:prstGeom>
        </p:spPr>
      </p:pic>
      <p:pic>
        <p:nvPicPr>
          <p:cNvPr id="61" name="Picture 60" descr="url_upload_6a7f3d9e572a4.gif [effects output image]">
            <a:extLst>
              <a:ext uri="{FF2B5EF4-FFF2-40B4-BE49-F238E27FC236}">
                <a16:creationId xmlns:a16="http://schemas.microsoft.com/office/drawing/2014/main" id="{73ECC328-3A3A-3276-EEF2-CDB348474F8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3897548" y="-2330208"/>
            <a:ext cx="2786643" cy="2667000"/>
          </a:xfrm>
          <a:prstGeom prst="rect">
            <a:avLst/>
          </a:prstGeom>
        </p:spPr>
      </p:pic>
      <p:pic>
        <p:nvPicPr>
          <p:cNvPr id="63" name="Picture 62" descr="url_upload_6a7f3d9e572a4.gif [effects output image]">
            <a:extLst>
              <a:ext uri="{FF2B5EF4-FFF2-40B4-BE49-F238E27FC236}">
                <a16:creationId xmlns:a16="http://schemas.microsoft.com/office/drawing/2014/main" id="{A62E7429-74CA-EC7A-F1F4-4F09D9F45EB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l="20738" r="41253"/>
          <a:stretch>
            <a:fillRect/>
          </a:stretch>
        </p:blipFill>
        <p:spPr>
          <a:xfrm>
            <a:off x="2094614" y="-2330208"/>
            <a:ext cx="1802934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920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Last time, we used 0 and 1 to store things, but this time, we’ll use them to decide things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Every conditional statement, like ifs and whiles, is a hardware question: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Given these inputs, is the answer 1 or 0?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A </a:t>
            </a: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logic gate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is a physical circuit that answers one of those questions.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Millions of them wired together are what make up the ALU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TWO STATES, NOW DECISIONS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7" y="1299334"/>
            <a:ext cx="11305309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One or two inputs, always one output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A </a:t>
            </a: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Boolean operator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is the check the gate applies. 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A gate takes that check and makes it out of transistors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A </a:t>
            </a: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truth table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lists every possible combination of inputs and the output for each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Two inputs means four rows. Three inputs means eight, so on and so forth, 2</a:t>
            </a:r>
            <a:r>
              <a:rPr lang="en-US" sz="2400" baseline="30000" dirty="0">
                <a:solidFill>
                  <a:schemeClr val="bg1"/>
                </a:solidFill>
                <a:latin typeface="Bahnschrift" panose="020B0502040204020203" pitchFamily="34" charset="0"/>
              </a:rPr>
              <a:t>n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Before you fill a truth table out, make sure you have the right number of rows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45370" y="155968"/>
            <a:ext cx="4459993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WHAT A GATE IS</a:t>
            </a:r>
          </a:p>
        </p:txBody>
      </p:sp>
      <p:pic>
        <p:nvPicPr>
          <p:cNvPr id="2" name="Picture 1" descr="Logic Gates Explained: 7 Types and Their Role in Digital Circuits">
            <a:extLst>
              <a:ext uri="{FF2B5EF4-FFF2-40B4-BE49-F238E27FC236}">
                <a16:creationId xmlns:a16="http://schemas.microsoft.com/office/drawing/2014/main" id="{D871A0EA-676E-F03A-4D5D-4D4C316D4F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694"/>
          <a:stretch>
            <a:fillRect/>
          </a:stretch>
        </p:blipFill>
        <p:spPr>
          <a:xfrm>
            <a:off x="3094241" y="4895850"/>
            <a:ext cx="6667500" cy="180618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AND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 -  output 1 only when both inputs are 1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OR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 -  output 1 when at least one input is 1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NOT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 -  one input, outputs the opposite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Also called an inverter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183738" y="185784"/>
            <a:ext cx="4012963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AND, OR, NOT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3061045-AC3C-47B8-C687-CC9F6B95BA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3530198"/>
              </p:ext>
            </p:extLst>
          </p:nvPr>
        </p:nvGraphicFramePr>
        <p:xfrm>
          <a:off x="1623411" y="4351216"/>
          <a:ext cx="451996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9990">
                  <a:extLst>
                    <a:ext uri="{9D8B030D-6E8A-4147-A177-3AD203B41FA5}">
                      <a16:colId xmlns:a16="http://schemas.microsoft.com/office/drawing/2014/main" val="3104589468"/>
                    </a:ext>
                  </a:extLst>
                </a:gridCol>
                <a:gridCol w="1129990">
                  <a:extLst>
                    <a:ext uri="{9D8B030D-6E8A-4147-A177-3AD203B41FA5}">
                      <a16:colId xmlns:a16="http://schemas.microsoft.com/office/drawing/2014/main" val="1287503860"/>
                    </a:ext>
                  </a:extLst>
                </a:gridCol>
                <a:gridCol w="1129990">
                  <a:extLst>
                    <a:ext uri="{9D8B030D-6E8A-4147-A177-3AD203B41FA5}">
                      <a16:colId xmlns:a16="http://schemas.microsoft.com/office/drawing/2014/main" val="1270877846"/>
                    </a:ext>
                  </a:extLst>
                </a:gridCol>
                <a:gridCol w="1129990">
                  <a:extLst>
                    <a:ext uri="{9D8B030D-6E8A-4147-A177-3AD203B41FA5}">
                      <a16:colId xmlns:a16="http://schemas.microsoft.com/office/drawing/2014/main" val="28787868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AND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OR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7988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1437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5385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52362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1406532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E86B80C-A5F8-D24D-50DB-93CE71FFBC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8234770"/>
              </p:ext>
            </p:extLst>
          </p:nvPr>
        </p:nvGraphicFramePr>
        <p:xfrm>
          <a:off x="5573509" y="2978963"/>
          <a:ext cx="152860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4301">
                  <a:extLst>
                    <a:ext uri="{9D8B030D-6E8A-4147-A177-3AD203B41FA5}">
                      <a16:colId xmlns:a16="http://schemas.microsoft.com/office/drawing/2014/main" val="3104589468"/>
                    </a:ext>
                  </a:extLst>
                </a:gridCol>
                <a:gridCol w="764301">
                  <a:extLst>
                    <a:ext uri="{9D8B030D-6E8A-4147-A177-3AD203B41FA5}">
                      <a16:colId xmlns:a16="http://schemas.microsoft.com/office/drawing/2014/main" val="12875038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7988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1437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5385534"/>
                  </a:ext>
                </a:extLst>
              </a:tr>
            </a:tbl>
          </a:graphicData>
        </a:graphic>
      </p:graphicFrame>
      <p:pic>
        <p:nvPicPr>
          <p:cNvPr id="6" name="Picture 5" descr="Logic Gates Explained: 7 Types and Their Role in Digital Circuits">
            <a:extLst>
              <a:ext uri="{FF2B5EF4-FFF2-40B4-BE49-F238E27FC236}">
                <a16:creationId xmlns:a16="http://schemas.microsoft.com/office/drawing/2014/main" id="{573D0D2C-3AAC-CCF4-8F37-1B94ABD213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242" r="77074"/>
          <a:stretch>
            <a:fillRect/>
          </a:stretch>
        </p:blipFill>
        <p:spPr>
          <a:xfrm>
            <a:off x="9704591" y="1724850"/>
            <a:ext cx="2031860" cy="3343577"/>
          </a:xfrm>
          <a:prstGeom prst="rect">
            <a:avLst/>
          </a:prstGeom>
        </p:spPr>
      </p:pic>
      <p:pic>
        <p:nvPicPr>
          <p:cNvPr id="10" name="Picture 9" descr="Logic Gates Explained: 7 Types and Their Role in Digital Circuits">
            <a:extLst>
              <a:ext uri="{FF2B5EF4-FFF2-40B4-BE49-F238E27FC236}">
                <a16:creationId xmlns:a16="http://schemas.microsoft.com/office/drawing/2014/main" id="{A18F7247-BFDD-7E15-B3AA-7219FBB974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146" t="58424" r="31145"/>
          <a:stretch>
            <a:fillRect/>
          </a:stretch>
        </p:blipFill>
        <p:spPr>
          <a:xfrm>
            <a:off x="7529352" y="3734497"/>
            <a:ext cx="1747998" cy="158402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6423756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NAND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 -  AND with the output flipped. Output 0 only when both inputs are 1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NOR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 -  OR with the output flipped. Output 1 only when both inputs are 0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The symbol is the AND or OR shape with a small circle on the output, the circle representing the inversion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Every other gate can be built out of NAND alone, which is why you may have heard of NAND before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183738" y="129275"/>
            <a:ext cx="33685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NAND, NOR</a:t>
            </a:r>
          </a:p>
        </p:txBody>
      </p:sp>
      <p:pic>
        <p:nvPicPr>
          <p:cNvPr id="2" name="Picture 1" descr="Logic Gates Explained: 7 Types and Their Role in Digital Circuits">
            <a:extLst>
              <a:ext uri="{FF2B5EF4-FFF2-40B4-BE49-F238E27FC236}">
                <a16:creationId xmlns:a16="http://schemas.microsoft.com/office/drawing/2014/main" id="{05B2D35F-9D3B-DFFC-1FF8-452D405200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572" t="12242" r="50143"/>
          <a:stretch>
            <a:fillRect/>
          </a:stretch>
        </p:blipFill>
        <p:spPr>
          <a:xfrm>
            <a:off x="7909891" y="851764"/>
            <a:ext cx="3429000" cy="3343576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18A805A-C686-5E77-4461-29896E60AE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6051018"/>
              </p:ext>
            </p:extLst>
          </p:nvPr>
        </p:nvGraphicFramePr>
        <p:xfrm>
          <a:off x="6805725" y="4810197"/>
          <a:ext cx="535231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8079">
                  <a:extLst>
                    <a:ext uri="{9D8B030D-6E8A-4147-A177-3AD203B41FA5}">
                      <a16:colId xmlns:a16="http://schemas.microsoft.com/office/drawing/2014/main" val="955129413"/>
                    </a:ext>
                  </a:extLst>
                </a:gridCol>
                <a:gridCol w="1338079">
                  <a:extLst>
                    <a:ext uri="{9D8B030D-6E8A-4147-A177-3AD203B41FA5}">
                      <a16:colId xmlns:a16="http://schemas.microsoft.com/office/drawing/2014/main" val="3209000217"/>
                    </a:ext>
                  </a:extLst>
                </a:gridCol>
                <a:gridCol w="1338079">
                  <a:extLst>
                    <a:ext uri="{9D8B030D-6E8A-4147-A177-3AD203B41FA5}">
                      <a16:colId xmlns:a16="http://schemas.microsoft.com/office/drawing/2014/main" val="15378050"/>
                    </a:ext>
                  </a:extLst>
                </a:gridCol>
                <a:gridCol w="1338079">
                  <a:extLst>
                    <a:ext uri="{9D8B030D-6E8A-4147-A177-3AD203B41FA5}">
                      <a16:colId xmlns:a16="http://schemas.microsoft.com/office/drawing/2014/main" val="17251871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NAND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NOR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3827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00450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38156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0052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05865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XOR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 -  exclusive OR. Output 1 only when the inputs are different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XNOR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 -  output 1 only when the inputs are the same. XOR inverted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XOR is a tricky one, so be sure to review that one especially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255923" y="185784"/>
            <a:ext cx="29875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XOR, XNOR</a:t>
            </a:r>
          </a:p>
        </p:txBody>
      </p:sp>
      <p:pic>
        <p:nvPicPr>
          <p:cNvPr id="3" name="Picture 2" descr="Logic Gates Explained: 7 Types and Their Role in Digital Circuits">
            <a:extLst>
              <a:ext uri="{FF2B5EF4-FFF2-40B4-BE49-F238E27FC236}">
                <a16:creationId xmlns:a16="http://schemas.microsoft.com/office/drawing/2014/main" id="{45B688B0-4781-9E77-F0AB-CF8E9B4D7C8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846" t="17631" r="-1989" b="42751"/>
          <a:stretch>
            <a:fillRect/>
          </a:stretch>
        </p:blipFill>
        <p:spPr>
          <a:xfrm>
            <a:off x="7054523" y="4284290"/>
            <a:ext cx="5016929" cy="2137258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82286E3-15E0-4BC0-924C-2F40AE03AD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7204561"/>
              </p:ext>
            </p:extLst>
          </p:nvPr>
        </p:nvGraphicFramePr>
        <p:xfrm>
          <a:off x="1075675" y="4374533"/>
          <a:ext cx="535231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8079">
                  <a:extLst>
                    <a:ext uri="{9D8B030D-6E8A-4147-A177-3AD203B41FA5}">
                      <a16:colId xmlns:a16="http://schemas.microsoft.com/office/drawing/2014/main" val="955129413"/>
                    </a:ext>
                  </a:extLst>
                </a:gridCol>
                <a:gridCol w="1338079">
                  <a:extLst>
                    <a:ext uri="{9D8B030D-6E8A-4147-A177-3AD203B41FA5}">
                      <a16:colId xmlns:a16="http://schemas.microsoft.com/office/drawing/2014/main" val="3209000217"/>
                    </a:ext>
                  </a:extLst>
                </a:gridCol>
                <a:gridCol w="1338079">
                  <a:extLst>
                    <a:ext uri="{9D8B030D-6E8A-4147-A177-3AD203B41FA5}">
                      <a16:colId xmlns:a16="http://schemas.microsoft.com/office/drawing/2014/main" val="15378050"/>
                    </a:ext>
                  </a:extLst>
                </a:gridCol>
                <a:gridCol w="1338079">
                  <a:extLst>
                    <a:ext uri="{9D8B030D-6E8A-4147-A177-3AD203B41FA5}">
                      <a16:colId xmlns:a16="http://schemas.microsoft.com/office/drawing/2014/main" val="17251871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XOR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XNOR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3827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00450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38156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0052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05865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600" dirty="0">
                <a:solidFill>
                  <a:schemeClr val="bg1"/>
                </a:solidFill>
                <a:latin typeface="Bahnschrift" panose="020B0502040204020203" pitchFamily="34" charset="0"/>
              </a:rPr>
              <a:t>-&gt; Notes Q2 [7 marks] - fill in all seven columns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600" dirty="0">
                <a:solidFill>
                  <a:schemeClr val="bg1"/>
                </a:solidFill>
                <a:latin typeface="Bahnschrift" panose="020B0502040204020203" pitchFamily="34" charset="0"/>
              </a:rPr>
              <a:t>If you can rebuild this table from scratch you should be pretty much clear for this part of the topic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THE SEVEN, ON YOUR NOTES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5703005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A </a:t>
            </a:r>
            <a:r>
              <a:rPr lang="en-US" sz="22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logic diagram</a:t>
            </a: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 is these gates wired together, with signals traveling from left to right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Solve gates with known inputs first, then use the results of those to determine future gates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When working through truth tables for logic diagrams, you should add intermediate columns for the middle work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The IB tends to mark you up for having intermediate columns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132966" y="155968"/>
            <a:ext cx="544497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READING A CIRCUIT</a:t>
            </a:r>
          </a:p>
        </p:txBody>
      </p:sp>
      <p:pic>
        <p:nvPicPr>
          <p:cNvPr id="2" name="Picture 1" descr="Circuit Diagram Logic Gates Logic Gate Circuit Diagram">
            <a:extLst>
              <a:ext uri="{FF2B5EF4-FFF2-40B4-BE49-F238E27FC236}">
                <a16:creationId xmlns:a16="http://schemas.microsoft.com/office/drawing/2014/main" id="{E5699B56-27C0-8CBB-307C-B749EC9E2A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4523" y="2091343"/>
            <a:ext cx="4656611" cy="339614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Let’s say we have three inputs. A and B go into a NAND gate. The output of those gates and C go into an AND gate, giving Q, the output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So the expression is    Q  =  (A NAND B) AND C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The truth table should have eight rows, and two output columns: one for the NAND, one for Q.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THE CIRCUIT ON YOUR NOTES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D58D06-8F40-935E-8BD2-ED04DD058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9136" y="3244730"/>
            <a:ext cx="6868484" cy="309605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E6C39F-6643-6FAF-91B4-4282FBD84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83185463-D7F7-F39C-27DF-06D898100789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919806A-0481-693B-5AA9-0071E2816E67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C145CF3-61F5-3716-A81F-29DE12BDF8F2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3E238F9-CFAC-F212-2619-3A2361B9569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BB7A29-F553-CFDC-E6A6-952DB4FEABC8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2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67BDB3-D786-12D7-2568-68B6CBDF1FD3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THE CIRCUIT ON YOUR NOTES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6FDEA9-0CD6-914C-E848-3C356760D3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692" y="3450054"/>
            <a:ext cx="4996161" cy="3096057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EB1C401-A35F-4583-AE97-1FE7B8E43D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1632308"/>
              </p:ext>
            </p:extLst>
          </p:nvPr>
        </p:nvGraphicFramePr>
        <p:xfrm>
          <a:off x="255923" y="1550316"/>
          <a:ext cx="6285795" cy="48108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159">
                  <a:extLst>
                    <a:ext uri="{9D8B030D-6E8A-4147-A177-3AD203B41FA5}">
                      <a16:colId xmlns:a16="http://schemas.microsoft.com/office/drawing/2014/main" val="648558667"/>
                    </a:ext>
                  </a:extLst>
                </a:gridCol>
                <a:gridCol w="1257159">
                  <a:extLst>
                    <a:ext uri="{9D8B030D-6E8A-4147-A177-3AD203B41FA5}">
                      <a16:colId xmlns:a16="http://schemas.microsoft.com/office/drawing/2014/main" val="2376427908"/>
                    </a:ext>
                  </a:extLst>
                </a:gridCol>
                <a:gridCol w="1257159">
                  <a:extLst>
                    <a:ext uri="{9D8B030D-6E8A-4147-A177-3AD203B41FA5}">
                      <a16:colId xmlns:a16="http://schemas.microsoft.com/office/drawing/2014/main" val="1498299392"/>
                    </a:ext>
                  </a:extLst>
                </a:gridCol>
                <a:gridCol w="1257159">
                  <a:extLst>
                    <a:ext uri="{9D8B030D-6E8A-4147-A177-3AD203B41FA5}">
                      <a16:colId xmlns:a16="http://schemas.microsoft.com/office/drawing/2014/main" val="3698266510"/>
                    </a:ext>
                  </a:extLst>
                </a:gridCol>
                <a:gridCol w="1257159">
                  <a:extLst>
                    <a:ext uri="{9D8B030D-6E8A-4147-A177-3AD203B41FA5}">
                      <a16:colId xmlns:a16="http://schemas.microsoft.com/office/drawing/2014/main" val="1541685192"/>
                    </a:ext>
                  </a:extLst>
                </a:gridCol>
              </a:tblGrid>
              <a:tr h="534535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NAND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175713"/>
                  </a:ext>
                </a:extLst>
              </a:tr>
              <a:tr h="534535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97905"/>
                  </a:ext>
                </a:extLst>
              </a:tr>
              <a:tr h="534535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3191594"/>
                  </a:ext>
                </a:extLst>
              </a:tr>
              <a:tr h="534535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8091672"/>
                  </a:ext>
                </a:extLst>
              </a:tr>
              <a:tr h="534535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6063204"/>
                  </a:ext>
                </a:extLst>
              </a:tr>
              <a:tr h="534535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6317099"/>
                  </a:ext>
                </a:extLst>
              </a:tr>
              <a:tr h="534535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0264823"/>
                  </a:ext>
                </a:extLst>
              </a:tr>
              <a:tr h="534535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2963750"/>
                  </a:ext>
                </a:extLst>
              </a:tr>
              <a:tr h="534535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05601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84333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600" dirty="0">
                <a:solidFill>
                  <a:schemeClr val="bg1"/>
                </a:solidFill>
                <a:latin typeface="Bahnschrift" panose="020B0502040204020203" pitchFamily="34" charset="0"/>
              </a:rPr>
              <a:t>-&gt; Notes Q3 [4 marks] - complete the eight-row table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600" dirty="0">
                <a:solidFill>
                  <a:schemeClr val="bg1"/>
                </a:solidFill>
                <a:latin typeface="Bahnschrift" panose="020B0502040204020203" pitchFamily="34" charset="0"/>
              </a:rPr>
              <a:t>Then, let’s check our answers together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183738" y="129275"/>
            <a:ext cx="365427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YOUR TURN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0537D5-22F1-DBC9-DFBE-47AF17871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EB60BB94-AF46-1B63-2A71-3B48C858C75B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0D65635-6A09-A2F3-31DB-5309EB1987B3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4A6F2A1-3A90-3AAA-64FE-E577F2BF62D4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C1FA1B3-BB45-53F9-45B2-7243257AF84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A1BFE4-A3E6-FA12-212C-61AA5DC1F7D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The exam usually describes a situation and asks you to build the logic yourself.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Three steps to do this:</a:t>
            </a:r>
          </a:p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Name each input with a letter and say what 1 means</a:t>
            </a:r>
          </a:p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Turn the sentence into an expression using and, or, not (and other gates if needed)</a:t>
            </a:r>
          </a:p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Build the table from the expression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C387D4-2E1C-E701-7FD6-1486734E4B7A}"/>
              </a:ext>
            </a:extLst>
          </p:cNvPr>
          <p:cNvSpPr/>
          <p:nvPr/>
        </p:nvSpPr>
        <p:spPr>
          <a:xfrm>
            <a:off x="-26637" y="129275"/>
            <a:ext cx="64546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FROM WORDS TO LOGIC</a:t>
            </a:r>
          </a:p>
        </p:txBody>
      </p:sp>
    </p:spTree>
    <p:extLst>
      <p:ext uri="{BB962C8B-B14F-4D97-AF65-F5344CB8AC3E}">
        <p14:creationId xmlns:p14="http://schemas.microsoft.com/office/powerpoint/2010/main" val="1601594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A fan turns on when the temperature is high (T = 1) or the humidity is high (H = 1), but only when the system is switched on (S = 1). 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Inputs: T, H, S.  Output: F.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F  =  (T OR H) AND S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Make sure you’re paying attention to the logical order, that’s why we group the T and H, but the S is separate</a:t>
            </a:r>
          </a:p>
          <a:p>
            <a:pPr marL="800100" lvl="1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It can be difficult to devise where these things should be split up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183738" y="185784"/>
            <a:ext cx="2633995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THE FAN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-&gt; Notes Q4 (a)-(b)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Q4 (a)  Write the Boolean expression for F.  [1]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Q4 (b)  Complete the eight-row truth table for F.  [2]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0" y="155968"/>
            <a:ext cx="4459994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THE FAN TABLE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A </a:t>
            </a: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Boolean expression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and a </a:t>
            </a: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logic diagram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both represent Boolean logic, just in two different forms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You are expected to know both for the exams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Brackets in the expression mean the logic gates must come first in the logic diagram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Each operator is one gate, a one to one relationship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81691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EXPRESSIONS AND DIAGRAMS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Q  =  (A AND B) OR (NOT C)</a:t>
            </a:r>
          </a:p>
          <a:p>
            <a:pPr marL="800100" lvl="1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Three operators, so three gates:</a:t>
            </a:r>
          </a:p>
          <a:p>
            <a:pPr marL="800100" lvl="1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A and B into an AND gate</a:t>
            </a:r>
          </a:p>
          <a:p>
            <a:pPr marL="800100" lvl="1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C into a NOT gate</a:t>
            </a:r>
          </a:p>
          <a:p>
            <a:pPr marL="800100" lvl="1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both of those outputs into an OR gate, giving Q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Use paper or an expo marker, and get a picture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0" y="215932"/>
            <a:ext cx="4012963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DRAWING ONE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600" dirty="0">
                <a:solidFill>
                  <a:schemeClr val="bg1"/>
                </a:solidFill>
                <a:latin typeface="Bahnschrift" panose="020B0502040204020203" pitchFamily="34" charset="0"/>
              </a:rPr>
              <a:t>-&gt; Notes Q5 (a)-(c)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bg1"/>
                </a:solidFill>
                <a:latin typeface="Bahnschrift" panose="020B0502040204020203" pitchFamily="34" charset="0"/>
              </a:rPr>
              <a:t>Q5 (a)  Draw the logic diagram for Q = (A AND B) OR (NOT C).  [2]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bg1"/>
                </a:solidFill>
                <a:latin typeface="Bahnschrift" panose="020B0502040204020203" pitchFamily="34" charset="0"/>
              </a:rPr>
              <a:t>Q5 (b)  Write the Boolean expression for the circuit in Q3.  [1]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bg1"/>
                </a:solidFill>
                <a:latin typeface="Bahnschrift" panose="020B0502040204020203" pitchFamily="34" charset="0"/>
              </a:rPr>
              <a:t>Q5 (c)  State the difference between the standard symbols for AND and NAND.  [1]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7413152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DIAGRAMS ON YOUR NOTES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Gates cost money, power and space, so a circuit that does the same job with fewer gates is a better circuit. </a:t>
            </a: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Boolean algebra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is how you find it.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Here are some ways to simplify logic expressions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   A AND A = A           </a:t>
            </a:r>
            <a:r>
              <a:rPr lang="en-US" sz="2400" dirty="0" err="1">
                <a:solidFill>
                  <a:schemeClr val="bg1"/>
                </a:solidFill>
                <a:latin typeface="Bahnschrift" panose="020B0502040204020203" pitchFamily="34" charset="0"/>
              </a:rPr>
              <a:t>A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OR A = A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   A AND 1 = A            A OR 0 = A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   A AND 0 = 0            A OR 1 = 1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   A AND NOT A = 0    A OR NOT A = 1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   NOT(NOT A) = A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   </a:t>
            </a: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De Morgan's laws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:  NOT(A AND B) = NOT A OR NOT 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135113" y="129275"/>
            <a:ext cx="5713057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BOOLEAN ALGEBRA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Q  =  (A AND B) OR (A AND NOT B) 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B is 1 in the first term and 0 in the second, so between them they cover every value of B.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B cannot change the answer at all. Q = A.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So, we’ve gone from three gates to literally none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You can always check a simplification using a truth table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9" y="155968"/>
            <a:ext cx="6587979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SIMPLIFYING, WORKED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E5F0EC9-CA2D-EC5A-4652-596B40CA80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3335916"/>
              </p:ext>
            </p:extLst>
          </p:nvPr>
        </p:nvGraphicFramePr>
        <p:xfrm>
          <a:off x="1265645" y="4486587"/>
          <a:ext cx="938973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4955">
                  <a:extLst>
                    <a:ext uri="{9D8B030D-6E8A-4147-A177-3AD203B41FA5}">
                      <a16:colId xmlns:a16="http://schemas.microsoft.com/office/drawing/2014/main" val="1628975959"/>
                    </a:ext>
                  </a:extLst>
                </a:gridCol>
                <a:gridCol w="1564955">
                  <a:extLst>
                    <a:ext uri="{9D8B030D-6E8A-4147-A177-3AD203B41FA5}">
                      <a16:colId xmlns:a16="http://schemas.microsoft.com/office/drawing/2014/main" val="1211947292"/>
                    </a:ext>
                  </a:extLst>
                </a:gridCol>
                <a:gridCol w="1564955">
                  <a:extLst>
                    <a:ext uri="{9D8B030D-6E8A-4147-A177-3AD203B41FA5}">
                      <a16:colId xmlns:a16="http://schemas.microsoft.com/office/drawing/2014/main" val="3053918516"/>
                    </a:ext>
                  </a:extLst>
                </a:gridCol>
                <a:gridCol w="1564955">
                  <a:extLst>
                    <a:ext uri="{9D8B030D-6E8A-4147-A177-3AD203B41FA5}">
                      <a16:colId xmlns:a16="http://schemas.microsoft.com/office/drawing/2014/main" val="326115773"/>
                    </a:ext>
                  </a:extLst>
                </a:gridCol>
                <a:gridCol w="1564955">
                  <a:extLst>
                    <a:ext uri="{9D8B030D-6E8A-4147-A177-3AD203B41FA5}">
                      <a16:colId xmlns:a16="http://schemas.microsoft.com/office/drawing/2014/main" val="2580487774"/>
                    </a:ext>
                  </a:extLst>
                </a:gridCol>
                <a:gridCol w="1564955">
                  <a:extLst>
                    <a:ext uri="{9D8B030D-6E8A-4147-A177-3AD203B41FA5}">
                      <a16:colId xmlns:a16="http://schemas.microsoft.com/office/drawing/2014/main" val="22934403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AND NOT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AND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4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5356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8173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4059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67999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600" dirty="0">
                <a:solidFill>
                  <a:schemeClr val="bg1"/>
                </a:solidFill>
                <a:latin typeface="Bahnschrift" panose="020B0502040204020203" pitchFamily="34" charset="0"/>
              </a:rPr>
              <a:t>-&gt; Notes Q6 (a)-(d) 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bg1"/>
                </a:solidFill>
                <a:latin typeface="Bahnschrift" panose="020B0502040204020203" pitchFamily="34" charset="0"/>
              </a:rPr>
              <a:t>Q6 (a)  Simplify A AND (A OR B).  [1]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bg1"/>
                </a:solidFill>
                <a:latin typeface="Bahnschrift" panose="020B0502040204020203" pitchFamily="34" charset="0"/>
              </a:rPr>
              <a:t>Q6 (b)  Simplify (A AND B) OR (A AND NOT B).  [1]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bg1"/>
                </a:solidFill>
                <a:latin typeface="Bahnschrift" panose="020B0502040204020203" pitchFamily="34" charset="0"/>
              </a:rPr>
              <a:t>Q6 (c)  Simplify NOT(NOT A).  [1]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bg1"/>
                </a:solidFill>
                <a:latin typeface="Bahnschrift" panose="020B0502040204020203" pitchFamily="34" charset="0"/>
              </a:rPr>
              <a:t>Q6 (d)  A circuit computes (A OR B) AND (A OR B). State how many gates can be removed, and why.  [1]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79024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SIMPLIFYING ON YOUR NOTES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Algebra works, but only if you spot how to simplify it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A </a:t>
            </a:r>
            <a:r>
              <a:rPr lang="en-US" sz="2400" b="1" i="1" dirty="0">
                <a:solidFill>
                  <a:srgbClr val="FF66CC"/>
                </a:solidFill>
                <a:latin typeface="Bahnschrift" panose="020B0502040204020203" pitchFamily="34" charset="0"/>
              </a:rPr>
              <a:t>Karnaugh map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finds the same answer visually 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It is the truth table redrawn as a grid, with the columns in the order 00, 01, 11, 10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Neighboring cells differ by exactly one bit, so anything you can group is something that bit cannot affect</a:t>
            </a:r>
          </a:p>
          <a:p>
            <a:pPr>
              <a:spcBef>
                <a:spcPts val="1200"/>
              </a:spcBef>
            </a:pPr>
            <a:endParaRPr lang="en-US" sz="24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183681" y="155968"/>
            <a:ext cx="491157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KARNAUGH MAPS</a:t>
            </a:r>
          </a:p>
        </p:txBody>
      </p:sp>
      <p:pic>
        <p:nvPicPr>
          <p:cNvPr id="2" name="Picture 1" descr="3 Variable K Map Karnaugh Map (K Map) – How To Simplify Boolean">
            <a:extLst>
              <a:ext uri="{FF2B5EF4-FFF2-40B4-BE49-F238E27FC236}">
                <a16:creationId xmlns:a16="http://schemas.microsoft.com/office/drawing/2014/main" id="{85862B84-CBC7-6349-215E-FB4C96C8D1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0641" y="3964836"/>
            <a:ext cx="5238750" cy="2581275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20BE3CF-C98E-E861-892D-49D2EB4F06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0670077"/>
              </p:ext>
            </p:extLst>
          </p:nvPr>
        </p:nvGraphicFramePr>
        <p:xfrm>
          <a:off x="396118" y="4609673"/>
          <a:ext cx="5699880" cy="15485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9976">
                  <a:extLst>
                    <a:ext uri="{9D8B030D-6E8A-4147-A177-3AD203B41FA5}">
                      <a16:colId xmlns:a16="http://schemas.microsoft.com/office/drawing/2014/main" val="348255421"/>
                    </a:ext>
                  </a:extLst>
                </a:gridCol>
                <a:gridCol w="1139976">
                  <a:extLst>
                    <a:ext uri="{9D8B030D-6E8A-4147-A177-3AD203B41FA5}">
                      <a16:colId xmlns:a16="http://schemas.microsoft.com/office/drawing/2014/main" val="1548842016"/>
                    </a:ext>
                  </a:extLst>
                </a:gridCol>
                <a:gridCol w="1139976">
                  <a:extLst>
                    <a:ext uri="{9D8B030D-6E8A-4147-A177-3AD203B41FA5}">
                      <a16:colId xmlns:a16="http://schemas.microsoft.com/office/drawing/2014/main" val="388093052"/>
                    </a:ext>
                  </a:extLst>
                </a:gridCol>
                <a:gridCol w="1139976">
                  <a:extLst>
                    <a:ext uri="{9D8B030D-6E8A-4147-A177-3AD203B41FA5}">
                      <a16:colId xmlns:a16="http://schemas.microsoft.com/office/drawing/2014/main" val="3818427422"/>
                    </a:ext>
                  </a:extLst>
                </a:gridCol>
                <a:gridCol w="1139976">
                  <a:extLst>
                    <a:ext uri="{9D8B030D-6E8A-4147-A177-3AD203B41FA5}">
                      <a16:colId xmlns:a16="http://schemas.microsoft.com/office/drawing/2014/main" val="2347574443"/>
                    </a:ext>
                  </a:extLst>
                </a:gridCol>
              </a:tblGrid>
              <a:tr h="516167">
                <a:tc>
                  <a:txBody>
                    <a:bodyPr/>
                    <a:lstStyle/>
                    <a:p>
                      <a:r>
                        <a:rPr lang="en-US" sz="2400" dirty="0"/>
                        <a:t>A\BC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2120295"/>
                  </a:ext>
                </a:extLst>
              </a:tr>
              <a:tr h="516167"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1341339"/>
                  </a:ext>
                </a:extLst>
              </a:tr>
              <a:tr h="516167"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636445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3790949" y="1239702"/>
            <a:ext cx="7417229" cy="487286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Copy each 1 from the truth table into its cell, then circle groups of 1s.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Groups must be rectangles of 1, 2, 4 or 8 cells </a:t>
            </a:r>
          </a:p>
          <a:p>
            <a:pPr marL="914400" lvl="1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Bigger groups are better. Groups may overlap, and the edges can wrap around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Read each group by keeping the variables that stay the same and dropping the ones that change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GROUPING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4A0F0BD-2291-96BD-6D87-87C397930B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3991763"/>
              </p:ext>
            </p:extLst>
          </p:nvPr>
        </p:nvGraphicFramePr>
        <p:xfrm>
          <a:off x="630768" y="3429000"/>
          <a:ext cx="2968626" cy="3417003"/>
        </p:xfrm>
        <a:graphic>
          <a:graphicData uri="http://schemas.openxmlformats.org/drawingml/2006/table">
            <a:tbl>
              <a:tblPr firstRow="1" firstCol="1" bandRow="1">
                <a:tableStyleId>{B301B821-A1FF-4177-AEE7-76D212191A09}</a:tableStyleId>
              </a:tblPr>
              <a:tblGrid>
                <a:gridCol w="741998">
                  <a:extLst>
                    <a:ext uri="{9D8B030D-6E8A-4147-A177-3AD203B41FA5}">
                      <a16:colId xmlns:a16="http://schemas.microsoft.com/office/drawing/2014/main" val="2703207986"/>
                    </a:ext>
                  </a:extLst>
                </a:gridCol>
                <a:gridCol w="741998">
                  <a:extLst>
                    <a:ext uri="{9D8B030D-6E8A-4147-A177-3AD203B41FA5}">
                      <a16:colId xmlns:a16="http://schemas.microsoft.com/office/drawing/2014/main" val="439201517"/>
                    </a:ext>
                  </a:extLst>
                </a:gridCol>
                <a:gridCol w="742315">
                  <a:extLst>
                    <a:ext uri="{9D8B030D-6E8A-4147-A177-3AD203B41FA5}">
                      <a16:colId xmlns:a16="http://schemas.microsoft.com/office/drawing/2014/main" val="753595135"/>
                    </a:ext>
                  </a:extLst>
                </a:gridCol>
                <a:gridCol w="742315">
                  <a:extLst>
                    <a:ext uri="{9D8B030D-6E8A-4147-A177-3AD203B41FA5}">
                      <a16:colId xmlns:a16="http://schemas.microsoft.com/office/drawing/2014/main" val="1054334769"/>
                    </a:ext>
                  </a:extLst>
                </a:gridCol>
              </a:tblGrid>
              <a:tr h="34662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A</a:t>
                      </a:r>
                      <a:endParaRPr lang="en-US" sz="2400"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B</a:t>
                      </a:r>
                      <a:endParaRPr lang="en-US" sz="2400"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C</a:t>
                      </a:r>
                      <a:endParaRPr lang="en-US" sz="2400"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Q</a:t>
                      </a:r>
                      <a:endParaRPr lang="en-US" sz="2400"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72315602"/>
                  </a:ext>
                </a:extLst>
              </a:tr>
              <a:tr h="34662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b="0">
                          <a:effectLst/>
                        </a:rPr>
                        <a:t>0</a:t>
                      </a:r>
                      <a:endParaRPr lang="en-US" sz="2400" b="0"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0</a:t>
                      </a:r>
                      <a:endParaRPr lang="en-US" sz="2400"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0</a:t>
                      </a:r>
                      <a:endParaRPr lang="en-US" sz="2400"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0</a:t>
                      </a:r>
                      <a:endParaRPr lang="en-US" sz="2400"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30767426"/>
                  </a:ext>
                </a:extLst>
              </a:tr>
              <a:tr h="34662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b="0">
                          <a:effectLst/>
                        </a:rPr>
                        <a:t>0</a:t>
                      </a:r>
                      <a:endParaRPr lang="en-US" sz="2400" b="0"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0</a:t>
                      </a:r>
                      <a:endParaRPr lang="en-US" sz="2400"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1</a:t>
                      </a:r>
                      <a:endParaRPr lang="en-US" sz="2400"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0</a:t>
                      </a:r>
                      <a:endParaRPr lang="en-US" sz="2400"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10146129"/>
                  </a:ext>
                </a:extLst>
              </a:tr>
              <a:tr h="34662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b="0">
                          <a:effectLst/>
                        </a:rPr>
                        <a:t>0</a:t>
                      </a:r>
                      <a:endParaRPr lang="en-US" sz="2400" b="0"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1</a:t>
                      </a:r>
                      <a:endParaRPr lang="en-US" sz="2400"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0</a:t>
                      </a:r>
                      <a:endParaRPr lang="en-US" sz="2400"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1</a:t>
                      </a:r>
                      <a:endParaRPr lang="en-US" sz="2400"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51989283"/>
                  </a:ext>
                </a:extLst>
              </a:tr>
              <a:tr h="34662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b="0">
                          <a:effectLst/>
                        </a:rPr>
                        <a:t>0</a:t>
                      </a:r>
                      <a:endParaRPr lang="en-US" sz="2400" b="0"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1</a:t>
                      </a:r>
                      <a:endParaRPr lang="en-US" sz="2400"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1</a:t>
                      </a:r>
                      <a:endParaRPr lang="en-US" sz="2400"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1</a:t>
                      </a:r>
                      <a:endParaRPr lang="en-US" sz="2400"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77905566"/>
                  </a:ext>
                </a:extLst>
              </a:tr>
              <a:tr h="34662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b="0">
                          <a:effectLst/>
                        </a:rPr>
                        <a:t>1</a:t>
                      </a:r>
                      <a:endParaRPr lang="en-US" sz="2400" b="0"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0</a:t>
                      </a:r>
                      <a:endParaRPr lang="en-US" sz="2400"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0</a:t>
                      </a:r>
                      <a:endParaRPr lang="en-US" sz="2400"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0</a:t>
                      </a:r>
                      <a:endParaRPr lang="en-US" sz="2400"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39947986"/>
                  </a:ext>
                </a:extLst>
              </a:tr>
              <a:tr h="34662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b="0">
                          <a:effectLst/>
                        </a:rPr>
                        <a:t>1</a:t>
                      </a:r>
                      <a:endParaRPr lang="en-US" sz="2400" b="0"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0</a:t>
                      </a:r>
                      <a:endParaRPr lang="en-US" sz="2400"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1</a:t>
                      </a:r>
                      <a:endParaRPr lang="en-US" sz="2400"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0</a:t>
                      </a:r>
                      <a:endParaRPr lang="en-US" sz="2400"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34855604"/>
                  </a:ext>
                </a:extLst>
              </a:tr>
              <a:tr h="34662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b="0">
                          <a:effectLst/>
                        </a:rPr>
                        <a:t>1</a:t>
                      </a:r>
                      <a:endParaRPr lang="en-US" sz="2400" b="0"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1</a:t>
                      </a:r>
                      <a:endParaRPr lang="en-US" sz="2400"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0</a:t>
                      </a:r>
                      <a:endParaRPr lang="en-US" sz="2400"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1</a:t>
                      </a:r>
                      <a:endParaRPr lang="en-US" sz="2400"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73908897"/>
                  </a:ext>
                </a:extLst>
              </a:tr>
              <a:tr h="34662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b="0" dirty="0">
                          <a:effectLst/>
                        </a:rPr>
                        <a:t>1</a:t>
                      </a:r>
                      <a:endParaRPr lang="en-US" sz="2400" b="0" dirty="0"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1</a:t>
                      </a:r>
                      <a:endParaRPr lang="en-US" sz="2400"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1</a:t>
                      </a:r>
                      <a:endParaRPr lang="en-US" sz="2400"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1</a:t>
                      </a:r>
                      <a:endParaRPr lang="en-US" sz="2400" dirty="0"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6713439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F02371A-55FB-388E-D2A1-6E175A7F28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9122207"/>
              </p:ext>
            </p:extLst>
          </p:nvPr>
        </p:nvGraphicFramePr>
        <p:xfrm>
          <a:off x="4204583" y="4997610"/>
          <a:ext cx="5699880" cy="15485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9976">
                  <a:extLst>
                    <a:ext uri="{9D8B030D-6E8A-4147-A177-3AD203B41FA5}">
                      <a16:colId xmlns:a16="http://schemas.microsoft.com/office/drawing/2014/main" val="348255421"/>
                    </a:ext>
                  </a:extLst>
                </a:gridCol>
                <a:gridCol w="1139976">
                  <a:extLst>
                    <a:ext uri="{9D8B030D-6E8A-4147-A177-3AD203B41FA5}">
                      <a16:colId xmlns:a16="http://schemas.microsoft.com/office/drawing/2014/main" val="1548842016"/>
                    </a:ext>
                  </a:extLst>
                </a:gridCol>
                <a:gridCol w="1139976">
                  <a:extLst>
                    <a:ext uri="{9D8B030D-6E8A-4147-A177-3AD203B41FA5}">
                      <a16:colId xmlns:a16="http://schemas.microsoft.com/office/drawing/2014/main" val="388093052"/>
                    </a:ext>
                  </a:extLst>
                </a:gridCol>
                <a:gridCol w="1139976">
                  <a:extLst>
                    <a:ext uri="{9D8B030D-6E8A-4147-A177-3AD203B41FA5}">
                      <a16:colId xmlns:a16="http://schemas.microsoft.com/office/drawing/2014/main" val="3818427422"/>
                    </a:ext>
                  </a:extLst>
                </a:gridCol>
                <a:gridCol w="1139976">
                  <a:extLst>
                    <a:ext uri="{9D8B030D-6E8A-4147-A177-3AD203B41FA5}">
                      <a16:colId xmlns:a16="http://schemas.microsoft.com/office/drawing/2014/main" val="2347574443"/>
                    </a:ext>
                  </a:extLst>
                </a:gridCol>
              </a:tblGrid>
              <a:tr h="516167">
                <a:tc>
                  <a:txBody>
                    <a:bodyPr/>
                    <a:lstStyle/>
                    <a:p>
                      <a:r>
                        <a:rPr lang="en-US" sz="2400" dirty="0"/>
                        <a:t>A\BC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2120295"/>
                  </a:ext>
                </a:extLst>
              </a:tr>
              <a:tr h="516167"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1341339"/>
                  </a:ext>
                </a:extLst>
              </a:tr>
              <a:tr h="516167"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6364450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1346375F-5A49-2FE0-61C1-79F8DFFFC74E}"/>
              </a:ext>
            </a:extLst>
          </p:cNvPr>
          <p:cNvSpPr/>
          <p:nvPr/>
        </p:nvSpPr>
        <p:spPr>
          <a:xfrm>
            <a:off x="7467118" y="5371707"/>
            <a:ext cx="2628900" cy="1352550"/>
          </a:xfrm>
          <a:prstGeom prst="rect">
            <a:avLst/>
          </a:prstGeom>
          <a:solidFill>
            <a:srgbClr val="FFC000">
              <a:alpha val="30196"/>
            </a:srgbClr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D7935D-DE41-01C0-C0E7-6ADB067D1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8A8AB514-5218-6DF6-8F1F-5E583E411FB8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B7C2CB6-F3A2-37AE-2413-6A317C4D328D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03B092C-F0CD-BC2A-C07E-2AA3FD19997D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0FBD91B-83DC-C6BA-9B53-83D0FF9D074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E8F32E-7507-BF8F-BC34-17AD153511A9}"/>
              </a:ext>
            </a:extLst>
          </p:cNvPr>
          <p:cNvSpPr/>
          <p:nvPr/>
        </p:nvSpPr>
        <p:spPr>
          <a:xfrm>
            <a:off x="3790949" y="1239702"/>
            <a:ext cx="7417229" cy="487286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Hmmm… </a:t>
            </a:r>
            <a:r>
              <a:rPr lang="en-US" sz="2400" dirty="0" err="1">
                <a:solidFill>
                  <a:schemeClr val="bg1"/>
                </a:solidFill>
                <a:latin typeface="Bahnschrift" panose="020B0502040204020203" pitchFamily="34" charset="0"/>
              </a:rPr>
              <a:t>y’know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 what…. it kind looks like only the value of B matters here, doesn’t it?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B86983-A8F0-0AEE-9736-D328AD80A284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GROUPING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19414F6-0082-3DFF-9C66-ABB179F251BC}"/>
              </a:ext>
            </a:extLst>
          </p:cNvPr>
          <p:cNvGraphicFramePr>
            <a:graphicFrameLocks noGrp="1"/>
          </p:cNvGraphicFramePr>
          <p:nvPr/>
        </p:nvGraphicFramePr>
        <p:xfrm>
          <a:off x="630768" y="3429000"/>
          <a:ext cx="2968626" cy="3417003"/>
        </p:xfrm>
        <a:graphic>
          <a:graphicData uri="http://schemas.openxmlformats.org/drawingml/2006/table">
            <a:tbl>
              <a:tblPr firstRow="1" firstCol="1" bandRow="1">
                <a:tableStyleId>{B301B821-A1FF-4177-AEE7-76D212191A09}</a:tableStyleId>
              </a:tblPr>
              <a:tblGrid>
                <a:gridCol w="741998">
                  <a:extLst>
                    <a:ext uri="{9D8B030D-6E8A-4147-A177-3AD203B41FA5}">
                      <a16:colId xmlns:a16="http://schemas.microsoft.com/office/drawing/2014/main" val="2703207986"/>
                    </a:ext>
                  </a:extLst>
                </a:gridCol>
                <a:gridCol w="741998">
                  <a:extLst>
                    <a:ext uri="{9D8B030D-6E8A-4147-A177-3AD203B41FA5}">
                      <a16:colId xmlns:a16="http://schemas.microsoft.com/office/drawing/2014/main" val="439201517"/>
                    </a:ext>
                  </a:extLst>
                </a:gridCol>
                <a:gridCol w="742315">
                  <a:extLst>
                    <a:ext uri="{9D8B030D-6E8A-4147-A177-3AD203B41FA5}">
                      <a16:colId xmlns:a16="http://schemas.microsoft.com/office/drawing/2014/main" val="753595135"/>
                    </a:ext>
                  </a:extLst>
                </a:gridCol>
                <a:gridCol w="742315">
                  <a:extLst>
                    <a:ext uri="{9D8B030D-6E8A-4147-A177-3AD203B41FA5}">
                      <a16:colId xmlns:a16="http://schemas.microsoft.com/office/drawing/2014/main" val="1054334769"/>
                    </a:ext>
                  </a:extLst>
                </a:gridCol>
              </a:tblGrid>
              <a:tr h="34662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A</a:t>
                      </a:r>
                      <a:endParaRPr lang="en-US" sz="2400"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B</a:t>
                      </a:r>
                      <a:endParaRPr lang="en-US" sz="2400"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C</a:t>
                      </a:r>
                      <a:endParaRPr lang="en-US" sz="2400"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Q</a:t>
                      </a:r>
                      <a:endParaRPr lang="en-US" sz="2400"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72315602"/>
                  </a:ext>
                </a:extLst>
              </a:tr>
              <a:tr h="34662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b="0">
                          <a:effectLst/>
                        </a:rPr>
                        <a:t>0</a:t>
                      </a:r>
                      <a:endParaRPr lang="en-US" sz="2400" b="0"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0</a:t>
                      </a:r>
                      <a:endParaRPr lang="en-US" sz="2400"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0</a:t>
                      </a:r>
                      <a:endParaRPr lang="en-US" sz="2400"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0</a:t>
                      </a:r>
                      <a:endParaRPr lang="en-US" sz="2400"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30767426"/>
                  </a:ext>
                </a:extLst>
              </a:tr>
              <a:tr h="34662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b="0">
                          <a:effectLst/>
                        </a:rPr>
                        <a:t>0</a:t>
                      </a:r>
                      <a:endParaRPr lang="en-US" sz="2400" b="0"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0</a:t>
                      </a:r>
                      <a:endParaRPr lang="en-US" sz="2400"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1</a:t>
                      </a:r>
                      <a:endParaRPr lang="en-US" sz="2400"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0</a:t>
                      </a:r>
                      <a:endParaRPr lang="en-US" sz="2400"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10146129"/>
                  </a:ext>
                </a:extLst>
              </a:tr>
              <a:tr h="34662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b="0">
                          <a:effectLst/>
                        </a:rPr>
                        <a:t>0</a:t>
                      </a:r>
                      <a:endParaRPr lang="en-US" sz="2400" b="0"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1</a:t>
                      </a:r>
                      <a:endParaRPr lang="en-US" sz="2400"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0</a:t>
                      </a:r>
                      <a:endParaRPr lang="en-US" sz="2400"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1</a:t>
                      </a:r>
                      <a:endParaRPr lang="en-US" sz="2400"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51989283"/>
                  </a:ext>
                </a:extLst>
              </a:tr>
              <a:tr h="34662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b="0">
                          <a:effectLst/>
                        </a:rPr>
                        <a:t>0</a:t>
                      </a:r>
                      <a:endParaRPr lang="en-US" sz="2400" b="0"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1</a:t>
                      </a:r>
                      <a:endParaRPr lang="en-US" sz="2400"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1</a:t>
                      </a:r>
                      <a:endParaRPr lang="en-US" sz="2400"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1</a:t>
                      </a:r>
                      <a:endParaRPr lang="en-US" sz="2400"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77905566"/>
                  </a:ext>
                </a:extLst>
              </a:tr>
              <a:tr h="34662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b="0">
                          <a:effectLst/>
                        </a:rPr>
                        <a:t>1</a:t>
                      </a:r>
                      <a:endParaRPr lang="en-US" sz="2400" b="0"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0</a:t>
                      </a:r>
                      <a:endParaRPr lang="en-US" sz="2400"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0</a:t>
                      </a:r>
                      <a:endParaRPr lang="en-US" sz="2400"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0</a:t>
                      </a:r>
                      <a:endParaRPr lang="en-US" sz="2400"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39947986"/>
                  </a:ext>
                </a:extLst>
              </a:tr>
              <a:tr h="34662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b="0">
                          <a:effectLst/>
                        </a:rPr>
                        <a:t>1</a:t>
                      </a:r>
                      <a:endParaRPr lang="en-US" sz="2400" b="0"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0</a:t>
                      </a:r>
                      <a:endParaRPr lang="en-US" sz="2400"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1</a:t>
                      </a:r>
                      <a:endParaRPr lang="en-US" sz="2400"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0</a:t>
                      </a:r>
                      <a:endParaRPr lang="en-US" sz="2400"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34855604"/>
                  </a:ext>
                </a:extLst>
              </a:tr>
              <a:tr h="34662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b="0">
                          <a:effectLst/>
                        </a:rPr>
                        <a:t>1</a:t>
                      </a:r>
                      <a:endParaRPr lang="en-US" sz="2400" b="0"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1</a:t>
                      </a:r>
                      <a:endParaRPr lang="en-US" sz="2400"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0</a:t>
                      </a:r>
                      <a:endParaRPr lang="en-US" sz="2400"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1</a:t>
                      </a:r>
                      <a:endParaRPr lang="en-US" sz="2400"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73908897"/>
                  </a:ext>
                </a:extLst>
              </a:tr>
              <a:tr h="34662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b="0" dirty="0">
                          <a:effectLst/>
                        </a:rPr>
                        <a:t>1</a:t>
                      </a:r>
                      <a:endParaRPr lang="en-US" sz="2400" b="0" dirty="0"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1</a:t>
                      </a:r>
                      <a:endParaRPr lang="en-US" sz="2400"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>
                          <a:effectLst/>
                        </a:rPr>
                        <a:t>1</a:t>
                      </a:r>
                      <a:endParaRPr lang="en-US" sz="2400"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1</a:t>
                      </a:r>
                      <a:endParaRPr lang="en-US" sz="2400" dirty="0">
                        <a:effectLst/>
                        <a:latin typeface="Bahnschrift" panose="020B0502040204020203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6713439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F29D917-071D-76EC-2A07-22E1B572F4A3}"/>
              </a:ext>
            </a:extLst>
          </p:cNvPr>
          <p:cNvGraphicFramePr>
            <a:graphicFrameLocks noGrp="1"/>
          </p:cNvGraphicFramePr>
          <p:nvPr/>
        </p:nvGraphicFramePr>
        <p:xfrm>
          <a:off x="4204583" y="4997610"/>
          <a:ext cx="5699880" cy="15485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9976">
                  <a:extLst>
                    <a:ext uri="{9D8B030D-6E8A-4147-A177-3AD203B41FA5}">
                      <a16:colId xmlns:a16="http://schemas.microsoft.com/office/drawing/2014/main" val="348255421"/>
                    </a:ext>
                  </a:extLst>
                </a:gridCol>
                <a:gridCol w="1139976">
                  <a:extLst>
                    <a:ext uri="{9D8B030D-6E8A-4147-A177-3AD203B41FA5}">
                      <a16:colId xmlns:a16="http://schemas.microsoft.com/office/drawing/2014/main" val="1548842016"/>
                    </a:ext>
                  </a:extLst>
                </a:gridCol>
                <a:gridCol w="1139976">
                  <a:extLst>
                    <a:ext uri="{9D8B030D-6E8A-4147-A177-3AD203B41FA5}">
                      <a16:colId xmlns:a16="http://schemas.microsoft.com/office/drawing/2014/main" val="388093052"/>
                    </a:ext>
                  </a:extLst>
                </a:gridCol>
                <a:gridCol w="1139976">
                  <a:extLst>
                    <a:ext uri="{9D8B030D-6E8A-4147-A177-3AD203B41FA5}">
                      <a16:colId xmlns:a16="http://schemas.microsoft.com/office/drawing/2014/main" val="3818427422"/>
                    </a:ext>
                  </a:extLst>
                </a:gridCol>
                <a:gridCol w="1139976">
                  <a:extLst>
                    <a:ext uri="{9D8B030D-6E8A-4147-A177-3AD203B41FA5}">
                      <a16:colId xmlns:a16="http://schemas.microsoft.com/office/drawing/2014/main" val="2347574443"/>
                    </a:ext>
                  </a:extLst>
                </a:gridCol>
              </a:tblGrid>
              <a:tr h="516167">
                <a:tc>
                  <a:txBody>
                    <a:bodyPr/>
                    <a:lstStyle/>
                    <a:p>
                      <a:r>
                        <a:rPr lang="en-US" sz="2400" dirty="0"/>
                        <a:t>A\BC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2120295"/>
                  </a:ext>
                </a:extLst>
              </a:tr>
              <a:tr h="516167"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1341339"/>
                  </a:ext>
                </a:extLst>
              </a:tr>
              <a:tr h="516167"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6364450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8E3964BD-813C-5F52-1149-61126F77F874}"/>
              </a:ext>
            </a:extLst>
          </p:cNvPr>
          <p:cNvSpPr/>
          <p:nvPr/>
        </p:nvSpPr>
        <p:spPr>
          <a:xfrm>
            <a:off x="7467118" y="5371707"/>
            <a:ext cx="2628900" cy="1352550"/>
          </a:xfrm>
          <a:prstGeom prst="rect">
            <a:avLst/>
          </a:prstGeom>
          <a:solidFill>
            <a:srgbClr val="FFC000">
              <a:alpha val="30196"/>
            </a:srgbClr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6138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600" dirty="0">
                <a:solidFill>
                  <a:schemeClr val="bg1"/>
                </a:solidFill>
                <a:latin typeface="Bahnschrift" panose="020B0502040204020203" pitchFamily="34" charset="0"/>
              </a:rPr>
              <a:t>-&gt; Notes Q7 (a)-(c) [4 marks] - do them now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bg1"/>
                </a:solidFill>
                <a:latin typeface="Bahnschrift" panose="020B0502040204020203" pitchFamily="34" charset="0"/>
              </a:rPr>
              <a:t>Q7 (a)  Complete the Karnaugh map from the truth table given.  [2]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bg1"/>
                </a:solidFill>
                <a:latin typeface="Bahnschrift" panose="020B0502040204020203" pitchFamily="34" charset="0"/>
              </a:rPr>
              <a:t>Q7 (b)  Circle the largest group and write the simplified expression.  [1]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600" dirty="0">
                <a:solidFill>
                  <a:schemeClr val="bg1"/>
                </a:solidFill>
                <a:latin typeface="Bahnschrift" panose="020B0502040204020203" pitchFamily="34" charset="0"/>
              </a:rPr>
              <a:t>Q7 (c)  State one advantage of a Karnaugh map over algebraic simplification.  [1]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K-MAPS ON YOUR NOTES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-&gt; Notes Q8, Q9 and Q10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Q8   State the Boolean operator that outputs 1 only when its two inputs are different.  [1]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Q9   Construct a truth table for Q = NOT A OR (B AND C).  [3]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Q10  A door opens when a valid card is presented (C = 1) and either the manager is present (M = 1) or it is within opening hours (H = 1). Write the expression and draw the diagram.  [4]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LAB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Q8   XOR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Q9   Q = 1 1 1 1 0 0 0 1 reading down from A=0,B=0,C=0. Only the three rows where A is 1 and B AND C is 0 give 0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Q10  D = C AND (M OR H). One OR gate taking M and H, its output and C into an AND gate. Brackets, or the door opens on the manager alone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LAB ANSWERS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AB3DC8-54BC-25AF-D0F0-8206AB345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CB18368-96B9-B5F9-7AB4-7B0E8F2CAAB4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9FF08F2-5075-C0EF-E554-A00833F7D844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D1754F0-8C1C-E1D7-995E-CCEE43027367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448865E-B2DE-BF4A-3397-D882A82A95B5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D9FA7A-3395-0222-5ABF-824301ECC1C0}"/>
              </a:ext>
            </a:extLst>
          </p:cNvPr>
          <p:cNvSpPr/>
          <p:nvPr/>
        </p:nvSpPr>
        <p:spPr>
          <a:xfrm>
            <a:off x="-358628" y="155968"/>
            <a:ext cx="914067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WS A1-2: DIAGRAM DOUBLE DOWN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Five sections: name the gate, build tables, draw diagrams, simplify, and one Karnaugh map.</a:t>
            </a:r>
          </a:p>
        </p:txBody>
      </p:sp>
    </p:spTree>
    <p:extLst>
      <p:ext uri="{BB962C8B-B14F-4D97-AF65-F5344CB8AC3E}">
        <p14:creationId xmlns:p14="http://schemas.microsoft.com/office/powerpoint/2010/main" val="33067152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4492775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Logic gate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Boolean operator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Truth table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Logic diagram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Boolean expression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AND / OR / NOT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NAND / NOR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  <a:latin typeface="Bahnschrift SemiBold" panose="020B0502040204020203" pitchFamily="34" charset="0"/>
              </a:rPr>
              <a:t>VOCABULARY TO REMEMBER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8F6C99-7DA9-E963-361C-ABB7A467AD11}"/>
              </a:ext>
            </a:extLst>
          </p:cNvPr>
          <p:cNvSpPr/>
          <p:nvPr/>
        </p:nvSpPr>
        <p:spPr>
          <a:xfrm>
            <a:off x="5354429" y="1299334"/>
            <a:ext cx="3606371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rm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XOR / XNOR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Inverter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Boolean algebra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De Morgan's laws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Karnaugh map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Grouping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Redundant gate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Custom 1">
      <a:majorFont>
        <a:latin typeface="Bahnschrift"/>
        <a:ea typeface=""/>
        <a:cs typeface=""/>
      </a:majorFont>
      <a:minorFont>
        <a:latin typeface="Bahnschrif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45614</TotalTime>
  <Words>2114</Words>
  <Application>Microsoft Office PowerPoint</Application>
  <PresentationFormat>Widescreen</PresentationFormat>
  <Paragraphs>411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Aptos</vt:lpstr>
      <vt:lpstr>Arial</vt:lpstr>
      <vt:lpstr>Bahnschrift</vt:lpstr>
      <vt:lpstr>Bahnschrift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40</cp:revision>
  <dcterms:created xsi:type="dcterms:W3CDTF">2025-08-11T14:07:39Z</dcterms:created>
  <dcterms:modified xsi:type="dcterms:W3CDTF">2026-08-28T19:53:01Z</dcterms:modified>
</cp:coreProperties>
</file>