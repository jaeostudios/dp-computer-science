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4" r:id="rId10"/>
    <p:sldId id="265" r:id="rId11"/>
    <p:sldId id="266" r:id="rId12"/>
    <p:sldId id="267" r:id="rId13"/>
    <p:sldId id="296" r:id="rId14"/>
    <p:sldId id="290" r:id="rId15"/>
    <p:sldId id="269" r:id="rId16"/>
    <p:sldId id="292" r:id="rId17"/>
    <p:sldId id="297" r:id="rId18"/>
    <p:sldId id="298" r:id="rId19"/>
    <p:sldId id="293" r:id="rId20"/>
    <p:sldId id="294" r:id="rId21"/>
    <p:sldId id="270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4" autoAdjust="0"/>
    <p:restoredTop sz="89467" autoAdjust="0"/>
  </p:normalViewPr>
  <p:slideViewPr>
    <p:cSldViewPr snapToGrid="0">
      <p:cViewPr varScale="1">
        <p:scale>
          <a:sx n="57" d="100"/>
          <a:sy n="57" d="100"/>
        </p:scale>
        <p:origin x="72" y="9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18T17:36:14.676" v="14" actId="20577"/>
      <pc:docMkLst>
        <pc:docMk/>
      </pc:docMkLst>
      <pc:sldChg chg="modSp mod">
        <pc:chgData name="Michael Hill" userId="41dba03d-e58d-4389-9894-554c10310ba4" providerId="ADAL" clId="{EF23FE1D-A042-481E-AFD7-2A9FB0847F54}" dt="2026-09-18T17:18:07.201" v="1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9-18T17:18:07.201" v="10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modSp mod">
        <pc:chgData name="Michael Hill" userId="41dba03d-e58d-4389-9894-554c10310ba4" providerId="ADAL" clId="{EF23FE1D-A042-481E-AFD7-2A9FB0847F54}" dt="2026-09-18T17:36:14.676" v="14" actId="20577"/>
        <pc:sldMkLst>
          <pc:docMk/>
          <pc:sldMk cId="0" sldId="267"/>
        </pc:sldMkLst>
        <pc:spChg chg="mod">
          <ac:chgData name="Michael Hill" userId="41dba03d-e58d-4389-9894-554c10310ba4" providerId="ADAL" clId="{EF23FE1D-A042-481E-AFD7-2A9FB0847F54}" dt="2026-09-18T17:36:14.676" v="14" actId="20577"/>
          <ac:spMkLst>
            <pc:docMk/>
            <pc:sldMk cId="0" sldId="267"/>
            <ac:spMk id="8" creationId="{1812F390-3309-32E6-4E5B-EF9BB6857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F274-E0A9-936B-5A11-1BAC70E4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11D6B-32EB-3670-7E4D-486ED3516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80D63-1BE4-FE8C-ECDA-7652CA4FE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99FE6-425D-E76E-A0AB-7F60416DB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0887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BC24-FBBC-B1C7-07C3-5D13F367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F7B08-B081-AFCB-0DE0-1ED761910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C58DE-F4E9-70E8-296A-AD2600380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65B0-E6E5-DFF9-4057-EF20A7486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2789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79A4-B6E4-2D1E-4CFD-4662F677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C27A7-4168-7F69-6B0D-03D9ECFE2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90426-AC57-4050-11F4-15375DF44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A402C-8B11-A84E-AA1C-1265906B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8498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39B3-9543-AB9C-A432-8B4EEB1E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CFF66-2D3D-1853-B853-9A844D9A7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FB4E9-8BF1-8D4C-9DF5-6B8B940D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64DD-B666-655F-9208-031598529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7344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8A91C-5137-C94F-5841-0411A41C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88873-6A7A-71E4-60AC-4DD2746D9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478B8-148D-4F1A-E7AE-9734B334A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5CB18-9A4B-D530-AD85-849F5911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34408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6B8A-9FB6-AABF-EAEA-3904CBC0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DFB6B-F58B-ABB1-42BF-D6156698B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6A2E0-B53C-19FE-9057-E6C8216C3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0263-AC26-3718-78C2-758F7899D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0776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E834-75CC-AF09-320C-C86CB3B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9E5F4-67D0-B9E5-8934-17198567D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4C483-77BD-84DF-8E32-E1893EB54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11B34-E63A-44FE-51C0-C55142E3B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9467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A1-9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683623" y="3728134"/>
            <a:ext cx="4307401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TRANSLATION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6C078528-844D-80C4-DF0A-A58D1BCD28EB}"/>
              </a:ext>
            </a:extLst>
          </p:cNvPr>
          <p:cNvSpPr/>
          <p:nvPr/>
        </p:nvSpPr>
        <p:spPr>
          <a:xfrm>
            <a:off x="10116062" y="1476390"/>
            <a:ext cx="1647265" cy="1647265"/>
          </a:xfrm>
          <a:prstGeom prst="star12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 pen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 calculator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Nothing else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Why translation exists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Compilers and interpreters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The autopsy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The bytecode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Translation time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Just-in-time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a translator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what is meant by a deadline in a control system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We are familiar with writing programs in Python. State what the CPU actually executes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one reason the CPU cannot execute Python directly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The time by which the loop must finish, or the system has failed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Machine code/assembly - binary instructions from its own instruction 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The CPU only knows how to decode its own operations… The CPU runs 1s and 0s on Logic gates… etc.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Source code</a:t>
            </a:r>
            <a:r>
              <a:rPr lang="en-US" sz="2400" dirty="0">
                <a:latin typeface="Bahnschrift" panose="020B0502040204020203" pitchFamily="34" charset="0"/>
              </a:rPr>
              <a:t> is what you write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Machine code </a:t>
            </a:r>
            <a:r>
              <a:rPr lang="en-US" sz="2400" dirty="0">
                <a:latin typeface="Bahnschrift" panose="020B0502040204020203" pitchFamily="34" charset="0"/>
              </a:rPr>
              <a:t>is what runs on the computer itself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a.k.a. assembly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translator</a:t>
            </a:r>
            <a:r>
              <a:rPr lang="en-US" sz="2400" dirty="0">
                <a:latin typeface="Bahnschrift" panose="020B0502040204020203" pitchFamily="34" charset="0"/>
              </a:rPr>
              <a:t> turns one into the other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reason we write code in Python, and not in assembly, is because it’s easier for us to understand , not because the CPU understands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(a), (b) and (c)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8706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WHY TRANSLATION EXISTS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04821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compiler</a:t>
            </a:r>
            <a:r>
              <a:rPr lang="en-US" sz="2400" dirty="0">
                <a:latin typeface="Bahnschrift" panose="020B0502040204020203" pitchFamily="34" charset="0"/>
              </a:rPr>
              <a:t> translates the whole program from source code into machine code, then it runs the program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Languages with compilers: C/++, Java, C#, lots of boomer languages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interpreter</a:t>
            </a:r>
            <a:r>
              <a:rPr lang="en-US" sz="2400" dirty="0">
                <a:latin typeface="Bahnschrift" panose="020B0502040204020203" pitchFamily="34" charset="0"/>
              </a:rPr>
              <a:t> translates and runs one statement at a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BASIC, </a:t>
            </a:r>
            <a:r>
              <a:rPr lang="en-US" sz="2400" dirty="0" err="1">
                <a:latin typeface="Bahnschrift" panose="020B0502040204020203" pitchFamily="34" charset="0"/>
              </a:rPr>
              <a:t>Javascript</a:t>
            </a:r>
            <a:r>
              <a:rPr lang="en-US" sz="2400" dirty="0">
                <a:latin typeface="Bahnschrift" panose="020B0502040204020203" pitchFamily="34" charset="0"/>
              </a:rPr>
              <a:t>, etc.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Compliers do all of the work up front, and interpreters do it as the program goes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Python is a mixture of the two: it compiles when you run it, but the script you launch is recompiled every time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Only modules you import keep their compiled code, they are .</a:t>
            </a:r>
            <a:r>
              <a:rPr lang="en-US" sz="2400" dirty="0" err="1">
                <a:latin typeface="Bahnschrift" panose="020B0502040204020203" pitchFamily="34" charset="0"/>
              </a:rPr>
              <a:t>pyc</a:t>
            </a:r>
            <a:r>
              <a:rPr lang="en-US" sz="2400" dirty="0">
                <a:latin typeface="Bahnschrift" panose="020B0502040204020203" pitchFamily="34" charset="0"/>
              </a:rPr>
              <a:t>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07074" y="155968"/>
            <a:ext cx="926160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COMPILERS AND INTERPRETERS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7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IB lists these as the main differences between compilers and interpreters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(a) and (b)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87236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COMPILERS AND INTERPRETERS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22137"/>
              </p:ext>
            </p:extLst>
          </p:nvPr>
        </p:nvGraphicFramePr>
        <p:xfrm>
          <a:off x="1046000" y="3200000"/>
          <a:ext cx="101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Compiler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Interpreter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Error detection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Before it runs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When it reaches the line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Translation time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Once, up front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Every single run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Portability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One build per platform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Source runs </a:t>
                      </a:r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on any platform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Applicability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Performance-critical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Rapid development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57B42-E855-5BF6-9CFE-E35B5365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3CE356-08A4-059A-2CFF-0D881D8B83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0951B9-2253-C0D0-5019-2147FAD04A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BE72E1-2D87-A5F7-DCC6-F51856F3841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22E449-2EF6-7AB9-7017-AA3170AC5C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7856D-922C-7063-AD8F-78107EA41351}"/>
              </a:ext>
            </a:extLst>
          </p:cNvPr>
          <p:cNvSpPr/>
          <p:nvPr/>
        </p:nvSpPr>
        <p:spPr>
          <a:xfrm>
            <a:off x="630768" y="1299334"/>
            <a:ext cx="10341382" cy="18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Here’s a receipt generator program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We’re going to modify one character of this program to demonstrate the different ways that Python handles its conversion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8B42D-5F3F-CD25-3E4A-9705A319DE90}"/>
              </a:ext>
            </a:extLst>
          </p:cNvPr>
          <p:cNvSpPr/>
          <p:nvPr/>
        </p:nvSpPr>
        <p:spPr>
          <a:xfrm>
            <a:off x="61984" y="185716"/>
            <a:ext cx="3643695" cy="69219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AUTOPSY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9ED77D-B160-003A-DD7B-D95B6DD2A2E5}"/>
              </a:ext>
            </a:extLst>
          </p:cNvPr>
          <p:cNvSpPr/>
          <p:nvPr/>
        </p:nvSpPr>
        <p:spPr>
          <a:xfrm>
            <a:off x="1134533" y="3676027"/>
            <a:ext cx="9837617" cy="299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"Opening the cash register..."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 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"bread"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"milk"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"eggs"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total = total +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"Scanned"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"Items"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"Thank you for shopping"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customer_name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97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8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Version A – remove the closing parenthesis on line 7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 [1 mark] - how many lines print first?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365433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AUTOPSY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BADF0D-E555-20B6-B97C-D797450C233E}"/>
              </a:ext>
            </a:extLst>
          </p:cNvPr>
          <p:cNvSpPr/>
          <p:nvPr/>
        </p:nvSpPr>
        <p:spPr>
          <a:xfrm>
            <a:off x="1134533" y="3676027"/>
            <a:ext cx="9837617" cy="299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"Opening the cash register..."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 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"bread"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"milk"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"eggs"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total = total +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"Scanned"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"Items"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"Thank you for shopping"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customer_name</a:t>
            </a:r>
            <a:endParaRPr lang="en-US" sz="2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1561232" cy="15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Version B – run the code as is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(b) [1 mark] - how many lines print first?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38946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AUTOPSY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651F08-B9D8-2707-6B4C-D37EFA8F074F}"/>
              </a:ext>
            </a:extLst>
          </p:cNvPr>
          <p:cNvSpPr/>
          <p:nvPr/>
        </p:nvSpPr>
        <p:spPr>
          <a:xfrm>
            <a:off x="1134533" y="3676027"/>
            <a:ext cx="9837617" cy="299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"Opening the cash register..."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 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"bread"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"milk"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"eggs"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total = total +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"Scanned"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item)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"Items"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"Thank you for shopping"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customer_name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Zero lines, then five lines. Same file, even though the error is from the same line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Python read the whole file and ‘compiled’ it before running line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 mismatched parenthesis got caught then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That is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compile-time</a:t>
            </a:r>
            <a:r>
              <a:rPr lang="en-US" sz="2400" dirty="0">
                <a:latin typeface="Bahnschrift" panose="020B0502040204020203" pitchFamily="34" charset="0"/>
              </a:rPr>
              <a:t> error detection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wrong variable name is only caught when the line runs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run-time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error detection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(c)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6957" y="155968"/>
            <a:ext cx="385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AUTOPSY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4595129" y="2725712"/>
            <a:ext cx="6517799" cy="40703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Python compiles first, there must be something it compiles to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called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bytecode</a:t>
            </a:r>
            <a:r>
              <a:rPr lang="en-US" sz="2400" dirty="0">
                <a:latin typeface="Bahnschrift" panose="020B0502040204020203" pitchFamily="34" charset="0"/>
              </a:rPr>
              <a:t>, and this is something we can actually see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python -m dis &lt;insertscriptnamehere.py&gt; prints it for any script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only saved for modules you import, not the script you run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(a), (b) and (c)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29275"/>
            <a:ext cx="43010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BYTECODE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1D1DA-8D3A-5D24-2E06-972CC2B5D727}"/>
              </a:ext>
            </a:extLst>
          </p:cNvPr>
          <p:cNvSpPr/>
          <p:nvPr/>
        </p:nvSpPr>
        <p:spPr>
          <a:xfrm>
            <a:off x="5088895" y="38743"/>
            <a:ext cx="6193367" cy="22100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calculate_running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prices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running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prices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running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running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</a:t>
            </a:r>
            <a:b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running</a:t>
            </a:r>
            <a:endParaRPr lang="en-US" sz="2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A6CD71-2BC7-394F-97A7-BE53AD8C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014"/>
          <a:stretch>
            <a:fillRect/>
          </a:stretch>
        </p:blipFill>
        <p:spPr>
          <a:xfrm>
            <a:off x="203374" y="1209014"/>
            <a:ext cx="4662006" cy="51608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70165-466E-06EE-872A-CFAA5429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B313672-7C73-9A2A-8CBD-E6567F9C59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B811BA-21A0-4D0A-7811-50706F908E3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9E2049-77C7-49C1-F3D8-5EDB35F410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2F4FA-057C-0549-256C-0A2DB43633C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94D093-6479-0C9A-1662-505E2510D8AC}"/>
              </a:ext>
            </a:extLst>
          </p:cNvPr>
          <p:cNvSpPr/>
          <p:nvPr/>
        </p:nvSpPr>
        <p:spPr>
          <a:xfrm>
            <a:off x="630768" y="1299334"/>
            <a:ext cx="10341382" cy="24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When you run a script in Python for the first time, it will compile into a .</a:t>
            </a:r>
            <a:r>
              <a:rPr lang="en-US" sz="2400" dirty="0" err="1">
                <a:latin typeface="Bahnschrift" panose="020B0502040204020203" pitchFamily="34" charset="0"/>
              </a:rPr>
              <a:t>pyc</a:t>
            </a:r>
            <a:r>
              <a:rPr lang="en-US" sz="2400" dirty="0">
                <a:latin typeface="Bahnschrift" panose="020B0502040204020203" pitchFamily="34" charset="0"/>
              </a:rPr>
              <a:t> file (python compiled), a bytecode file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Windows hides these files by default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run the script again without changing it, Python will run that file instead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EBF37-EAE6-7B69-01A4-E71BA49A6022}"/>
              </a:ext>
            </a:extLst>
          </p:cNvPr>
          <p:cNvSpPr/>
          <p:nvPr/>
        </p:nvSpPr>
        <p:spPr>
          <a:xfrm>
            <a:off x="0" y="129275"/>
            <a:ext cx="42418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BYTECODE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15DA8D-922D-49B3-A949-9F729B76EE07}"/>
              </a:ext>
            </a:extLst>
          </p:cNvPr>
          <p:cNvGraphicFramePr>
            <a:graphicFrameLocks noGrp="1"/>
          </p:cNvGraphicFramePr>
          <p:nvPr/>
        </p:nvGraphicFramePr>
        <p:xfrm>
          <a:off x="946000" y="3900000"/>
          <a:ext cx="103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First run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Every run after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Time to import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140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17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it does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Compiles, then runs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Reads the .pyc, runs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File on disk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bigmod.py 397 KB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bigmod.pyc 673 KB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0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24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Measured on one laptop, on a 24,000-line script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.pyc is BIGGER than the source, but it is much faster to run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(d) [1 mark]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0" y="129275"/>
            <a:ext cx="42418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BYTECODE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6657"/>
              </p:ext>
            </p:extLst>
          </p:nvPr>
        </p:nvGraphicFramePr>
        <p:xfrm>
          <a:off x="946000" y="3900000"/>
          <a:ext cx="103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8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First run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Every run after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Time to import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140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17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it does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Compiles, then runs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Reads the .pyc, runs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File on disk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bigmod.py 397 KB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bigmod.pyc</a:t>
                      </a:r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 673 KB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Compiling takes a of time for a CPU, relative to other actions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But, it prevents us from distributing that time over and over again across runs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Assume compiling costs 900 ms, then each run costs 40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And an interpreter costs 250 ms every single run, assuming it doesn’t cache any files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2015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TRANSLATION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6211C-F9A2-5ADB-DD91-ECA4F93D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FB136C-9555-17D4-77E0-B75B169C8A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E349E7-D140-DDE1-1AE0-E503CA3BB9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790C43-47B4-5D41-C8F3-52ED95DC073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19486D-5FF5-01B4-F073-9C2A23D3BAE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A455F-C5CF-36BC-55AF-F2BB6F03D133}"/>
              </a:ext>
            </a:extLst>
          </p:cNvPr>
          <p:cNvSpPr/>
          <p:nvPr/>
        </p:nvSpPr>
        <p:spPr>
          <a:xfrm>
            <a:off x="630768" y="1299334"/>
            <a:ext cx="10341382" cy="17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 who wins depends entirely on how many times you run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(c) [1 mark]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9645A-DF94-959C-BF2B-DE2C0ADD2E30}"/>
              </a:ext>
            </a:extLst>
          </p:cNvPr>
          <p:cNvSpPr/>
          <p:nvPr/>
        </p:nvSpPr>
        <p:spPr>
          <a:xfrm>
            <a:off x="-81168" y="155968"/>
            <a:ext cx="52015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TRANSLATION TIME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3200000"/>
          <a:ext cx="102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Runs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Compiled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Interpreted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940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1060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1100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20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1700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5000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049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ADF04-FFF9-8041-53AF-9F9121B1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FABEC7-BA39-DA2E-79B9-0BDEB062BBE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765671-F39E-E4CF-C80F-0F948071568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B13C3-11C9-E592-CF25-67E7125280B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2AF8FF-0C14-56C1-22E0-9A2BFD0625C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C55C0C-81DD-32E9-5598-CDD6A3E251D4}"/>
              </a:ext>
            </a:extLst>
          </p:cNvPr>
          <p:cNvSpPr/>
          <p:nvPr/>
        </p:nvSpPr>
        <p:spPr>
          <a:xfrm>
            <a:off x="630768" y="1299334"/>
            <a:ext cx="10341382" cy="17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err="1">
                <a:latin typeface="Bahnschrift" panose="020B0502040204020203" pitchFamily="34" charset="0"/>
              </a:rPr>
              <a:t>hMMM</a:t>
            </a:r>
            <a:endParaRPr lang="en-US" sz="2400" dirty="0"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an idea we’ve seen before, anyone remember where?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51491-EACB-BA51-C447-7220C508B4A5}"/>
              </a:ext>
            </a:extLst>
          </p:cNvPr>
          <p:cNvSpPr/>
          <p:nvPr/>
        </p:nvSpPr>
        <p:spPr>
          <a:xfrm>
            <a:off x="-81168" y="155968"/>
            <a:ext cx="52015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TRANSLATION TIME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B26207D-D1E4-5CCD-DD82-DA290B141D7E}"/>
              </a:ext>
            </a:extLst>
          </p:cNvPr>
          <p:cNvGraphicFramePr>
            <a:graphicFrameLocks noGrp="1"/>
          </p:cNvGraphicFramePr>
          <p:nvPr/>
        </p:nvGraphicFramePr>
        <p:xfrm>
          <a:off x="996000" y="3200000"/>
          <a:ext cx="102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Runs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Compiled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Interpreted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940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1060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1100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20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1700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5000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93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00FDE-971A-A82D-B7FB-1C7CB0C1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F196374-81A0-CDA0-40EC-5A21A0EB918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A656B-E9DF-DA73-B315-9712B368A1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5779C3-AD3E-630B-2D03-C0F4D7298F3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AA82F0-703A-6237-C624-9D031FA3EB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92EF0-6830-8A9A-5456-E93DC66E0BEA}"/>
              </a:ext>
            </a:extLst>
          </p:cNvPr>
          <p:cNvSpPr/>
          <p:nvPr/>
        </p:nvSpPr>
        <p:spPr>
          <a:xfrm>
            <a:off x="630768" y="1299334"/>
            <a:ext cx="10341382" cy="17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said ‘sorting a list before doing a binary search as compared to simply doing a linear search’ your brain works like mine does!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BAD902-8643-C004-FA27-FA977A49E778}"/>
              </a:ext>
            </a:extLst>
          </p:cNvPr>
          <p:cNvSpPr/>
          <p:nvPr/>
        </p:nvSpPr>
        <p:spPr>
          <a:xfrm>
            <a:off x="-81168" y="155968"/>
            <a:ext cx="52015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TRANSLATION TIME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AF9BBAF-630F-C5BF-4FA4-DA29B6C43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49358"/>
              </p:ext>
            </p:extLst>
          </p:nvPr>
        </p:nvGraphicFramePr>
        <p:xfrm>
          <a:off x="996000" y="3200000"/>
          <a:ext cx="6058523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Runs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Compiled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Interpreted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940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1060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1100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1250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20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1700 ms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5000 </a:t>
                      </a:r>
                      <a:r>
                        <a:rPr sz="17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ms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Meditation for Brain Power: Brain Exercises for Stress">
            <a:extLst>
              <a:ext uri="{FF2B5EF4-FFF2-40B4-BE49-F238E27FC236}">
                <a16:creationId xmlns:a16="http://schemas.microsoft.com/office/drawing/2014/main" id="{548768E1-875B-73C4-B363-72713CA81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283" y="3470211"/>
            <a:ext cx="3699867" cy="22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57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95B68-326A-D562-94CD-CE0DA5B4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40CAB84-BF2C-7BCE-E714-064F1F542F5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BF646A-8378-5BDA-B577-8307A117F9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6A35A9-A291-6465-34D8-13546FE2ED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1D98F7-C0F5-E442-374A-0039748B512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2CD41-0AB0-14C1-088F-4FEF1CE4E7D1}"/>
              </a:ext>
            </a:extLst>
          </p:cNvPr>
          <p:cNvSpPr/>
          <p:nvPr/>
        </p:nvSpPr>
        <p:spPr>
          <a:xfrm>
            <a:off x="630768" y="1299333"/>
            <a:ext cx="10341382" cy="3509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JIT</a:t>
            </a:r>
            <a:r>
              <a:rPr lang="en-US" sz="2400" dirty="0">
                <a:latin typeface="Bahnschrift" panose="020B0502040204020203" pitchFamily="34" charset="0"/>
              </a:rPr>
              <a:t> compilation waits until the program is already running to decide what to compile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watches which parts run often, then compiles only those to machine code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First pass is slow, and anything that runs frequently speeds up once it’s compiled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 (a) and (b)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473A1D-E623-81D7-66A3-E1FA0D9D04F7}"/>
              </a:ext>
            </a:extLst>
          </p:cNvPr>
          <p:cNvSpPr/>
          <p:nvPr/>
        </p:nvSpPr>
        <p:spPr>
          <a:xfrm>
            <a:off x="64821" y="155968"/>
            <a:ext cx="381302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JUST-IN-TIME</a:t>
            </a:r>
          </a:p>
        </p:txBody>
      </p:sp>
    </p:spTree>
    <p:extLst>
      <p:ext uri="{BB962C8B-B14F-4D97-AF65-F5344CB8AC3E}">
        <p14:creationId xmlns:p14="http://schemas.microsoft.com/office/powerpoint/2010/main" val="333184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C9DF4-C9EB-702B-913F-3B467473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162008B-B2B3-8FC8-68E5-43068C4FF7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70075E-0BDE-B84E-D438-EA3CA7386F3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BB3CCE-618F-62A1-3AB5-0B230317EC9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3D37C-2F65-3833-C874-7FE138AB80C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2B347-65A9-34BF-0EDF-FCCBBD01DFEF}"/>
              </a:ext>
            </a:extLst>
          </p:cNvPr>
          <p:cNvSpPr/>
          <p:nvPr/>
        </p:nvSpPr>
        <p:spPr>
          <a:xfrm>
            <a:off x="630768" y="1299334"/>
            <a:ext cx="10341382" cy="17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Choosing the right option for the right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4BE8A-7317-9F0E-1A4E-CCC87DACFBE4}"/>
              </a:ext>
            </a:extLst>
          </p:cNvPr>
          <p:cNvSpPr/>
          <p:nvPr/>
        </p:nvSpPr>
        <p:spPr>
          <a:xfrm>
            <a:off x="-265201" y="165132"/>
            <a:ext cx="696262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A TRANSLATOR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3200000"/>
          <a:ext cx="102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Scenario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Pick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Because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Rapid development and testing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Interpreter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No wait between edit and result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Performance-critical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Compiler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Translation already paid for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Cross-platform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Bytecode + JIT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One build, many machines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233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Q8, Q9 and Q10 [8 marks] — silent, seven minutes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Q8 Explain why an interpreter suits rapid development and testing [3]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Q9 Explain why a compiled language is chosen for performance-critical work [2]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Q10 Evaluate a bytecode interpreter for a program that must run on Windows, macOS and Linux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37173" y="185784"/>
            <a:ext cx="12530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Source code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Machine code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Translator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Compiler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Interpreter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Compile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Run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Bytecode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Bytecode interpreter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.pyc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Just-in-time (JIT)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Error detection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Translation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Portability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Applicability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Opcode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45674</TotalTime>
  <Words>1415</Words>
  <Application>Microsoft Office PowerPoint</Application>
  <PresentationFormat>Widescreen</PresentationFormat>
  <Paragraphs>218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42</cp:revision>
  <dcterms:created xsi:type="dcterms:W3CDTF">2025-08-11T14:07:39Z</dcterms:created>
  <dcterms:modified xsi:type="dcterms:W3CDTF">2026-09-21T21:26:27Z</dcterms:modified>
</cp:coreProperties>
</file>