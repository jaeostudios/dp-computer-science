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8" r:id="rId3"/>
    <p:sldId id="267" r:id="rId4"/>
    <p:sldId id="280" r:id="rId5"/>
    <p:sldId id="268" r:id="rId6"/>
    <p:sldId id="281" r:id="rId7"/>
    <p:sldId id="282" r:id="rId8"/>
    <p:sldId id="270" r:id="rId9"/>
    <p:sldId id="271" r:id="rId10"/>
    <p:sldId id="284" r:id="rId11"/>
    <p:sldId id="283" r:id="rId12"/>
    <p:sldId id="285" r:id="rId13"/>
    <p:sldId id="286" r:id="rId14"/>
    <p:sldId id="287" r:id="rId15"/>
    <p:sldId id="288" r:id="rId16"/>
    <p:sldId id="289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72157-49FF-415A-8D25-0FCED7966F27}" v="3" dt="2026-08-10T17:18:27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 sldOrd">
      <pc:chgData name="Michael Hill" userId="41dba03d-e58d-4389-9894-554c10310ba4" providerId="ADAL" clId="{EF23FE1D-A042-481E-AFD7-2A9FB0847F54}" dt="2026-08-10T17:18:03.200" v="5"/>
      <pc:docMkLst>
        <pc:docMk/>
      </pc:docMkLst>
      <pc:sldChg chg="addSp delSp">
        <pc:chgData name="Michael Hill" userId="41dba03d-e58d-4389-9894-554c10310ba4" providerId="ADAL" clId="{EF23FE1D-A042-481E-AFD7-2A9FB0847F54}" dt="2026-08-10T17:18:03.200" v="5"/>
        <pc:sldMkLst>
          <pc:docMk/>
          <pc:sldMk cId="3974668657" sldId="266"/>
        </pc:sldMkLst>
        <pc:picChg chg="del">
          <ac:chgData name="Michael Hill" userId="41dba03d-e58d-4389-9894-554c10310ba4" providerId="ADAL" clId="{EF23FE1D-A042-481E-AFD7-2A9FB0847F54}" dt="2026-08-10T16:17:07.134" v="1" actId="478"/>
          <ac:picMkLst>
            <pc:docMk/>
            <pc:sldMk cId="3974668657" sldId="266"/>
            <ac:picMk id="4" creationId="{4B78AF29-83ED-B98A-C06D-39E3A6361143}"/>
          </ac:picMkLst>
        </pc:picChg>
        <pc:picChg chg="add">
          <ac:chgData name="Michael Hill" userId="41dba03d-e58d-4389-9894-554c10310ba4" providerId="ADAL" clId="{EF23FE1D-A042-481E-AFD7-2A9FB0847F54}" dt="2026-08-10T16:17:05.540" v="0"/>
          <ac:picMkLst>
            <pc:docMk/>
            <pc:sldMk cId="3974668657" sldId="266"/>
            <ac:picMk id="5" creationId="{2A78E0F0-EE68-6431-1B93-17044DA3A320}"/>
          </ac:picMkLst>
        </pc:picChg>
        <pc:picChg chg="add">
          <ac:chgData name="Michael Hill" userId="41dba03d-e58d-4389-9894-554c10310ba4" providerId="ADAL" clId="{EF23FE1D-A042-481E-AFD7-2A9FB0847F54}" dt="2026-08-10T17:18:03.200" v="5"/>
          <ac:picMkLst>
            <pc:docMk/>
            <pc:sldMk cId="3974668657" sldId="266"/>
            <ac:picMk id="6" creationId="{BB38FDA7-16B7-40FE-A493-80905721283B}"/>
          </ac:picMkLst>
        </pc:picChg>
      </pc:sldChg>
      <pc:sldChg chg="addSp delSp modSp">
        <pc:chgData name="Michael Hill" userId="41dba03d-e58d-4389-9894-554c10310ba4" providerId="ADAL" clId="{EF23FE1D-A042-481E-AFD7-2A9FB0847F54}" dt="2026-08-10T16:39:08.442" v="3"/>
        <pc:sldMkLst>
          <pc:docMk/>
          <pc:sldMk cId="1746449927" sldId="281"/>
        </pc:sldMkLst>
        <pc:spChg chg="add del mod">
          <ac:chgData name="Michael Hill" userId="41dba03d-e58d-4389-9894-554c10310ba4" providerId="ADAL" clId="{EF23FE1D-A042-481E-AFD7-2A9FB0847F54}" dt="2026-08-10T16:39:08.442" v="3"/>
          <ac:spMkLst>
            <pc:docMk/>
            <pc:sldMk cId="1746449927" sldId="281"/>
            <ac:spMk id="4" creationId="{D73353A2-A2D6-7C21-5966-6C6544185E47}"/>
          </ac:spMkLst>
        </pc:spChg>
      </pc:sldChg>
      <pc:sldChg chg="ord">
        <pc:chgData name="Michael Hill" userId="41dba03d-e58d-4389-9894-554c10310ba4" providerId="ADAL" clId="{EF23FE1D-A042-481E-AFD7-2A9FB0847F54}" dt="2026-08-10T17:04:11.530" v="4"/>
        <pc:sldMkLst>
          <pc:docMk/>
          <pc:sldMk cId="497777658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8F8C-3BC4-2C2A-FE15-4B0900B9C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46FDC-EFBD-9643-13FA-3ADABCF7C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114E-266A-65EF-23DF-FDD28EBC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04C5-2129-2E5D-21D4-B5F83C0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D3DE-2438-8703-F3A4-8BFD17E2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BFD5-A5BC-78AC-A9C3-7F2C1E3E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F3C2-D14E-9900-A00E-878E6C3F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3415F-496A-57C4-48A0-E2D5E918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552D-000F-BD61-D905-146B2A8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7404-DC83-5A5C-E69B-2CB04631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9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2A11-FC98-6824-DAB5-88003844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5C534-3611-CCD7-ADA0-DACBE367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E192-EC7B-16A6-EE1A-FAF02B6E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2EC8-61E2-D49F-D438-92727082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950-D285-6770-7468-5A22A210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5D6C-A4FD-1F29-E982-FCD7E356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E31A-AA7E-660C-8844-B39312BD6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FC096-434E-80E3-C5AC-BCEA6EA8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DB2D3-E0C7-91D9-FAB5-8632633B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861B-6C0C-27E5-C905-4A8B92F0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64558-82ED-C8D4-F447-85CD2459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E12-0306-EE9A-7DE1-C6188F55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80E8-413A-3EBC-A52F-C5769505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C4C82-F51B-1892-B04F-09A206D69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3E9D8-2C0C-9630-7078-ADDDD5708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EB4CC-97BE-9C7E-5694-8FF671D09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9D9DD-EB74-60AD-BF97-52741BC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D622-B7C5-EE66-3E8B-735082AB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CCF7B-5C0F-03B2-218E-8BEDD44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2901-94C4-04EF-30C2-E90CABF3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4C812-C0F6-EBAC-C309-974C99FA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981E7-B07E-3B6C-F413-E01061A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34AF4-19B7-B2FB-9AEB-DD3DD11A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2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015F1-6435-1159-F63C-96827638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B0AFD-817F-E8BC-0248-AA421A70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E04F-15A6-4913-D168-B875FFDA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1771-6C18-AC44-ED30-C2EF62FB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0F52-0DCA-8742-37C5-B44CAB20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119C0-4620-F984-9FEF-BF0338BA5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3010-5F8A-2A83-6FAD-6A64064D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6514B-7FA6-7724-D422-0D0CC84E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6BBB2-B302-78D0-99F6-6C8B1EEA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EB97-42A4-57AF-97A8-B2625559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49A09-DC3F-F111-6E04-AA44B27B5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7B21-C5D1-5B60-EF20-E9136EBC7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BC51A-56CE-F73C-BC6C-01ADDF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6B1F-6A13-C431-8179-A6188415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E118-41E0-99C6-09CA-CF6C95FF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4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0FEF-E6A7-B26F-3F65-CE3A0990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1149C-08CC-7CF2-6E92-951793CEA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D87-982C-1BFB-1EC9-CD2613A9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BFB0-9D27-68B3-329F-8894EC2A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7B3F-0D97-EB25-3325-398767B7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10203-61B7-3B6A-92C6-C000A803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C29B1-7BD8-1EE2-35BE-A9953F783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1FC5-266B-6A28-D873-0DE84720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33E4-F16D-F066-390D-3352BA4F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98CD-5AD0-6721-9EE6-58DBC09B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2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3398C-C0E4-2A08-842A-39AF61D1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BAF7-BB69-942C-DD27-E49A0361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1E32-97A2-95F6-03BA-85CA3F579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4FF7-17C2-470A-B450-6756AAF160B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12C7-B16B-0FB8-34FF-68FBA8BF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62B0-EFC9-880A-3555-4C595CD8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3t5gDW8jh6g?si=-zk6cXC7zW7yluSJ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5D6D-4ED1-5461-E787-468F7CB5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822-CB41-B4DF-61CE-2E8C5C185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609" y="1070608"/>
            <a:ext cx="5844988" cy="238760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THE 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E4E6B-41D3-503D-29B2-2DDB81782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684295" cy="1655762"/>
          </a:xfrm>
        </p:spPr>
        <p:txBody>
          <a:bodyPr/>
          <a:lstStyle/>
          <a:p>
            <a:r>
              <a:rPr lang="en-US" dirty="0"/>
              <a:t>IA – 3 – Criteria B</a:t>
            </a:r>
          </a:p>
        </p:txBody>
      </p:sp>
      <p:pic>
        <p:nvPicPr>
          <p:cNvPr id="5" name="Picture 4" descr="supercool3456 User Profile | DeviantArt">
            <a:extLst>
              <a:ext uri="{FF2B5EF4-FFF2-40B4-BE49-F238E27FC236}">
                <a16:creationId xmlns:a16="http://schemas.microsoft.com/office/drawing/2014/main" id="{2A78E0F0-EE68-6431-1B93-17044DA3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597" y="543594"/>
            <a:ext cx="4362351" cy="5238716"/>
          </a:xfrm>
          <a:prstGeom prst="rect">
            <a:avLst/>
          </a:prstGeom>
        </p:spPr>
      </p:pic>
      <p:pic>
        <p:nvPicPr>
          <p:cNvPr id="6" name="Picture 5" descr="Cd Clip Art">
            <a:extLst>
              <a:ext uri="{FF2B5EF4-FFF2-40B4-BE49-F238E27FC236}">
                <a16:creationId xmlns:a16="http://schemas.microsoft.com/office/drawing/2014/main" id="{BB38FDA7-16B7-40FE-A493-809057212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6232"/>
            <a:ext cx="1331768" cy="1331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E7F978-7627-4BA1-9A58-0B303F25BDBA}"/>
              </a:ext>
            </a:extLst>
          </p:cNvPr>
          <p:cNvSpPr txBox="1"/>
          <p:nvPr/>
        </p:nvSpPr>
        <p:spPr>
          <a:xfrm>
            <a:off x="1331768" y="63903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https://youtu.be/3t5gDW8jh6g?si=-zk6cXC7zW7yluSJ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6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871A-0C2D-A734-6382-9FDFC3F5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3B3-4AED-C1FE-1D29-3C791E9C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B –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664C-3DE3-A183-4D05-95E7ED2F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150 words recommended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Criteria A has TWO parts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Decomposition of problem scenario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Plan to address 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105485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68E7-D457-9960-1FD1-797D4772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B169-E0BA-B025-8530-9D8F951E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DECOMPOSITION OF PROBLEM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CE02-B018-5969-4E24-7CE18797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Breaking down your problem scenario into smaller, more manageable sub-problems or components</a:t>
            </a:r>
          </a:p>
          <a:p>
            <a:r>
              <a:rPr lang="en-US" dirty="0">
                <a:latin typeface="Comic Sans MS" panose="030F0702030302020204" pitchFamily="66" charset="0"/>
              </a:rPr>
              <a:t>This can be effectively done using diagrams</a:t>
            </a:r>
          </a:p>
        </p:txBody>
      </p:sp>
    </p:spTree>
    <p:extLst>
      <p:ext uri="{BB962C8B-B14F-4D97-AF65-F5344CB8AC3E}">
        <p14:creationId xmlns:p14="http://schemas.microsoft.com/office/powerpoint/2010/main" val="134727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F550-7519-EC67-F6D6-587E508F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8599-1E46-A211-D61C-050F064E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DECOMPOSITION OF PROBLEM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E3EF6-8A6A-9784-D382-0A582DD6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Identify the main components of your solution, as well as its functional parts</a:t>
            </a:r>
          </a:p>
          <a:p>
            <a:r>
              <a:rPr lang="en-US" dirty="0">
                <a:latin typeface="Comic Sans MS" panose="030F0702030302020204" pitchFamily="66" charset="0"/>
              </a:rPr>
              <a:t>Once they have been identified, divide each component into smaller, specific tasks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Reduce complexity, make easier to tackle</a:t>
            </a:r>
          </a:p>
          <a:p>
            <a:r>
              <a:rPr lang="en-US" dirty="0">
                <a:latin typeface="Comic Sans MS" panose="030F0702030302020204" pitchFamily="66" charset="0"/>
              </a:rPr>
              <a:t>How to illustrate this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Use Case Diagram with flow charts, data flow diagrams, etc.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Procedural Programs: Flow charts to break down task into modules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Object-oriented Programs: identify and describe objects (NOT UML DIAGRAMS YET)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Database Programs: identify and describe data, and data processing needed (NOT ENTITY RELATIONSHIP DIAGRAMS YET)</a:t>
            </a:r>
          </a:p>
        </p:txBody>
      </p:sp>
    </p:spTree>
    <p:extLst>
      <p:ext uri="{BB962C8B-B14F-4D97-AF65-F5344CB8AC3E}">
        <p14:creationId xmlns:p14="http://schemas.microsoft.com/office/powerpoint/2010/main" val="90954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84AA-1243-D11F-D4E0-A3749E67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70D1-8D7B-A0BF-FF66-03E19146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PLAN TO ADDRESS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1AD8-DBB8-443F-3BB5-ED8408AF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Address requirements in terms of the success criteria</a:t>
            </a:r>
          </a:p>
          <a:p>
            <a:r>
              <a:rPr lang="en-US" dirty="0">
                <a:latin typeface="Comic Sans MS" panose="030F0702030302020204" pitchFamily="66" charset="0"/>
              </a:rPr>
              <a:t>Include a proposed ‘chronology’ for the steps involved in the planning, designing, developing, testing, and evaluating the solution</a:t>
            </a:r>
          </a:p>
          <a:p>
            <a:r>
              <a:rPr lang="en-US" dirty="0">
                <a:latin typeface="Comic Sans MS" panose="030F0702030302020204" pitchFamily="66" charset="0"/>
              </a:rPr>
              <a:t>This plan can come in different forms, such as GANTT and AGILE charts</a:t>
            </a:r>
          </a:p>
          <a:p>
            <a:r>
              <a:rPr lang="en-US" dirty="0">
                <a:latin typeface="Comic Sans MS" panose="030F0702030302020204" pitchFamily="66" charset="0"/>
              </a:rPr>
              <a:t>Plan may include research, such as using existing code libraries</a:t>
            </a:r>
          </a:p>
        </p:txBody>
      </p:sp>
    </p:spTree>
    <p:extLst>
      <p:ext uri="{BB962C8B-B14F-4D97-AF65-F5344CB8AC3E}">
        <p14:creationId xmlns:p14="http://schemas.microsoft.com/office/powerpoint/2010/main" val="3496449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70FF-B643-C4C5-DA90-9B47EFE5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8EEA-0F33-5EA6-90DD-106C1EC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PLAN TO ADDRESS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AD8D7-CF46-6289-AC99-9204653C3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GANTT chart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much good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should use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8CC79D-4D96-9B8A-1454-5C564C52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18" y="1690688"/>
            <a:ext cx="6889173" cy="459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F0F9-3AF7-4FE9-2B63-AE8430DC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5A2-77CC-AA26-CAE6-E47F6717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PLAN TO ADDRESS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387A-50E6-381F-1106-6E367782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Make sure you’ve decomposed your problem FIRST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Your chronological plan depends on it</a:t>
            </a:r>
          </a:p>
          <a:p>
            <a:r>
              <a:rPr lang="en-US" dirty="0">
                <a:latin typeface="Comic Sans MS" panose="030F0702030302020204" pitchFamily="66" charset="0"/>
              </a:rPr>
              <a:t>Consider the following in your plan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Task order and dependencies (what relies on what being done first)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Success criteria to address all requirements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Subtasks breaking down major activities into steps for planning, designing, developing, testing, evaluating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Timing, limitations, resources to ensure allocations are realistic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Planning time for research to integrate it into the plan</a:t>
            </a:r>
          </a:p>
          <a:p>
            <a:r>
              <a:rPr lang="en-US" dirty="0">
                <a:latin typeface="Comic Sans MS" panose="030F0702030302020204" pitchFamily="66" charset="0"/>
              </a:rPr>
              <a:t>This is NOT a process journal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This should be written BEFORE you start the next criteria</a:t>
            </a:r>
          </a:p>
        </p:txBody>
      </p:sp>
    </p:spTree>
    <p:extLst>
      <p:ext uri="{BB962C8B-B14F-4D97-AF65-F5344CB8AC3E}">
        <p14:creationId xmlns:p14="http://schemas.microsoft.com/office/powerpoint/2010/main" val="150287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AA34-9F23-7306-3BE4-3DD76EC8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5631-646F-8B65-DC7F-1CCE4447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MARKSCHEME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A60B-1299-DD65-220D-88F646E8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mic Sans MS" panose="030F0702030302020204" pitchFamily="66" charset="0"/>
              </a:rPr>
              <a:t>Markscheme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B1D239-FB3A-4D04-9679-0DB90628C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73" y="2552933"/>
            <a:ext cx="9839454" cy="382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9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5AA1-13BC-BABB-31ED-8E91E791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20D4-BDD3-68FA-84AB-12470C44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0C5D1-2B5D-0CA3-62E8-152721CF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>
                <a:latin typeface="Comic Sans MS" panose="030F0702030302020204" pitchFamily="66" charset="0"/>
              </a:rPr>
              <a:t>What do we think this got?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B0C14-A3BE-1A84-F7B0-EDA9A13C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494" y="4393439"/>
            <a:ext cx="5454930" cy="2438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F14DDF-8C5D-AD09-5306-E11AD235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9" y="2568567"/>
            <a:ext cx="4469409" cy="4289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CFD04F-E13A-C163-FB39-DB8F93CB1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424" y="-5925"/>
            <a:ext cx="3219336" cy="4399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D2AE81-6635-D858-1313-39EC20331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784" y="1108343"/>
            <a:ext cx="3412261" cy="328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8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E414-8837-A5B4-1525-5BBF8042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011A-D11D-BBC5-BF77-0B71B118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A5708-2E71-1593-89EF-8D9F1BA22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It got a 3 out of 4</a:t>
            </a:r>
          </a:p>
          <a:p>
            <a:r>
              <a:rPr lang="en-US" dirty="0">
                <a:latin typeface="Comic Sans MS" panose="030F0702030302020204" pitchFamily="66" charset="0"/>
              </a:rPr>
              <a:t>Birthday card generator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959EA-892F-F120-E14E-0360CDFC8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90" y="3613323"/>
            <a:ext cx="5454930" cy="2438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7EEA5-BC21-F804-0ABC-A44933648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9" y="3089564"/>
            <a:ext cx="4469409" cy="3768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AFC972-191A-79C7-C9B8-3B345D94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424" y="-5925"/>
            <a:ext cx="3219336" cy="4399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BBCD0-11D4-9D70-E527-4A8DB6771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784" y="1108343"/>
            <a:ext cx="3412261" cy="3285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83623-216C-5CE5-26E9-DA01B801E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436" y="5981655"/>
            <a:ext cx="5029458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9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B677-87E1-E990-8D92-552E8EFC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A879-DCB3-CD71-19C1-F52DE17C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6A0D-D7FF-F488-39AB-4B4C8E5F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How about this?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00A1C-3884-0688-A9F9-AA36BBD71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E457C-7166-6746-E32C-0FD7A5FC6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338" y="120480"/>
            <a:ext cx="4044247" cy="50468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7B75EA-5A45-6E9A-E5B7-3C594130B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36" y="0"/>
            <a:ext cx="4643771" cy="557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46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901D-2FE1-A7A9-4F88-CB70B65D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92B9-8D12-13CB-B296-E2C243CA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96FA-E900-D4F2-DAB0-D9069E8C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 mere 2 out of 4</a:t>
            </a:r>
          </a:p>
          <a:p>
            <a:r>
              <a:rPr lang="en-US" dirty="0">
                <a:latin typeface="Comic Sans MS" panose="030F0702030302020204" pitchFamily="66" charset="0"/>
              </a:rPr>
              <a:t>Quiz Game Example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AF11E-F2F7-D0C9-645A-BFC12EFE3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6539C6-38DA-ABAC-ECBD-8F914A448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338" y="120480"/>
            <a:ext cx="4044247" cy="50468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3E6611-532A-D175-F697-833E55F28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36" y="0"/>
            <a:ext cx="4643771" cy="5571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F82DB5-3277-546F-D066-5D83E9CE1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737" y="5616653"/>
            <a:ext cx="6483603" cy="9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69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7299-08BC-4709-998C-73E403C7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39F5-C4E9-BFAF-0A85-0B60B8E6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7FA75-9638-2232-8C7C-481867AD9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>
                <a:latin typeface="Comic Sans MS" panose="030F0702030302020204" pitchFamily="66" charset="0"/>
              </a:rPr>
              <a:t>Keep the train rolling!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2E33D-C3B1-3E32-A854-5B3653FB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2F002-87E4-954A-25B0-A1C90CB55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73" y="-110836"/>
            <a:ext cx="2205687" cy="2689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48EB4F-AD78-A68A-3203-EAE309A16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29" y="2578979"/>
            <a:ext cx="2169498" cy="28883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D1DC24-E96D-835B-8090-8C9F56568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830" y="5531470"/>
            <a:ext cx="2169498" cy="1326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A153F8-DE3E-A20F-BA35-9A3BD662B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280" y="22616"/>
            <a:ext cx="1415281" cy="1967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FF1374-A030-0AE0-4891-8C22490A6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080" y="2158138"/>
            <a:ext cx="1627722" cy="21191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264E2B-84A5-BBA7-52B6-037A15FC9F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0839" y="4483070"/>
            <a:ext cx="1627722" cy="2096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CDF14F4-5ED6-8425-5610-1A157C240A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7781" y="124590"/>
            <a:ext cx="1627721" cy="22187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A59CC7-BF96-0E51-364D-8B612E8AA2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780" y="2532893"/>
            <a:ext cx="1627722" cy="1792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4D0570-83BE-8A93-2D7E-C587BAAD74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556" y="4617983"/>
            <a:ext cx="2490170" cy="16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5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80B2-3E4E-1A1A-7A36-104D433C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760B-C14D-7DCC-DD87-3D71F130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202D5-973A-9B34-CB52-213ECEE01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8"/>
            <a:ext cx="4709193" cy="235370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Yeah, this one got a 4/4</a:t>
            </a:r>
          </a:p>
          <a:p>
            <a:r>
              <a:rPr lang="en-US" dirty="0">
                <a:latin typeface="Comic Sans MS" panose="030F0702030302020204" pitchFamily="66" charset="0"/>
              </a:rPr>
              <a:t>You might notice this is much more than 150 words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yeah</a:t>
            </a:r>
          </a:p>
          <a:p>
            <a:r>
              <a:rPr lang="en-US" dirty="0">
                <a:latin typeface="Comic Sans MS" panose="030F0702030302020204" pitchFamily="66" charset="0"/>
              </a:rPr>
              <a:t>Car management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DBCDD-A916-87A5-2527-4DDFFDCD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7EAFAC-EE4F-9A05-A283-462E1F12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73" y="-110836"/>
            <a:ext cx="2205687" cy="2689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CDA90-0877-0B85-28E3-40729CFC0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29" y="2578979"/>
            <a:ext cx="2169498" cy="28883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92FA06-4996-3026-9DAF-4DB121DD3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830" y="5531470"/>
            <a:ext cx="2169498" cy="1326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473DA7-1F2B-6BAB-F08A-1A29953C4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280" y="22616"/>
            <a:ext cx="1415281" cy="1967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96F7AB-A864-A236-7613-6A55960C1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080" y="2158138"/>
            <a:ext cx="1627722" cy="21191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FDC1298-CE6E-29B3-5768-2856BEBDCC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0839" y="4483070"/>
            <a:ext cx="1627722" cy="2096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7C374C-B2F5-731D-1633-EAE7AA5034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7781" y="124590"/>
            <a:ext cx="1627721" cy="22187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25431A-B408-FAEA-13B4-3B72FFAA4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780" y="2532893"/>
            <a:ext cx="1627722" cy="1792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E4AA7C-D850-9E04-1BA0-68A10545DA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556" y="4617983"/>
            <a:ext cx="2490170" cy="169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AE0214-F731-E9A2-FE3D-BC8DE8AC79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0149" y="5849431"/>
            <a:ext cx="7379584" cy="79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9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5508-2192-13F7-ED75-A2097902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04BC-A02D-DCBE-3A71-891888BE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B555-4F3D-67AC-E192-87096EE3E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One final one!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9A93D-0C1D-69AE-D951-62EB2364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4346E8-837A-8405-43D5-1AD99EAA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31" y="365125"/>
            <a:ext cx="6388428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7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2094-3CEC-C40C-6821-BE2967D7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A802-B89F-73BF-5EB6-D087F474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</a:rPr>
              <a:t>LET’S DO SOME MARKING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9CD8-C6F2-00F5-D86B-6E025EC49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One final one!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85C072-8506-F57A-6DFC-1507719E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" y="4475018"/>
            <a:ext cx="5061170" cy="2262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704FAD-F1DD-FE5D-3DC6-C3FA55F6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31" y="365125"/>
            <a:ext cx="6388428" cy="5950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2A94CB-C922-B8C1-B1E2-9C22C4B1F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735" y="3082907"/>
            <a:ext cx="6426530" cy="6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3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7B14-142C-7560-DA37-D85BE842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3BE9-C363-8965-103D-2BA7E5C2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“WORD COUNT”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4C31-EC7D-785E-A995-7803D7B60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11591769" cy="458554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So, even though, it’s only 150 words, you’ll notice that you need a lot more than that to get a good grade</a:t>
            </a:r>
          </a:p>
          <a:p>
            <a:r>
              <a:rPr lang="en-US" dirty="0">
                <a:latin typeface="Comic Sans MS" panose="030F0702030302020204" pitchFamily="66" charset="0"/>
              </a:rPr>
              <a:t>This reveals a truth about the CS IA – the word limit is NOT 2000, it’s 2000 + however much information you can hide in diagrams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Recall that diagrams and tables don’t count towards your word count</a:t>
            </a:r>
          </a:p>
          <a:p>
            <a:r>
              <a:rPr lang="en-US" dirty="0">
                <a:latin typeface="Comic Sans MS" panose="030F0702030302020204" pitchFamily="66" charset="0"/>
              </a:rPr>
              <a:t>I would strongly recommend writing much more than only 150 words and cramming more into your diagrams, timelines, etc.</a:t>
            </a:r>
          </a:p>
        </p:txBody>
      </p:sp>
    </p:spTree>
    <p:extLst>
      <p:ext uri="{BB962C8B-B14F-4D97-AF65-F5344CB8AC3E}">
        <p14:creationId xmlns:p14="http://schemas.microsoft.com/office/powerpoint/2010/main" val="346510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9823-40DB-93E2-E7AB-B851736B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F2E6-5A64-013A-724F-ED2764C8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8103503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B -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8670-EE2F-7D3C-8C71-EC89B2FCC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11591769" cy="458554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Check GitHub for the Criteria B document to know what to write and create for your presentation – WS </a:t>
            </a:r>
            <a:r>
              <a:rPr lang="en-US">
                <a:latin typeface="Comic Sans MS" panose="030F0702030302020204" pitchFamily="66" charset="0"/>
              </a:rPr>
              <a:t>IA-4 – Criteria </a:t>
            </a:r>
            <a:r>
              <a:rPr lang="en-US" dirty="0">
                <a:latin typeface="Comic Sans MS" panose="030F0702030302020204" pitchFamily="66" charset="0"/>
              </a:rPr>
              <a:t>B</a:t>
            </a:r>
            <a:r>
              <a:rPr lang="en-US">
                <a:latin typeface="Comic Sans MS" panose="030F0702030302020204" pitchFamily="66" charset="0"/>
              </a:rPr>
              <a:t> 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4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546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Comic Sans MS</vt:lpstr>
      <vt:lpstr>Office Theme</vt:lpstr>
      <vt:lpstr>THE IA</vt:lpstr>
      <vt:lpstr>CRITERIA B – PLANNING</vt:lpstr>
      <vt:lpstr>DECOMPOSITION OF PROBLEM SCENARIO</vt:lpstr>
      <vt:lpstr>DECOMPOSITION OF PROBLEM SCENARIO</vt:lpstr>
      <vt:lpstr>PLAN TO ADDRESS SUCCESS CRITERIA</vt:lpstr>
      <vt:lpstr>PLAN TO ADDRESS SUCCESS CRITERIA</vt:lpstr>
      <vt:lpstr>PLAN TO ADDRESS SUCCESS CRITERIA</vt:lpstr>
      <vt:lpstr>MARKSCHEME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“WORD COUNT”</vt:lpstr>
      <vt:lpstr>CRITERIA B - ASSIGNED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</cp:revision>
  <dcterms:created xsi:type="dcterms:W3CDTF">2025-02-04T14:31:25Z</dcterms:created>
  <dcterms:modified xsi:type="dcterms:W3CDTF">2026-08-10T17:31:34Z</dcterms:modified>
</cp:coreProperties>
</file>