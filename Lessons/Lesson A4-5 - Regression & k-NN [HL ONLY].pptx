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7" r:id="rId11"/>
    <p:sldId id="265" r:id="rId12"/>
    <p:sldId id="266" r:id="rId13"/>
    <p:sldId id="278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4" autoAdjust="0"/>
    <p:restoredTop sz="89467" autoAdjust="0"/>
  </p:normalViewPr>
  <p:slideViewPr>
    <p:cSldViewPr snapToGrid="0">
      <p:cViewPr varScale="1">
        <p:scale>
          <a:sx n="57" d="100"/>
          <a:sy n="57" d="100"/>
        </p:scale>
        <p:origin x="72" y="9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23B401-C566-4517-ADD4-C67058331A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34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E26D-2F3D-52F4-95CA-33AFC16CF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E4257-62B0-B1FC-9171-B808E1F2E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917AE-D235-020D-BECC-CEBF5138D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A8E1F-7E8B-5E83-F3ED-C3C4144DA3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41236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TOPIC A4:</a:t>
            </a:r>
          </a:p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MACHINE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latin typeface="Bahnschrift SemiBold" panose="020B0502040204020203" pitchFamily="34" charset="0"/>
              </a:rPr>
              <a:t>LESSON A4-5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808133" y="3728134"/>
            <a:ext cx="5400000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latin typeface="Bahnschrift SemiBold" panose="020B0502040204020203" pitchFamily="34" charset="0"/>
              </a:rPr>
              <a:t>REGRESSION &amp; K-NN</a:t>
            </a:r>
          </a:p>
        </p:txBody>
      </p:sp>
      <p:sp>
        <p:nvSpPr>
          <p:cNvPr id="10" name="Star: 12 Points 9">
            <a:extLst>
              <a:ext uri="{FF2B5EF4-FFF2-40B4-BE49-F238E27FC236}">
                <a16:creationId xmlns:a16="http://schemas.microsoft.com/office/drawing/2014/main" id="{66B26B19-2889-E42C-A01D-5774525E4EE3}"/>
              </a:ext>
            </a:extLst>
          </p:cNvPr>
          <p:cNvSpPr/>
          <p:nvPr/>
        </p:nvSpPr>
        <p:spPr>
          <a:xfrm>
            <a:off x="5256811" y="1077733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 pen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A calculator</a:t>
            </a:r>
          </a:p>
          <a:p>
            <a:pPr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ur hedz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Warm up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Two kinds of prediction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Linear regression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Slope and intercept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Measuring the fit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More than one predictor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k-nearest neighbours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Choosing k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Scaling and sparsity again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Close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D8CA8B0B-29B4-4F45-A9BE-88F49F9B442F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D1CAEE-B319-A780-9B96-038987577C8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E9AA4A-F120-DD17-0CB0-2E85BDEF169E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514AF8-7688-1CAF-271C-812A3A4CA6FC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311B9-8000-00E2-EA2F-52B51C9C4A41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State the role of feature selection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State one of the three feature selection strategies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A data set has 4 features. Calculate how many feature subsets exist, including the empty one. [1]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 (a), (b), (c)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D908BF-3440-E0DF-2F0E-30B56B6F8098}"/>
              </a:ext>
            </a:extLst>
          </p:cNvPr>
          <p:cNvSpPr/>
          <p:nvPr/>
        </p:nvSpPr>
        <p:spPr>
          <a:xfrm>
            <a:off x="1989750" y="65791"/>
            <a:ext cx="761545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WARM UP QUESTION</a:t>
            </a:r>
          </a:p>
        </p:txBody>
      </p:sp>
      <p:pic>
        <p:nvPicPr>
          <p:cNvPr id="22" name="Picture 21" descr="url_upload_6a7f3d9e572a4.gif [effects output image]">
            <a:extLst>
              <a:ext uri="{FF2B5EF4-FFF2-40B4-BE49-F238E27FC236}">
                <a16:creationId xmlns:a16="http://schemas.microsoft.com/office/drawing/2014/main" id="{D9271AD9-D578-11DF-7DA1-51581A51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4" name="Picture 23" descr="url_upload_6a7f3d9e572a4.gif [effects output image]">
            <a:extLst>
              <a:ext uri="{FF2B5EF4-FFF2-40B4-BE49-F238E27FC236}">
                <a16:creationId xmlns:a16="http://schemas.microsoft.com/office/drawing/2014/main" id="{B30C67D8-C8AA-F1F8-B373-1AECB05C01A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6" name="Picture 25" descr="url_upload_6a7f3d9e572a4.gif [effects output image]">
            <a:extLst>
              <a:ext uri="{FF2B5EF4-FFF2-40B4-BE49-F238E27FC236}">
                <a16:creationId xmlns:a16="http://schemas.microsoft.com/office/drawing/2014/main" id="{BFEBAE74-AEA2-B3C2-EF07-F84EA1B7D41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8" name="Picture 27" descr="url_upload_6a7f3d9e572a4.gif [effects output image]">
            <a:extLst>
              <a:ext uri="{FF2B5EF4-FFF2-40B4-BE49-F238E27FC236}">
                <a16:creationId xmlns:a16="http://schemas.microsoft.com/office/drawing/2014/main" id="{BD5F3A05-97A3-AEB7-0085-9F08A9DC8C5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30" name="Picture 29" descr="url_upload_6a7f3d9e572a4.gif [effects output image]">
            <a:extLst>
              <a:ext uri="{FF2B5EF4-FFF2-40B4-BE49-F238E27FC236}">
                <a16:creationId xmlns:a16="http://schemas.microsoft.com/office/drawing/2014/main" id="{A17A3B87-5760-271D-2622-96C0BC318E5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2" name="Picture 31" descr="url_upload_6a7f3d9e572a4.gif [effects output image]">
            <a:extLst>
              <a:ext uri="{FF2B5EF4-FFF2-40B4-BE49-F238E27FC236}">
                <a16:creationId xmlns:a16="http://schemas.microsoft.com/office/drawing/2014/main" id="{D6465FBC-B66B-79FB-ACEB-2DCDCF85F1E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4" name="Picture 33" descr="url_upload_6a7f3d9e572a4.gif [effects output image]">
            <a:extLst>
              <a:ext uri="{FF2B5EF4-FFF2-40B4-BE49-F238E27FC236}">
                <a16:creationId xmlns:a16="http://schemas.microsoft.com/office/drawing/2014/main" id="{E2180E99-6E7F-D0AD-5B11-3A8AD8CC71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6" name="Picture 35" descr="url_upload_6a7f3d9e572a4.gif [effects output image]">
            <a:extLst>
              <a:ext uri="{FF2B5EF4-FFF2-40B4-BE49-F238E27FC236}">
                <a16:creationId xmlns:a16="http://schemas.microsoft.com/office/drawing/2014/main" id="{0130BB2A-2F5C-C6D8-B500-A2A8AC710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D341957-430A-EF60-D3EA-CD511D2CA7D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D7D693E-B573-D0BC-DFB1-6C79697387BD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F25AC2E-0D02-E810-9216-42CF152FB28F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0793B20-5976-9D4C-5A7B-1C85E4E6D59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3F6CA5-D24F-822D-5553-1951788E1282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(a) To identify and keep the most informative columns, and delete the rest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(b) Filter, wrapper or embedded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(c) 2⁴ = 16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0C41D60-D405-256A-C157-C77194A788CD}"/>
              </a:ext>
            </a:extLst>
          </p:cNvPr>
          <p:cNvSpPr/>
          <p:nvPr/>
        </p:nvSpPr>
        <p:spPr>
          <a:xfrm>
            <a:off x="1989750" y="65791"/>
            <a:ext cx="7615450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1F63E1F1-0756-EF0C-E6AF-968433CAC62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8A9E958D-CAB4-E31F-D274-C5DC23B9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EFA8071E-ECE9-5E87-EBC1-94061725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535DAD8F-0FF6-7295-4492-667763D062E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B0551EF5-1990-2D5E-C471-94E2AF03B5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F6F5A0E4-4228-1D5B-57AD-F5A99AEDE57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42DA75FB-0429-60F7-5515-8B7E611343C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02320BBC-A140-08D8-5B51-6950E889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755918" cy="54026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Supervised splits into two based on the desired answer from inference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Regression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predicts a number on a scale, such as a price, a temperature, a shoe size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answer is continuous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Classification 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predicts which category something belongs to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Pass or fail, spam or not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answer is discrete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Training data still has rows with answers attached either way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We’ll talk about Linear regression to predict numbers and k-NN to pick categories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Q2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774946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TWO KINDS OF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7" y="1299334"/>
            <a:ext cx="1056341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Draw a straight line as close to your data as possible, and then make predictions based on that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independent variable</a:t>
            </a:r>
            <a:r>
              <a:rPr lang="en-US" sz="2400" dirty="0">
                <a:latin typeface="Bahnschrift" panose="020B0502040204020203" pitchFamily="34" charset="0"/>
              </a:rPr>
              <a:t> is what you already know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 the ‘predictor’, and it goes on the x axis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dependent variable</a:t>
            </a:r>
            <a:r>
              <a:rPr lang="en-US" sz="2400" dirty="0">
                <a:latin typeface="Bahnschrift" panose="020B0502040204020203" pitchFamily="34" charset="0"/>
              </a:rPr>
              <a:t> is what you are trying to predict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 the ‘response’, a.k.a. the ‘inferred’ value and it goes on the y axis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It’s ‘dependent’ because its value depends on ‘independent’ value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whole model is one equation: y = mx + c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Q3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57281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LINEAR REGRESSION</a:t>
            </a:r>
          </a:p>
        </p:txBody>
      </p:sp>
      <p:pic>
        <p:nvPicPr>
          <p:cNvPr id="2" name="Picture 1" descr="What Is Linear Regression in Machine Learning? | Grammarly">
            <a:extLst>
              <a:ext uri="{FF2B5EF4-FFF2-40B4-BE49-F238E27FC236}">
                <a16:creationId xmlns:a16="http://schemas.microsoft.com/office/drawing/2014/main" id="{EC90B3A8-D738-9E2F-FD3E-E94459A921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84" t="14492" r="8851" b="14492"/>
          <a:stretch>
            <a:fillRect/>
          </a:stretch>
        </p:blipFill>
        <p:spPr>
          <a:xfrm>
            <a:off x="4693840" y="5275047"/>
            <a:ext cx="3468302" cy="15829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24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Our data had about 6 students with usable data, so I’ve plotted those here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best fit line is shoe = 0.22 × height - 28.70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 just calculated this using a spreadsheet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56222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LINEAR REGRESSION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E58830-86D5-A1CB-9976-E9A2E9D27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11" y="4006202"/>
            <a:ext cx="4481778" cy="25399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 y = mx + c, m and c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slope,</a:t>
            </a:r>
            <a:r>
              <a:rPr lang="en-US" sz="2400" dirty="0">
                <a:latin typeface="Bahnschrift" panose="020B0502040204020203" pitchFamily="34" charset="0"/>
              </a:rPr>
              <a:t> m, is how much y changes when x goes up by one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Ours is 0.22, so one more centimeter of height is 0.22 more shoe size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positive slope means they rise together, and a negative slope means one goes up as the other goes down.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intercept,</a:t>
            </a:r>
            <a:r>
              <a:rPr lang="en-US" sz="2400" dirty="0">
                <a:latin typeface="Bahnschrift" panose="020B0502040204020203" pitchFamily="34" charset="0"/>
              </a:rPr>
              <a:t> c, is the predicted y when x is zero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Ours is - 28.70, which would theoretically be the shoe size of a person 0 cm tall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Of course this doesn’t mean anything, it’s just to set the line up correctly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2318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SLOPE AND INTERCEPT</a:t>
            </a:r>
          </a:p>
        </p:txBody>
      </p:sp>
      <p:pic>
        <p:nvPicPr>
          <p:cNvPr id="3" name="Picture 2" descr="Steep hillside with verdant grass free image - № 30714">
            <a:extLst>
              <a:ext uri="{FF2B5EF4-FFF2-40B4-BE49-F238E27FC236}">
                <a16:creationId xmlns:a16="http://schemas.microsoft.com/office/drawing/2014/main" id="{316025DA-59E3-1F1E-27E8-8FCB37C52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7543" y="116086"/>
            <a:ext cx="2590850" cy="19431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To predict, substitute. A student is 175 cm tall: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shoe size = 0.22 × 175 - 28.70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shoe = ???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And that’s how using a regression model works, in short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Put x in, get y out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2318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SLOPE AND INTERCEPT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C2BD1-0C12-88B0-258F-5A3D55F02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91B4DC6-F615-3EB2-684E-9074C119760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392AED-ED61-1E0B-E5E4-59D3C030976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CDCB4D-91F8-8AA8-4DA2-92E445A0C46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2C167A-E95E-7451-AB4B-98719039FC3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285190-7CD8-470F-5DF5-2661095593B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To predict, substitute. A student is 175 cm tall: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shoe size = 0.22 × 175 - 28.70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shoe = 9.8, which I’ll round to 10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And that’s how using a regression model works, in short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Put x in, get y out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Q4 (a), (b) and (c)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A1B4B-A2DA-4C51-B032-9BD7BEC772E5}"/>
              </a:ext>
            </a:extLst>
          </p:cNvPr>
          <p:cNvSpPr/>
          <p:nvPr/>
        </p:nvSpPr>
        <p:spPr>
          <a:xfrm>
            <a:off x="-135885" y="155968"/>
            <a:ext cx="62318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SLOPE AND INTERCEPT</a:t>
            </a:r>
          </a:p>
        </p:txBody>
      </p:sp>
    </p:spTree>
    <p:extLst>
      <p:ext uri="{BB962C8B-B14F-4D97-AF65-F5344CB8AC3E}">
        <p14:creationId xmlns:p14="http://schemas.microsoft.com/office/powerpoint/2010/main" val="2633183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Just because we </a:t>
            </a:r>
            <a:r>
              <a:rPr lang="en-US" sz="2400" i="1" dirty="0">
                <a:latin typeface="Bahnschrift" panose="020B0502040204020203" pitchFamily="34" charset="0"/>
              </a:rPr>
              <a:t>can</a:t>
            </a:r>
            <a:r>
              <a:rPr lang="en-US" sz="2400" dirty="0">
                <a:latin typeface="Bahnschrift" panose="020B0502040204020203" pitchFamily="34" charset="0"/>
              </a:rPr>
              <a:t> draw a line doesn’t always mean it’ll be a good way to measure data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residual</a:t>
            </a:r>
            <a:r>
              <a:rPr lang="en-US" sz="2400" dirty="0">
                <a:latin typeface="Bahnschrift" panose="020B0502040204020203" pitchFamily="34" charset="0"/>
              </a:rPr>
              <a:t> is the gap between where the real data point is an where the line is: actual - predicted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Our residuals range from minimal to pretty major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r²</a:t>
            </a:r>
            <a:r>
              <a:rPr lang="en-US" sz="2400" dirty="0">
                <a:latin typeface="Bahnschrift" panose="020B0502040204020203" pitchFamily="34" charset="0"/>
              </a:rPr>
              <a:t> summarises all of that in one number between 0 and 1, in this case it’s 0.6162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It is the share of the variation in y that the line accounts 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549031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MEASURING THE FIT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892EF-DB9C-5F75-AC98-3EFD5449C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88" y="5235778"/>
            <a:ext cx="6754168" cy="1143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r² = 1 means every point sits exactly on the line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r² = 0 means the line is no better than ignoring x and guessing the average every time, effectively worthless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Ours is 0.6162, so height accounts for 61.62% of the differences in shoe size here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remaining amount can be down to other factors we didn’t measure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Note that a high r² does not prove height causes shoe size, it just shows that our line fits well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Q5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53174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MEASURING THE FIT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BB274-078A-3EE2-FBD3-82676FA8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94DA1A4-F18A-DD63-E5C9-EBEE3F9485D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55F2A2-FEEA-5C19-CAE9-175AAE9E6A3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56AD4D-C6BD-1347-2784-8EDF8DD9A9C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B51CFB-64D9-6657-7C76-1F90077DC32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451309-1CE9-B811-5BE9-993D7DD900AD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One predictor gives a line on a flat graph, but two predictors gives a flat sheet floating in 3D.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1C3822-9016-7D33-B612-36EE745E57F0}"/>
              </a:ext>
            </a:extLst>
          </p:cNvPr>
          <p:cNvSpPr/>
          <p:nvPr/>
        </p:nvSpPr>
        <p:spPr>
          <a:xfrm>
            <a:off x="-135885" y="155968"/>
            <a:ext cx="762041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MORE THAN ONE PREDICTOR</a:t>
            </a:r>
          </a:p>
        </p:txBody>
      </p:sp>
      <p:pic>
        <p:nvPicPr>
          <p:cNvPr id="2" name="Picture 1" descr="3d Linear Regression Python Ggplot Line Plot By Group Chart | Line ...">
            <a:extLst>
              <a:ext uri="{FF2B5EF4-FFF2-40B4-BE49-F238E27FC236}">
                <a16:creationId xmlns:a16="http://schemas.microsoft.com/office/drawing/2014/main" id="{2D2FCB31-2E1E-FD5A-43BB-C7CF0A945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085" y="2399768"/>
            <a:ext cx="8342748" cy="414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61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 equation gets an extra term: y = m₁x₁ + m₂x₂ + c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Each predictor gets its own slope, saying how much y moves with that column while the others are held still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you add any more, we get into some multi-dimensional tomfoolery, but the general concept still applies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why we called them dimensions last time, and hopefully you can see why adding too many gets confusing lol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Q6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762041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MORE THAN ONE PREDICTOR</a:t>
            </a:r>
          </a:p>
        </p:txBody>
      </p:sp>
      <p:pic>
        <p:nvPicPr>
          <p:cNvPr id="6" name="Picture 5" descr="3d Linear Regression Python Ggplot Line Plot By Group Chart | Line ...">
            <a:extLst>
              <a:ext uri="{FF2B5EF4-FFF2-40B4-BE49-F238E27FC236}">
                <a16:creationId xmlns:a16="http://schemas.microsoft.com/office/drawing/2014/main" id="{8246570B-F86C-2193-44A7-E1398DA06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459" y="4475569"/>
            <a:ext cx="4358541" cy="21661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Now for categories and not values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k-NN</a:t>
            </a:r>
            <a:r>
              <a:rPr lang="en-US" sz="2400" dirty="0">
                <a:latin typeface="Bahnschrift" panose="020B0502040204020203" pitchFamily="34" charset="0"/>
              </a:rPr>
              <a:t> predicts a category, not a number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Instead of doing training, it just keeps every labelled example it was given.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To classify something new: measure the distance from it to every stored example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Take the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k</a:t>
            </a:r>
            <a:r>
              <a:rPr lang="en-US" sz="2400" dirty="0">
                <a:latin typeface="Bahnschrift" panose="020B0502040204020203" pitchFamily="34" charset="0"/>
              </a:rPr>
              <a:t> number closest ones and take the label that the most of them have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This is what underlies a ‘people like you watched…’ recommendation on Netflix or </a:t>
            </a:r>
            <a:r>
              <a:rPr lang="en-US" sz="2400" dirty="0" err="1">
                <a:latin typeface="Bahnschrift" panose="020B0502040204020203" pitchFamily="34" charset="0"/>
              </a:rPr>
              <a:t>smth</a:t>
            </a:r>
            <a:endParaRPr lang="en-US" sz="2400" dirty="0"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71904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K-NEAREST NEIGHBOURS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7" y="1299334"/>
            <a:ext cx="11053233" cy="20006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Assume we have six students, their distance from the school, and how many minutes it takes them to get there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A, B and C walk. D, E and F take the bus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Would a student 1.8 km and 13 minutes away be walking, or taking the bus?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85841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K-NEAREST NEIGHBOURS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46000" y="3500000"/>
          <a:ext cx="10500000" cy="1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Student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A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B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C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D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E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F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km away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0.4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0.9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1.2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2.6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5.0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6.2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minutes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14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21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12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26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30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1A3C40"/>
                          </a:solidFill>
                          <a:latin typeface="Bahnschrift"/>
                        </a:rPr>
                        <a:t>travels by</a:t>
                      </a:r>
                    </a:p>
                  </a:txBody>
                  <a:tcPr marL="54000" marR="54000" anchor="ctr">
                    <a:solidFill>
                      <a:srgbClr val="E8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walk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walk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walk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bus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bus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1A3C40"/>
                          </a:solidFill>
                          <a:latin typeface="Bahnschrift"/>
                        </a:rPr>
                        <a:t>bus</a:t>
                      </a:r>
                    </a:p>
                  </a:txBody>
                  <a:tcPr marL="54000" marR="54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 descr="School Bus Png Transparent at Bessie Luce blog">
            <a:extLst>
              <a:ext uri="{FF2B5EF4-FFF2-40B4-BE49-F238E27FC236}">
                <a16:creationId xmlns:a16="http://schemas.microsoft.com/office/drawing/2014/main" id="{A3255516-BE6B-8F9F-60F3-5ABC983C9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555" y="5066556"/>
            <a:ext cx="2182078" cy="1791444"/>
          </a:xfrm>
          <a:prstGeom prst="rect">
            <a:avLst/>
          </a:prstGeom>
        </p:spPr>
      </p:pic>
      <p:pic>
        <p:nvPicPr>
          <p:cNvPr id="10" name="Picture 9" descr="Sonic run by Markendria on DeviantArt">
            <a:extLst>
              <a:ext uri="{FF2B5EF4-FFF2-40B4-BE49-F238E27FC236}">
                <a16:creationId xmlns:a16="http://schemas.microsoft.com/office/drawing/2014/main" id="{C70A4F5D-6924-1233-A4A0-5141550BF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485" y="5111829"/>
            <a:ext cx="2388593" cy="17914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Distance (using the distance formula) from the new student to each one, nearest first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We could normalize these values, but I’m lazy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D is 1.28 away, B is 1.35, A is 3.31, C is 8.02, E is 13.39, F is 17.56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Take the three nearest: D, B and 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They are in the categories bus, walk, and walk respectively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There wasn’t any more of a calculation to it, no model trained here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Q7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684148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K-NEAREST NEIGHBOURS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If we double check our answers, D was the closest, a bus rider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So k = 1 answers bus, and k = 3 answers walk, even though the dataset we used is the same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k = 1 trusts one data point completely, so one mislabelled example is enough to be wrong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A large k smooths out that noise, but could start including data that isn’t similar at all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87630" y="185784"/>
            <a:ext cx="379022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K</a:t>
            </a:r>
          </a:p>
        </p:txBody>
      </p:sp>
      <p:pic>
        <p:nvPicPr>
          <p:cNvPr id="3" name="Picture 2" descr="School Bus Png Transparent at Bessie Luce blog">
            <a:extLst>
              <a:ext uri="{FF2B5EF4-FFF2-40B4-BE49-F238E27FC236}">
                <a16:creationId xmlns:a16="http://schemas.microsoft.com/office/drawing/2014/main" id="{DC93A55C-44CB-B341-32CA-3DCF8DFEA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533" y="4060837"/>
            <a:ext cx="3407100" cy="2797163"/>
          </a:xfrm>
          <a:prstGeom prst="rect">
            <a:avLst/>
          </a:prstGeom>
        </p:spPr>
      </p:pic>
      <p:pic>
        <p:nvPicPr>
          <p:cNvPr id="10" name="Picture 9" descr="Sonic run by Markendria on DeviantArt">
            <a:extLst>
              <a:ext uri="{FF2B5EF4-FFF2-40B4-BE49-F238E27FC236}">
                <a16:creationId xmlns:a16="http://schemas.microsoft.com/office/drawing/2014/main" id="{F0C39983-EC3B-BA46-A0C8-99DBE1B93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850" y="4637503"/>
            <a:ext cx="2932782" cy="21995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Keep k odd when there are two categories, that way there’s no tie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There is no formula for the right k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You try several and use the best option you found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Q8 (a) and 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885" y="155968"/>
            <a:ext cx="44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CHOOSING 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Columns on different scales: the biggest raw numbers decide the distance alone – like age against salary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Too many columns: everything is equally far from everything, so nearest stops meaning similar - dimensionality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Cleaning and feature selection are incredibly important because k-NN relies on them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Linear regression is less particular, which might make it preferable to you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440685" y="155968"/>
            <a:ext cx="829775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SCALING AND SPARSITY AGAIN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→ Notes Q10 and Q11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Q10 A line of best fit is given as y = 1.4x + 12, where x is hours revised and y is test score. Interpret the slope and the intercept, and predict the score for 6 hours. [4]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latin typeface="Bahnschrift" panose="020B0502040204020203" pitchFamily="34" charset="0"/>
              </a:rPr>
              <a:t>Q11 Explain why k-NN gives unreliable results when one feature is measured in a much larger unit than the others.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55968"/>
            <a:ext cx="160000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2897663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Regression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Classification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Continuous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Discrete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Independent variable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Dependent variable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Slope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3714308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Intercept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Residual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r²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k-nearest neighbours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k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Hyperparameter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000" dirty="0">
                <a:latin typeface="Bahnschrift" panose="020B0502040204020203" pitchFamily="34" charset="0"/>
              </a:rPr>
              <a:t>Collaborative filtering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42C1F0-BFEA-FF64-C8D1-26451E9CF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C00000"/>
      </a:accent1>
      <a:accent2>
        <a:srgbClr val="C00000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46966</TotalTime>
  <Words>1465</Words>
  <Application>Microsoft Office PowerPoint</Application>
  <PresentationFormat>Widescreen</PresentationFormat>
  <Paragraphs>180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51</cp:revision>
  <dcterms:created xsi:type="dcterms:W3CDTF">2025-08-11T14:07:39Z</dcterms:created>
  <dcterms:modified xsi:type="dcterms:W3CDTF">2026-10-21T21:35:47Z</dcterms:modified>
</cp:coreProperties>
</file>