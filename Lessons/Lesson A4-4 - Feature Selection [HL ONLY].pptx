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8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2" r:id="rId24"/>
    <p:sldId id="277" r:id="rId25"/>
    <p:sldId id="278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4" autoAdjust="0"/>
    <p:restoredTop sz="89467" autoAdjust="0"/>
  </p:normalViewPr>
  <p:slideViewPr>
    <p:cSldViewPr snapToGrid="0">
      <p:cViewPr>
        <p:scale>
          <a:sx n="60" d="100"/>
          <a:sy n="60" d="100"/>
        </p:scale>
        <p:origin x="42" y="8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TOPIC A4:</a:t>
            </a:r>
          </a:p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LESSON A4-4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5808133" y="3728134"/>
            <a:ext cx="5400000" cy="7622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600" dirty="0">
                <a:latin typeface="Bahnschrift SemiBold" panose="020B0502040204020203" pitchFamily="34" charset="0"/>
              </a:rPr>
              <a:t>FEATURE SELECTION</a:t>
            </a:r>
          </a:p>
        </p:txBody>
      </p:sp>
      <p:sp>
        <p:nvSpPr>
          <p:cNvPr id="10" name="Star: 12 Points 9">
            <a:extLst>
              <a:ext uri="{FF2B5EF4-FFF2-40B4-BE49-F238E27FC236}">
                <a16:creationId xmlns:a16="http://schemas.microsoft.com/office/drawing/2014/main" id="{66B26B19-2889-E42C-A01D-5774525E4EE3}"/>
              </a:ext>
            </a:extLst>
          </p:cNvPr>
          <p:cNvSpPr/>
          <p:nvPr/>
        </p:nvSpPr>
        <p:spPr>
          <a:xfrm>
            <a:off x="5256811" y="1077733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Guided Notes</a:t>
            </a:r>
          </a:p>
          <a:p>
            <a:pPr algn="ctr">
              <a:buFont typeface="Arial"/>
              <a:buChar char="•"/>
            </a:pPr>
            <a:r>
              <a:rPr lang="en-US" sz="2000" dirty="0" err="1">
                <a:latin typeface="Bahnschrift" panose="020B0502040204020203" pitchFamily="34" charset="0"/>
              </a:rPr>
              <a:t>ur</a:t>
            </a:r>
            <a:r>
              <a:rPr lang="en-US" sz="2000" dirty="0">
                <a:latin typeface="Bahnschrift" panose="020B0502040204020203" pitchFamily="34" charset="0"/>
              </a:rPr>
              <a:t> hedz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Warm up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What a feature is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Feature selection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How many subsets are there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Filter methods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Wrapper methods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Embedded methods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Choosing a strategy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The curse of dimensionality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Sparsity and sample size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Lab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Close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D8CA8B0B-29B4-4F45-A9BE-88F49F9B442F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D1CAEE-B319-A780-9B96-038987577C8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E9AA4A-F120-DD17-0CB0-2E85BDEF169E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514AF8-7688-1CAF-271C-812A3A4CA6FC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0311B9-8000-00E2-EA2F-52B51C9C4A41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(a) State what normalization does to a column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(b) A column runs from 0 to 200. Calculate the normalized value of 50. Show your working.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(c) State one reason a distance-based algorithm needs its columns on the same scale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Q1 (a), (b), (c)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D908BF-3440-E0DF-2F0E-30B56B6F8098}"/>
              </a:ext>
            </a:extLst>
          </p:cNvPr>
          <p:cNvSpPr/>
          <p:nvPr/>
        </p:nvSpPr>
        <p:spPr>
          <a:xfrm>
            <a:off x="1989750" y="65791"/>
            <a:ext cx="7615450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WARM UP QUESTION</a:t>
            </a:r>
          </a:p>
        </p:txBody>
      </p:sp>
      <p:pic>
        <p:nvPicPr>
          <p:cNvPr id="22" name="Picture 21" descr="url_upload_6a7f3d9e572a4.gif [effects output image]">
            <a:extLst>
              <a:ext uri="{FF2B5EF4-FFF2-40B4-BE49-F238E27FC236}">
                <a16:creationId xmlns:a16="http://schemas.microsoft.com/office/drawing/2014/main" id="{D9271AD9-D578-11DF-7DA1-51581A51B57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24" name="Picture 23" descr="url_upload_6a7f3d9e572a4.gif [effects output image]">
            <a:extLst>
              <a:ext uri="{FF2B5EF4-FFF2-40B4-BE49-F238E27FC236}">
                <a16:creationId xmlns:a16="http://schemas.microsoft.com/office/drawing/2014/main" id="{B30C67D8-C8AA-F1F8-B373-1AECB05C01A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26" name="Picture 25" descr="url_upload_6a7f3d9e572a4.gif [effects output image]">
            <a:extLst>
              <a:ext uri="{FF2B5EF4-FFF2-40B4-BE49-F238E27FC236}">
                <a16:creationId xmlns:a16="http://schemas.microsoft.com/office/drawing/2014/main" id="{BFEBAE74-AEA2-B3C2-EF07-F84EA1B7D41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28" name="Picture 27" descr="url_upload_6a7f3d9e572a4.gif [effects output image]">
            <a:extLst>
              <a:ext uri="{FF2B5EF4-FFF2-40B4-BE49-F238E27FC236}">
                <a16:creationId xmlns:a16="http://schemas.microsoft.com/office/drawing/2014/main" id="{BD5F3A05-97A3-AEB7-0085-9F08A9DC8C5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30" name="Picture 29" descr="url_upload_6a7f3d9e572a4.gif [effects output image]">
            <a:extLst>
              <a:ext uri="{FF2B5EF4-FFF2-40B4-BE49-F238E27FC236}">
                <a16:creationId xmlns:a16="http://schemas.microsoft.com/office/drawing/2014/main" id="{A17A3B87-5760-271D-2622-96C0BC318E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32" name="Picture 31" descr="url_upload_6a7f3d9e572a4.gif [effects output image]">
            <a:extLst>
              <a:ext uri="{FF2B5EF4-FFF2-40B4-BE49-F238E27FC236}">
                <a16:creationId xmlns:a16="http://schemas.microsoft.com/office/drawing/2014/main" id="{D6465FBC-B66B-79FB-ACEB-2DCDCF85F1E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34" name="Picture 33" descr="url_upload_6a7f3d9e572a4.gif [effects output image]">
            <a:extLst>
              <a:ext uri="{FF2B5EF4-FFF2-40B4-BE49-F238E27FC236}">
                <a16:creationId xmlns:a16="http://schemas.microsoft.com/office/drawing/2014/main" id="{E2180E99-6E7F-D0AD-5B11-3A8AD8CC71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36" name="Picture 35" descr="url_upload_6a7f3d9e572a4.gif [effects output image]">
            <a:extLst>
              <a:ext uri="{FF2B5EF4-FFF2-40B4-BE49-F238E27FC236}">
                <a16:creationId xmlns:a16="http://schemas.microsoft.com/office/drawing/2014/main" id="{0130BB2A-2F5C-C6D8-B500-A2A8AC710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7D341957-430A-EF60-D3EA-CD511D2CA7D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D7D693E-B573-D0BC-DFB1-6C79697387B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F25AC2E-0D02-E810-9216-42CF152FB28F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793B20-5976-9D4C-5A7B-1C85E4E6D59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3F6CA5-D24F-822D-5553-1951788E1282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(a) It rescales the column so the smallest value becomes 0 and the largest becomes 1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(b) (50 − 0) ÷ (200 − 0) = 0.25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(c) Otherwise the column with the biggest raw values decides the distance almost on its own, whatever its units happen to be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C41D60-D405-256A-C157-C77194A788CD}"/>
              </a:ext>
            </a:extLst>
          </p:cNvPr>
          <p:cNvSpPr/>
          <p:nvPr/>
        </p:nvSpPr>
        <p:spPr>
          <a:xfrm>
            <a:off x="1989750" y="65791"/>
            <a:ext cx="7615450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WARM UP ANSWER</a:t>
            </a:r>
          </a:p>
        </p:txBody>
      </p:sp>
      <p:pic>
        <p:nvPicPr>
          <p:cNvPr id="49" name="Picture 48" descr="url_upload_6a7f3d9e572a4.gif [effects output image]">
            <a:extLst>
              <a:ext uri="{FF2B5EF4-FFF2-40B4-BE49-F238E27FC236}">
                <a16:creationId xmlns:a16="http://schemas.microsoft.com/office/drawing/2014/main" id="{1F63E1F1-0756-EF0C-E6AF-968433CAC6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51" name="Picture 50" descr="url_upload_6a7f3d9e572a4.gif [effects output image]">
            <a:extLst>
              <a:ext uri="{FF2B5EF4-FFF2-40B4-BE49-F238E27FC236}">
                <a16:creationId xmlns:a16="http://schemas.microsoft.com/office/drawing/2014/main" id="{8A9E958D-CAB4-E31F-D274-C5DC23B9AAB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53" name="Picture 52" descr="url_upload_6a7f3d9e572a4.gif [effects output image]">
            <a:extLst>
              <a:ext uri="{FF2B5EF4-FFF2-40B4-BE49-F238E27FC236}">
                <a16:creationId xmlns:a16="http://schemas.microsoft.com/office/drawing/2014/main" id="{EFA8071E-ECE9-5E87-EBC1-9406172589E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55" name="Picture 54" descr="url_upload_6a7f3d9e572a4.gif [effects output image]">
            <a:extLst>
              <a:ext uri="{FF2B5EF4-FFF2-40B4-BE49-F238E27FC236}">
                <a16:creationId xmlns:a16="http://schemas.microsoft.com/office/drawing/2014/main" id="{535DAD8F-0FF6-7295-4492-667763D062E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57" name="Picture 56" descr="url_upload_6a7f3d9e572a4.gif [effects output image]">
            <a:extLst>
              <a:ext uri="{FF2B5EF4-FFF2-40B4-BE49-F238E27FC236}">
                <a16:creationId xmlns:a16="http://schemas.microsoft.com/office/drawing/2014/main" id="{B0551EF5-1990-2D5E-C471-94E2AF03B5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59" name="Picture 58" descr="url_upload_6a7f3d9e572a4.gif [effects output image]">
            <a:extLst>
              <a:ext uri="{FF2B5EF4-FFF2-40B4-BE49-F238E27FC236}">
                <a16:creationId xmlns:a16="http://schemas.microsoft.com/office/drawing/2014/main" id="{F6F5A0E4-4228-1D5B-57AD-F5A99AEDE57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61" name="Picture 60" descr="url_upload_6a7f3d9e572a4.gif [effects output image]">
            <a:extLst>
              <a:ext uri="{FF2B5EF4-FFF2-40B4-BE49-F238E27FC236}">
                <a16:creationId xmlns:a16="http://schemas.microsoft.com/office/drawing/2014/main" id="{42DA75FB-0429-60F7-5515-8B7E611343C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63" name="Picture 62" descr="url_upload_6a7f3d9e572a4.gif [effects output image]">
            <a:extLst>
              <a:ext uri="{FF2B5EF4-FFF2-40B4-BE49-F238E27FC236}">
                <a16:creationId xmlns:a16="http://schemas.microsoft.com/office/drawing/2014/main" id="{02320BBC-A140-08D8-5B51-6950E8894A3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feature</a:t>
            </a:r>
            <a:r>
              <a:rPr lang="en-US" sz="2400" dirty="0">
                <a:latin typeface="Bahnschrift" panose="020B0502040204020203" pitchFamily="34" charset="0"/>
              </a:rPr>
              <a:t> is one column of your data set - one measurable attribute of every example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Height, shoe size, etc. are features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One row (or record) should have one value for each of them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57833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WHAT A FEATURE 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C5FD61-8A1A-8634-9509-1A33AE041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4863D30-737C-C629-0F6E-FD55F6BACF5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D2F083-FC66-4320-8169-F45DE08111F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BFA015-0E99-253E-07DC-A4B5385DBF1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3FCF36-C630-9C0E-B04D-5B1EC024150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0BDEE7-AABF-A5BE-0A8B-63A9C7B666FD}"/>
              </a:ext>
            </a:extLst>
          </p:cNvPr>
          <p:cNvSpPr/>
          <p:nvPr/>
        </p:nvSpPr>
        <p:spPr>
          <a:xfrm>
            <a:off x="630767" y="1299334"/>
            <a:ext cx="6312717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number of features determines the number of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dimensions</a:t>
            </a:r>
            <a:r>
              <a:rPr lang="en-US" sz="2400" dirty="0">
                <a:latin typeface="Bahnschrift" panose="020B0502040204020203" pitchFamily="34" charset="0"/>
              </a:rPr>
              <a:t> the data sits in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Two features is a graph you can draw on the board, but 40 features creates 40 dimensions of complexity (yikkers)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Last lesson we looked at what makes a value in a column valid or invalid, but today we look at how useful those </a:t>
            </a:r>
            <a:r>
              <a:rPr lang="en-US" sz="2400" dirty="0" err="1">
                <a:latin typeface="Bahnschrift" panose="020B0502040204020203" pitchFamily="34" charset="0"/>
              </a:rPr>
              <a:t>columsn</a:t>
            </a:r>
            <a:r>
              <a:rPr lang="en-US" sz="2400" dirty="0">
                <a:latin typeface="Bahnschrift" panose="020B0502040204020203" pitchFamily="34" charset="0"/>
              </a:rPr>
              <a:t> are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Our sheet: how many features does our class data set have?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7ECFC4-5D47-F158-163C-B2120F17CFB6}"/>
              </a:ext>
            </a:extLst>
          </p:cNvPr>
          <p:cNvSpPr/>
          <p:nvPr/>
        </p:nvSpPr>
        <p:spPr>
          <a:xfrm>
            <a:off x="-135885" y="155968"/>
            <a:ext cx="57833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WHAT A FEATURE IS</a:t>
            </a:r>
          </a:p>
        </p:txBody>
      </p:sp>
      <p:pic>
        <p:nvPicPr>
          <p:cNvPr id="2" name="Picture 1" descr="Spy Kids 4: All the Time in the World (2011)">
            <a:extLst>
              <a:ext uri="{FF2B5EF4-FFF2-40B4-BE49-F238E27FC236}">
                <a16:creationId xmlns:a16="http://schemas.microsoft.com/office/drawing/2014/main" id="{589CCBCA-2ED6-7D4A-4A7B-D3EE145A5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553" y="1238612"/>
            <a:ext cx="3053307" cy="449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511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988964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Feature selection</a:t>
            </a:r>
            <a:r>
              <a:rPr lang="en-US" sz="2400" dirty="0">
                <a:latin typeface="Bahnschrift" panose="020B0502040204020203" pitchFamily="34" charset="0"/>
              </a:rPr>
              <a:t> means keeping the most informative columns and deleting the rest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You don’t create new columns or change the values in any column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column should be kept if it tells you something about the value you’re trying to predict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column that has nothing to do with the answer is called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noise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problem is that a model will still attempt to find a pattern in the noise, which </a:t>
            </a:r>
            <a:r>
              <a:rPr lang="en-US" sz="2400" dirty="0">
                <a:latin typeface="Bahnschrift" panose="020B0502040204020203" pitchFamily="34" charset="0"/>
              </a:rPr>
              <a:t>is </a:t>
            </a:r>
            <a:r>
              <a:rPr lang="en-US" sz="2400" dirty="0" err="1">
                <a:latin typeface="Bahnschrift" panose="020B0502040204020203" pitchFamily="34" charset="0"/>
              </a:rPr>
              <a:t>moreso</a:t>
            </a:r>
            <a:r>
              <a:rPr lang="en-US" sz="2400" dirty="0">
                <a:latin typeface="Bahnschrift" panose="020B0502040204020203" pitchFamily="34" charset="0"/>
              </a:rPr>
              <a:t> a coincidence in your training data, leading to an inaccurate model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Our sheet: if we were predicting shoe size, which column looks most useful? Which one looks like noise?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81229" y="155968"/>
            <a:ext cx="553565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FEATURE SELECTION</a:t>
            </a:r>
          </a:p>
        </p:txBody>
      </p:sp>
      <p:pic>
        <p:nvPicPr>
          <p:cNvPr id="2" name="Picture 1" descr="Spotify Loses $38 Million Per Year Because Of A 'White Noise' Problem ...">
            <a:extLst>
              <a:ext uri="{FF2B5EF4-FFF2-40B4-BE49-F238E27FC236}">
                <a16:creationId xmlns:a16="http://schemas.microsoft.com/office/drawing/2014/main" id="{60B0FE02-228A-8C8C-9930-696B03CFF5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637674" y="-454698"/>
            <a:ext cx="13788189" cy="8488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Fewer columns leads to faster training and a smaller model file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Also much easier to understand lol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also means less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overfitting</a:t>
            </a:r>
            <a:r>
              <a:rPr lang="en-US" sz="2400" dirty="0">
                <a:latin typeface="Bahnschrift" panose="020B0502040204020203" pitchFamily="34" charset="0"/>
              </a:rPr>
              <a:t> - a model memorising coincidences instead of learning a rule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But there is a risk to cutting a column that mattered which will make the model worse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There is no magic formula that tells you which columns matter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But, there are three strategies…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Q2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119" y="155968"/>
            <a:ext cx="57833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FEATURE SELECTION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For every column we decide to keep it, or drop it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Four columns is four yes-or-no decisions, which is a truth table with 2⁴ = 16 rows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Every row of that table is a different data set you could build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Keep is 1 and drop is 0, the same way you built truth tables in Topic A1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Of course, one of those is a row with all zeroes, which wouldn’t give us much of a model, so 15 viable options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439081" y="155968"/>
            <a:ext cx="864461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HOW MANY SUBSETS ARE THERE</a:t>
            </a:r>
          </a:p>
        </p:txBody>
      </p:sp>
      <p:pic>
        <p:nvPicPr>
          <p:cNvPr id="2" name="Picture 1" descr="Deal or No Deal CNBC Logo (2018-19) by cwashington2019 on DeviantArt">
            <a:extLst>
              <a:ext uri="{FF2B5EF4-FFF2-40B4-BE49-F238E27FC236}">
                <a16:creationId xmlns:a16="http://schemas.microsoft.com/office/drawing/2014/main" id="{6AEF829A-57BF-A5BC-41FA-7EFADF37B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006" y="4435957"/>
            <a:ext cx="3749533" cy="18881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7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first four rows and the last one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Q3 (a) — fill in the rest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11181" y="155968"/>
            <a:ext cx="882509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HOW MANY SUBSETS ARE THERE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571169"/>
              </p:ext>
            </p:extLst>
          </p:nvPr>
        </p:nvGraphicFramePr>
        <p:xfrm>
          <a:off x="996000" y="3200000"/>
          <a:ext cx="10200000" cy="28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Height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Shoe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DOB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A3C40"/>
                          </a:solidFill>
                          <a:latin typeface="Bahnschrift"/>
                        </a:rPr>
                        <a:t>Color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3C40"/>
                          </a:solidFill>
                          <a:latin typeface="Bahnschrift"/>
                        </a:rPr>
                        <a:t>What you would train on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0</a:t>
                      </a:r>
                    </a:p>
                  </a:txBody>
                  <a:tcPr marL="54000" marR="54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nothing at all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0</a:t>
                      </a:r>
                    </a:p>
                  </a:txBody>
                  <a:tcPr marL="54000" marR="54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1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3C40"/>
                          </a:solidFill>
                          <a:latin typeface="Bahnschrift"/>
                        </a:rPr>
                        <a:t>Color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0</a:t>
                      </a:r>
                    </a:p>
                  </a:txBody>
                  <a:tcPr marL="54000" marR="54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1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DOB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3C40"/>
                          </a:solidFill>
                          <a:latin typeface="Bahnschrift"/>
                        </a:rPr>
                        <a:t>0</a:t>
                      </a:r>
                    </a:p>
                  </a:txBody>
                  <a:tcPr marL="54000" marR="54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1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1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3C40"/>
                          </a:solidFill>
                          <a:latin typeface="Bahnschrift"/>
                        </a:rPr>
                        <a:t>DOB + Color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...</a:t>
                      </a:r>
                    </a:p>
                  </a:txBody>
                  <a:tcPr marL="54000" marR="54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...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...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...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...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3C40"/>
                          </a:solidFill>
                          <a:latin typeface="Bahnschrift"/>
                        </a:rPr>
                        <a:t>1</a:t>
                      </a:r>
                    </a:p>
                  </a:txBody>
                  <a:tcPr marL="54000" marR="54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1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1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3C40"/>
                          </a:solidFill>
                          <a:latin typeface="Bahnschrift"/>
                        </a:rPr>
                        <a:t>1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3C40"/>
                          </a:solidFill>
                          <a:latin typeface="Bahnschrift"/>
                        </a:rPr>
                        <a:t>everything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4 columns is 16 rows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10 columns is 1,024, and 20 columns is 1,048,576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strategy that tests every possible combination has to train a model for row on that truth table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At one second per model, twenty columns is twelve days of computing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At one minute per model, it is two years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Which is to say, this is a terrible idea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It’s generally ill advised to try to use the whole table, and to test every combination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Ooh! What’s the big O efficiency of this algorithm?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Q3 (b) and (c)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4860" y="185784"/>
            <a:ext cx="865664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HOW MANY SUBSETS ARE THERE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filter method</a:t>
            </a:r>
            <a:r>
              <a:rPr lang="en-US" sz="2400" dirty="0">
                <a:latin typeface="Bahnschrift" panose="020B0502040204020203" pitchFamily="34" charset="0"/>
              </a:rPr>
              <a:t> scores each column’s worth on its own before a model exists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Typically, this is how strongly the column moves with the value you are predicting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Keep the highest scoring features, and drop the rest, creating your training data set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is cheap and fast, there’s no training involved in the process until the final training is ready to occur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is also model-blind: it has no idea which algorithm you are about to use it with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Our sheet: which column would you expect to move with shoe size?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119" y="155968"/>
            <a:ext cx="60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FILTER METHODS</a:t>
            </a:r>
          </a:p>
        </p:txBody>
      </p:sp>
      <p:pic>
        <p:nvPicPr>
          <p:cNvPr id="3" name="Picture 2" descr="Premium Photo | A close up of a filter">
            <a:extLst>
              <a:ext uri="{FF2B5EF4-FFF2-40B4-BE49-F238E27FC236}">
                <a16:creationId xmlns:a16="http://schemas.microsoft.com/office/drawing/2014/main" id="{15F5DA98-6868-469A-2AF2-0C7DE7971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776" y="127617"/>
            <a:ext cx="1866399" cy="11717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weakness is that it judges one column at a time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means that two columns that say the similar things both score well, so you keep both, which will increase the weight of that data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Imagine if we had a height (in) and a height (cm)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Also, two columns that look useless alone can be informative together, and a which filters miss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Such as height and weight together creating BMI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Use filter methods when you have hundreds of columns and need to get down to a smaller number quickly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Q4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119" y="155968"/>
            <a:ext cx="60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FILTER METHODS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686490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wrapper method</a:t>
            </a:r>
            <a:r>
              <a:rPr lang="en-US" sz="2400" dirty="0">
                <a:latin typeface="Bahnschrift" panose="020B0502040204020203" pitchFamily="34" charset="0"/>
              </a:rPr>
              <a:t> trains the model on a subset of columns and scores how well it did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Then it tries a different subset and keeps whichever one performed better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strategy judges things by performance in a finished model – what matters most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can detect combinations because it is testing whole sets rather than single columns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But every possible option created requires a full training run (boo!)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119" y="155968"/>
            <a:ext cx="64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WRAPPER METHODS</a:t>
            </a:r>
          </a:p>
        </p:txBody>
      </p:sp>
      <p:pic>
        <p:nvPicPr>
          <p:cNvPr id="2" name="Picture 1" descr="Wrap (move) - Bulbapedia, the community-driven Pokémon encyclopedia">
            <a:extLst>
              <a:ext uri="{FF2B5EF4-FFF2-40B4-BE49-F238E27FC236}">
                <a16:creationId xmlns:a16="http://schemas.microsoft.com/office/drawing/2014/main" id="{B70E826D-222A-6662-72D4-49AD42CF3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704" y="1770277"/>
            <a:ext cx="3896346" cy="35067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842901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Recall that it’s unviable to try all 2</a:t>
            </a:r>
            <a:r>
              <a:rPr lang="en-US" sz="2400" baseline="30000" dirty="0">
                <a:latin typeface="Bahnschrift" panose="020B0502040204020203" pitchFamily="34" charset="0"/>
              </a:rPr>
              <a:t>n</a:t>
            </a:r>
            <a:r>
              <a:rPr lang="en-US" sz="2400" dirty="0">
                <a:latin typeface="Bahnschrift" panose="020B0502040204020203" pitchFamily="34" charset="0"/>
              </a:rPr>
              <a:t> subsets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Forward selection </a:t>
            </a:r>
            <a:r>
              <a:rPr lang="en-US" sz="2400" dirty="0">
                <a:latin typeface="Bahnschrift" panose="020B0502040204020203" pitchFamily="34" charset="0"/>
              </a:rPr>
              <a:t>starts with nothing and adds the column that helps most, one at a time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Backward elimination </a:t>
            </a:r>
            <a:r>
              <a:rPr lang="en-US" sz="2400" dirty="0">
                <a:latin typeface="Bahnschrift" panose="020B0502040204020203" pitchFamily="34" charset="0"/>
              </a:rPr>
              <a:t>starts with every feature and removes the column that harms the results the least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Both algorithms end when the score stops improving, but neither strategy is guaranteed to find the best subset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Use it when you have the plenty of computing power and time, and are attempting to drain your neighborhood of all water and electric resources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Q5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119" y="155968"/>
            <a:ext cx="64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WRAPPER METHODS</a:t>
            </a:r>
          </a:p>
        </p:txBody>
      </p:sp>
      <p:pic>
        <p:nvPicPr>
          <p:cNvPr id="2" name="Picture 1" descr="Integrating renewable energy sources into grids | McKinsey">
            <a:extLst>
              <a:ext uri="{FF2B5EF4-FFF2-40B4-BE49-F238E27FC236}">
                <a16:creationId xmlns:a16="http://schemas.microsoft.com/office/drawing/2014/main" id="{526BA297-EF0C-6CC9-0914-AF37C5DD8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018" y="3544453"/>
            <a:ext cx="2366243" cy="2366243"/>
          </a:xfrm>
          <a:prstGeom prst="rect">
            <a:avLst/>
          </a:prstGeom>
        </p:spPr>
      </p:pic>
      <p:pic>
        <p:nvPicPr>
          <p:cNvPr id="3" name="Picture 2" descr="NUKE PERFORMANCE Fuel Rail Kraftstoffverteiler passend für Opel C30SE ...">
            <a:extLst>
              <a:ext uri="{FF2B5EF4-FFF2-40B4-BE49-F238E27FC236}">
                <a16:creationId xmlns:a16="http://schemas.microsoft.com/office/drawing/2014/main" id="{AB9FE547-8133-E051-6F3F-A471482FF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9963" y="3717853"/>
            <a:ext cx="1848352" cy="1848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An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embedded method</a:t>
            </a:r>
            <a:r>
              <a:rPr lang="en-US" sz="2400" dirty="0">
                <a:latin typeface="Bahnschrift" panose="020B0502040204020203" pitchFamily="34" charset="0"/>
              </a:rPr>
              <a:t> does the selecting inside training, as part of building the model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is NOT a separate selection step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One training run produces both the model and the choice of columns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One example of this is a decision tree: it picks which column to split on at every branch, not using columns it doesn’t select at the splits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Another example is regularized regression: it shrinks the weight on a weak column toward zero until that column ends up not contributing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119" y="155968"/>
            <a:ext cx="68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EMBEDDED METHODS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These are usually more time and cost effective than a wrapper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selection comes free with the training you were doing anyway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is more complete than the filter strategy because it can notice combinations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catch is that the choice belongs to that one algorithm, like the decision trees, or the regularized regression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If you swap the algorithm and you may get a completely different set of columns back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Q6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119" y="155968"/>
            <a:ext cx="68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EMBEDDED METHODS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9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ANOTHER TRADEOFF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119" y="155968"/>
            <a:ext cx="80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CHOOSING A STRATEGY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96000" y="3400000"/>
          <a:ext cx="10800000" cy="209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Cost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Sees combinations?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When to use it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Filter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Lowest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No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Hundreds of columns, little time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Wrapper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Highest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Yes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Accuracy matters most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Embedded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Middle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Yes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Default for trees and regression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7" y="1299334"/>
            <a:ext cx="1099173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Dimensionality reduction</a:t>
            </a:r>
            <a:r>
              <a:rPr lang="en-US" sz="2400" dirty="0">
                <a:latin typeface="Bahnschrift" panose="020B0502040204020203" pitchFamily="34" charset="0"/>
              </a:rPr>
              <a:t> is what we call cutting the number of columns while keeping the information the data was telling you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curse of dimensionality</a:t>
            </a:r>
            <a:r>
              <a:rPr lang="en-US" sz="2400" dirty="0">
                <a:latin typeface="Bahnschrift" panose="020B0502040204020203" pitchFamily="34" charset="0"/>
              </a:rPr>
              <a:t> is what we call all of the issues that arise as more and more columns are added to a dataset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It’s contributed to by 7 smaller problems that we’ll talk about here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(except for principal component analysis and linear discriminant analysis which they think are ‘</a:t>
            </a:r>
            <a:r>
              <a:rPr lang="en-US" sz="2400" dirty="0" err="1">
                <a:latin typeface="Bahnschrift" panose="020B0502040204020203" pitchFamily="34" charset="0"/>
              </a:rPr>
              <a:t>bEyOnD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tHiS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r>
              <a:rPr lang="en-US" sz="2400" dirty="0" err="1">
                <a:latin typeface="Bahnschrift" panose="020B0502040204020203" pitchFamily="34" charset="0"/>
              </a:rPr>
              <a:t>cOuRsE</a:t>
            </a:r>
            <a:r>
              <a:rPr lang="en-US" sz="2400" dirty="0">
                <a:latin typeface="Bahnschrift" panose="020B0502040204020203" pitchFamily="34" charset="0"/>
              </a:rPr>
              <a:t>’ (they are correct))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means that you don’t have to do any math, but you do need to know why too many columns ends up being a bad idea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90954" y="155968"/>
            <a:ext cx="845211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THE CURSE OF DIMENSIONALITY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Overfitting</a:t>
            </a:r>
            <a:r>
              <a:rPr lang="en-US" sz="2400" dirty="0">
                <a:latin typeface="Bahnschrift" panose="020B0502040204020203" pitchFamily="34" charset="0"/>
              </a:rPr>
              <a:t> - more columns creates the opportunity to find correlations that are coincidental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Computational complexity</a:t>
            </a:r>
            <a:r>
              <a:rPr lang="en-US" sz="2400" dirty="0">
                <a:latin typeface="Bahnschrift" panose="020B0502040204020203" pitchFamily="34" charset="0"/>
              </a:rPr>
              <a:t> - more arithmetic per example, in training and again at inference, slowing the model and training down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Memory usage </a:t>
            </a:r>
            <a:r>
              <a:rPr lang="en-US" sz="2400" dirty="0">
                <a:latin typeface="Bahnschrift" panose="020B0502040204020203" pitchFamily="34" charset="0"/>
              </a:rPr>
              <a:t>- the data set itself gets bigger, and so does the model built from it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Data visualization </a:t>
            </a:r>
            <a:r>
              <a:rPr lang="en-US" sz="2400" dirty="0">
                <a:latin typeface="Bahnschrift" panose="020B0502040204020203" pitchFamily="34" charset="0"/>
              </a:rPr>
              <a:t>- you can plot two columns, or three at a time if you really need to, but you cannot look at forty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These are the easy ones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427050" y="155968"/>
            <a:ext cx="871680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THE CURSE OF DIMENSIONALITY</a:t>
            </a:r>
          </a:p>
        </p:txBody>
      </p:sp>
      <p:pic>
        <p:nvPicPr>
          <p:cNvPr id="3" name="Picture 2" descr="Visualizing Curse of Dimensionality | Rehan Guha -Portfolio &amp; Blog">
            <a:extLst>
              <a:ext uri="{FF2B5EF4-FFF2-40B4-BE49-F238E27FC236}">
                <a16:creationId xmlns:a16="http://schemas.microsoft.com/office/drawing/2014/main" id="{1240A0D0-3403-22B6-58CF-55E486A61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758" y="4056056"/>
            <a:ext cx="4507832" cy="300521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Effectiveness of distance metrics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–</a:t>
            </a:r>
            <a:r>
              <a:rPr lang="en-US" sz="2400" dirty="0">
                <a:latin typeface="Bahnschrift" panose="020B0502040204020203" pitchFamily="34" charset="0"/>
              </a:rPr>
              <a:t> remember how we used the distance formula last time?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If you add enough columns, every pair of points ends up roughly the same distance apart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When everything is equally far from everything else, and k-NN stops working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It’s like data alphabet soup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Normalizing the columns doesn’t help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issue is that there’s just so many columns they end up balancing everything out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Q8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463144" y="155968"/>
            <a:ext cx="871680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THE CURSE OF DIMENSIONALITY</a:t>
            </a:r>
          </a:p>
        </p:txBody>
      </p:sp>
      <p:pic>
        <p:nvPicPr>
          <p:cNvPr id="2" name="Picture 1" descr="SpongeBob Plankton Evil Laugh - Sticker Mania">
            <a:extLst>
              <a:ext uri="{FF2B5EF4-FFF2-40B4-BE49-F238E27FC236}">
                <a16:creationId xmlns:a16="http://schemas.microsoft.com/office/drawing/2014/main" id="{E8D95833-C8C4-3F38-77E4-71C2DD032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283" y="3429000"/>
            <a:ext cx="1253064" cy="12530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/>
              <a:t>How many people in this school are basically the same as you?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/>
              <a:t>Sort by height into ten bands: 100 students, 10 bands, with 10 similarly heighted students in each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/>
              <a:t>Add shoe size as another dimension - 10 × 10 = 100 boxes for the same 100 students, so statistically you might not be sharing a box with anyone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/>
              <a:t>Add birthday month as another dimension - over 1,000 boxes, with at least 900, likely more, empty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/>
              <a:t>Nobody joined or left, but ways to be different were added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We call this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Data sparsity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06734" y="155968"/>
            <a:ext cx="774224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SPARSITY AND SAMPLE SIZE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3E318-D116-4660-A6E8-BBE5705E9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43E05AA-5A96-BCF0-64B1-9D454CD1169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6AADE97-FCBB-8708-37FD-610C081DF44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97E87C-07E5-F602-5826-BCAD3ECE03C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AE4A47-2EC8-EEE1-25A7-C5DFDFED54D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73CA21-3403-C2F8-98C0-2A5D3B47FE5E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/>
              <a:t>How many people in this school are basically the same as you?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/>
              <a:t>k-NN finds the nearest examples and copies their answer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/>
              <a:t>That only works if somebody is actually near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/>
              <a:t>In 1,000 boxes with 100 students, your nearest neighbor might not share many similarities to you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/>
              <a:t>Last lesson, distance broke because of scaling of values, and normalizing fixed it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/>
              <a:t>This time nothing fixes it except having fewer columns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/>
              <a:t>→ Notes Q9 (a), (b) and (c)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7A9BDD-6E6A-80A0-86EA-BEE6245AE240}"/>
              </a:ext>
            </a:extLst>
          </p:cNvPr>
          <p:cNvSpPr/>
          <p:nvPr/>
        </p:nvSpPr>
        <p:spPr>
          <a:xfrm>
            <a:off x="-306734" y="155968"/>
            <a:ext cx="774224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SPARSITY AND SAMPLE SIZE</a:t>
            </a:r>
          </a:p>
        </p:txBody>
      </p:sp>
    </p:spTree>
    <p:extLst>
      <p:ext uri="{BB962C8B-B14F-4D97-AF65-F5344CB8AC3E}">
        <p14:creationId xmlns:p14="http://schemas.microsoft.com/office/powerpoint/2010/main" val="3461050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9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100 rows of data, 10 bins per column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Q9 (a), (b) and (c)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18766" y="155968"/>
            <a:ext cx="768209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SPARSITY AND SAMPLE SIZE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548581"/>
              </p:ext>
            </p:extLst>
          </p:nvPr>
        </p:nvGraphicFramePr>
        <p:xfrm>
          <a:off x="796000" y="3400000"/>
          <a:ext cx="10600000" cy="236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Columns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Cells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Rows per cell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Rows needed for 10 </a:t>
                      </a:r>
                      <a:r>
                        <a:rPr lang="en-US"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to be in </a:t>
                      </a:r>
                      <a:r>
                        <a:rPr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each</a:t>
                      </a:r>
                      <a:r>
                        <a:rPr lang="en-US"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 cell</a:t>
                      </a:r>
                      <a:endParaRPr sz="1700" b="1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1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100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2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100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1,000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3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1,000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0.1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10,000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10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10,000,000,000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basically zero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100,000,000,000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Q10 and Q11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Q10: A hospital has 60 columns of patient data and 400 patient records. Explain two problems that arise from training on all 60 columns. [4]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Q11: A team has 500 columns and almost no computing time before a deadline. Identify the feature selection strategy they should use and justify the choice. [2]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119" y="155968"/>
            <a:ext cx="16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LAB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2897663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Feature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Dimension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Feature selection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Noise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Overfitting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Feature subset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Filter method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F6C99-7DA9-E963-361C-ABB7A467AD11}"/>
              </a:ext>
            </a:extLst>
          </p:cNvPr>
          <p:cNvSpPr/>
          <p:nvPr/>
        </p:nvSpPr>
        <p:spPr>
          <a:xfrm>
            <a:off x="3714308" y="1299334"/>
            <a:ext cx="360637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Wrapper method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Forward selection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Backward elimination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Embedded method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Dimensionality reduction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Curse of dimensionality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Data sparsity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2C1F0-BFEA-FF64-C8D1-26451E9CF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00000"/>
      </a:accent1>
      <a:accent2>
        <a:srgbClr val="C00000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46509</TotalTime>
  <Words>1988</Words>
  <Application>Microsoft Office PowerPoint</Application>
  <PresentationFormat>Widescreen</PresentationFormat>
  <Paragraphs>244</Paragraphs>
  <Slides>26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50</cp:revision>
  <dcterms:created xsi:type="dcterms:W3CDTF">2025-08-11T14:07:39Z</dcterms:created>
  <dcterms:modified xsi:type="dcterms:W3CDTF">2026-10-19T20:57:11Z</dcterms:modified>
</cp:coreProperties>
</file>