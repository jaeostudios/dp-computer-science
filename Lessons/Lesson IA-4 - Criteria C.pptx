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72157-49FF-415A-8D25-0FCED7966F27}" v="4" dt="2026-08-12T17:05:03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custSel modSld sldOrd">
      <pc:chgData name="Michael Hill" userId="41dba03d-e58d-4389-9894-554c10310ba4" providerId="ADAL" clId="{EF23FE1D-A042-481E-AFD7-2A9FB0847F54}" dt="2026-08-12T17:28:52.129" v="88" actId="1076"/>
      <pc:docMkLst>
        <pc:docMk/>
      </pc:docMkLst>
      <pc:sldChg chg="addSp delSp modSp mod delAnim modAnim">
        <pc:chgData name="Michael Hill" userId="41dba03d-e58d-4389-9894-554c10310ba4" providerId="ADAL" clId="{EF23FE1D-A042-481E-AFD7-2A9FB0847F54}" dt="2026-08-12T17:19:11.669" v="51" actId="478"/>
        <pc:sldMkLst>
          <pc:docMk/>
          <pc:sldMk cId="3974668657" sldId="266"/>
        </pc:sldMkLst>
        <pc:spChg chg="add del mod">
          <ac:chgData name="Michael Hill" userId="41dba03d-e58d-4389-9894-554c10310ba4" providerId="ADAL" clId="{EF23FE1D-A042-481E-AFD7-2A9FB0847F54}" dt="2026-08-12T17:19:09.987" v="50" actId="478"/>
          <ac:spMkLst>
            <pc:docMk/>
            <pc:sldMk cId="3974668657" sldId="266"/>
            <ac:spMk id="4" creationId="{6EE51678-0047-604C-64FA-07B75524926C}"/>
          </ac:spMkLst>
        </pc:spChg>
        <pc:spChg chg="add del mod">
          <ac:chgData name="Michael Hill" userId="41dba03d-e58d-4389-9894-554c10310ba4" providerId="ADAL" clId="{EF23FE1D-A042-481E-AFD7-2A9FB0847F54}" dt="2026-08-12T17:19:09.024" v="49" actId="478"/>
          <ac:spMkLst>
            <pc:docMk/>
            <pc:sldMk cId="3974668657" sldId="266"/>
            <ac:spMk id="7" creationId="{F1E64761-04CA-1194-935B-B5F66D158013}"/>
          </ac:spMkLst>
        </pc:spChg>
        <pc:spChg chg="del mod">
          <ac:chgData name="Michael Hill" userId="41dba03d-e58d-4389-9894-554c10310ba4" providerId="ADAL" clId="{EF23FE1D-A042-481E-AFD7-2A9FB0847F54}" dt="2026-08-12T17:04:57.893" v="9" actId="478"/>
          <ac:spMkLst>
            <pc:docMk/>
            <pc:sldMk cId="3974668657" sldId="266"/>
            <ac:spMk id="8" creationId="{83E7F978-7627-4BA1-9A58-0B303F25BDBA}"/>
          </ac:spMkLst>
        </pc:spChg>
        <pc:spChg chg="add del mod">
          <ac:chgData name="Michael Hill" userId="41dba03d-e58d-4389-9894-554c10310ba4" providerId="ADAL" clId="{EF23FE1D-A042-481E-AFD7-2A9FB0847F54}" dt="2026-08-12T17:19:08.395" v="48" actId="478"/>
          <ac:spMkLst>
            <pc:docMk/>
            <pc:sldMk cId="3974668657" sldId="266"/>
            <ac:spMk id="10" creationId="{BA97BF23-9112-720B-AFAE-3BA9AEDDBC62}"/>
          </ac:spMkLst>
        </pc:spChg>
        <pc:picChg chg="add">
          <ac:chgData name="Michael Hill" userId="41dba03d-e58d-4389-9894-554c10310ba4" providerId="ADAL" clId="{EF23FE1D-A042-481E-AFD7-2A9FB0847F54}" dt="2026-08-10T16:17:05.540" v="0"/>
          <ac:picMkLst>
            <pc:docMk/>
            <pc:sldMk cId="3974668657" sldId="266"/>
            <ac:picMk id="5" creationId="{2A78E0F0-EE68-6431-1B93-17044DA3A320}"/>
          </ac:picMkLst>
        </pc:picChg>
        <pc:picChg chg="add del">
          <ac:chgData name="Michael Hill" userId="41dba03d-e58d-4389-9894-554c10310ba4" providerId="ADAL" clId="{EF23FE1D-A042-481E-AFD7-2A9FB0847F54}" dt="2026-08-12T17:04:43.923" v="6" actId="478"/>
          <ac:picMkLst>
            <pc:docMk/>
            <pc:sldMk cId="3974668657" sldId="266"/>
            <ac:picMk id="6" creationId="{BB38FDA7-16B7-40FE-A493-80905721283B}"/>
          </ac:picMkLst>
        </pc:picChg>
        <pc:picChg chg="add del mod">
          <ac:chgData name="Michael Hill" userId="41dba03d-e58d-4389-9894-554c10310ba4" providerId="ADAL" clId="{EF23FE1D-A042-481E-AFD7-2A9FB0847F54}" dt="2026-08-12T17:19:11.669" v="51" actId="478"/>
          <ac:picMkLst>
            <pc:docMk/>
            <pc:sldMk cId="3974668657" sldId="266"/>
            <ac:picMk id="9" creationId="{84D3A0D6-7E10-C945-4C4C-9958120387ED}"/>
          </ac:picMkLst>
        </pc:picChg>
      </pc:sldChg>
      <pc:sldChg chg="addSp delSp modSp mod">
        <pc:chgData name="Michael Hill" userId="41dba03d-e58d-4389-9894-554c10310ba4" providerId="ADAL" clId="{EF23FE1D-A042-481E-AFD7-2A9FB0847F54}" dt="2026-08-12T17:27:46.893" v="56" actId="14100"/>
        <pc:sldMkLst>
          <pc:docMk/>
          <pc:sldMk cId="2174280541" sldId="271"/>
        </pc:sldMkLst>
        <pc:picChg chg="del">
          <ac:chgData name="Michael Hill" userId="41dba03d-e58d-4389-9894-554c10310ba4" providerId="ADAL" clId="{EF23FE1D-A042-481E-AFD7-2A9FB0847F54}" dt="2026-08-12T17:27:35.190" v="52" actId="478"/>
          <ac:picMkLst>
            <pc:docMk/>
            <pc:sldMk cId="2174280541" sldId="271"/>
            <ac:picMk id="6" creationId="{BC5B0C14-A3BE-1A84-F7B0-EDA9A13C437A}"/>
          </ac:picMkLst>
        </pc:picChg>
        <pc:picChg chg="add mod">
          <ac:chgData name="Michael Hill" userId="41dba03d-e58d-4389-9894-554c10310ba4" providerId="ADAL" clId="{EF23FE1D-A042-481E-AFD7-2A9FB0847F54}" dt="2026-08-12T17:27:46.893" v="56" actId="14100"/>
          <ac:picMkLst>
            <pc:docMk/>
            <pc:sldMk cId="2174280541" sldId="271"/>
            <ac:picMk id="7" creationId="{0C73F4AF-A018-A178-AE5A-4202C0D4ECC0}"/>
          </ac:picMkLst>
        </pc:picChg>
      </pc:sldChg>
      <pc:sldChg chg="addSp delSp modSp">
        <pc:chgData name="Michael Hill" userId="41dba03d-e58d-4389-9894-554c10310ba4" providerId="ADAL" clId="{EF23FE1D-A042-481E-AFD7-2A9FB0847F54}" dt="2026-08-10T16:39:08.442" v="3"/>
        <pc:sldMkLst>
          <pc:docMk/>
          <pc:sldMk cId="1746449927" sldId="281"/>
        </pc:sldMkLst>
      </pc:sldChg>
      <pc:sldChg chg="addSp delSp modSp mod">
        <pc:chgData name="Michael Hill" userId="41dba03d-e58d-4389-9894-554c10310ba4" providerId="ADAL" clId="{EF23FE1D-A042-481E-AFD7-2A9FB0847F54}" dt="2026-08-12T17:28:05.709" v="65" actId="1076"/>
        <pc:sldMkLst>
          <pc:docMk/>
          <pc:sldMk cId="1607146058" sldId="283"/>
        </pc:sldMkLst>
        <pc:picChg chg="add mod">
          <ac:chgData name="Michael Hill" userId="41dba03d-e58d-4389-9894-554c10310ba4" providerId="ADAL" clId="{EF23FE1D-A042-481E-AFD7-2A9FB0847F54}" dt="2026-08-12T17:28:05.709" v="65" actId="1076"/>
          <ac:picMkLst>
            <pc:docMk/>
            <pc:sldMk cId="1607146058" sldId="283"/>
            <ac:picMk id="5" creationId="{C29E0610-5F49-5F5E-B850-92FC4C216E2D}"/>
          </ac:picMkLst>
        </pc:picChg>
        <pc:picChg chg="del">
          <ac:chgData name="Michael Hill" userId="41dba03d-e58d-4389-9894-554c10310ba4" providerId="ADAL" clId="{EF23FE1D-A042-481E-AFD7-2A9FB0847F54}" dt="2026-08-12T17:27:59.676" v="62" actId="478"/>
          <ac:picMkLst>
            <pc:docMk/>
            <pc:sldMk cId="1607146058" sldId="283"/>
            <ac:picMk id="6" creationId="{E4C00A1C-3884-0688-A9F9-AA36BBD71808}"/>
          </ac:picMkLst>
        </pc:picChg>
      </pc:sldChg>
      <pc:sldChg chg="addSp delSp modSp mod">
        <pc:chgData name="Michael Hill" userId="41dba03d-e58d-4389-9894-554c10310ba4" providerId="ADAL" clId="{EF23FE1D-A042-481E-AFD7-2A9FB0847F54}" dt="2026-08-12T17:27:56.741" v="61" actId="14100"/>
        <pc:sldMkLst>
          <pc:docMk/>
          <pc:sldMk cId="3355797256" sldId="284"/>
        </pc:sldMkLst>
        <pc:picChg chg="del">
          <ac:chgData name="Michael Hill" userId="41dba03d-e58d-4389-9894-554c10310ba4" providerId="ADAL" clId="{EF23FE1D-A042-481E-AFD7-2A9FB0847F54}" dt="2026-08-12T17:27:49.503" v="57" actId="478"/>
          <ac:picMkLst>
            <pc:docMk/>
            <pc:sldMk cId="3355797256" sldId="284"/>
            <ac:picMk id="6" creationId="{4E5959EA-892F-F120-E14E-0360CDFC86B1}"/>
          </ac:picMkLst>
        </pc:picChg>
        <pc:picChg chg="add mod">
          <ac:chgData name="Michael Hill" userId="41dba03d-e58d-4389-9894-554c10310ba4" providerId="ADAL" clId="{EF23FE1D-A042-481E-AFD7-2A9FB0847F54}" dt="2026-08-12T17:27:56.741" v="61" actId="14100"/>
          <ac:picMkLst>
            <pc:docMk/>
            <pc:sldMk cId="3355797256" sldId="284"/>
            <ac:picMk id="8" creationId="{A5DCB43B-2816-7318-BDEE-4BDC710BC104}"/>
          </ac:picMkLst>
        </pc:picChg>
      </pc:sldChg>
      <pc:sldChg chg="addSp delSp modSp mod">
        <pc:chgData name="Michael Hill" userId="41dba03d-e58d-4389-9894-554c10310ba4" providerId="ADAL" clId="{EF23FE1D-A042-481E-AFD7-2A9FB0847F54}" dt="2026-08-12T17:28:16.006" v="69" actId="1076"/>
        <pc:sldMkLst>
          <pc:docMk/>
          <pc:sldMk cId="1958169038" sldId="285"/>
        </pc:sldMkLst>
        <pc:picChg chg="del">
          <ac:chgData name="Michael Hill" userId="41dba03d-e58d-4389-9894-554c10310ba4" providerId="ADAL" clId="{EF23FE1D-A042-481E-AFD7-2A9FB0847F54}" dt="2026-08-12T17:28:08.972" v="66" actId="478"/>
          <ac:picMkLst>
            <pc:docMk/>
            <pc:sldMk cId="1958169038" sldId="285"/>
            <ac:picMk id="6" creationId="{7C5AF11E-F2F7-D0C9-645A-BFC12EFE3286}"/>
          </ac:picMkLst>
        </pc:picChg>
        <pc:picChg chg="add mod">
          <ac:chgData name="Michael Hill" userId="41dba03d-e58d-4389-9894-554c10310ba4" providerId="ADAL" clId="{EF23FE1D-A042-481E-AFD7-2A9FB0847F54}" dt="2026-08-12T17:28:16.006" v="69" actId="1076"/>
          <ac:picMkLst>
            <pc:docMk/>
            <pc:sldMk cId="1958169038" sldId="285"/>
            <ac:picMk id="8" creationId="{68E423A2-B689-1583-D98C-E2220F43B5B7}"/>
          </ac:picMkLst>
        </pc:picChg>
      </pc:sldChg>
      <pc:sldChg chg="addSp delSp modSp mod">
        <pc:chgData name="Michael Hill" userId="41dba03d-e58d-4389-9894-554c10310ba4" providerId="ADAL" clId="{EF23FE1D-A042-481E-AFD7-2A9FB0847F54}" dt="2026-08-12T17:28:23.115" v="73" actId="1076"/>
        <pc:sldMkLst>
          <pc:docMk/>
          <pc:sldMk cId="87515353" sldId="286"/>
        </pc:sldMkLst>
        <pc:picChg chg="add mod">
          <ac:chgData name="Michael Hill" userId="41dba03d-e58d-4389-9894-554c10310ba4" providerId="ADAL" clId="{EF23FE1D-A042-481E-AFD7-2A9FB0847F54}" dt="2026-08-12T17:28:23.115" v="73" actId="1076"/>
          <ac:picMkLst>
            <pc:docMk/>
            <pc:sldMk cId="87515353" sldId="286"/>
            <ac:picMk id="5" creationId="{C3329D5D-8F97-1BCC-B94B-E064228F340D}"/>
          </ac:picMkLst>
        </pc:picChg>
        <pc:picChg chg="del">
          <ac:chgData name="Michael Hill" userId="41dba03d-e58d-4389-9894-554c10310ba4" providerId="ADAL" clId="{EF23FE1D-A042-481E-AFD7-2A9FB0847F54}" dt="2026-08-12T17:28:17.846" v="70" actId="478"/>
          <ac:picMkLst>
            <pc:docMk/>
            <pc:sldMk cId="87515353" sldId="286"/>
            <ac:picMk id="6" creationId="{0682E33D-C3B1-3E32-A854-5B3653FB3395}"/>
          </ac:picMkLst>
        </pc:picChg>
      </pc:sldChg>
      <pc:sldChg chg="addSp delSp modSp mod">
        <pc:chgData name="Michael Hill" userId="41dba03d-e58d-4389-9894-554c10310ba4" providerId="ADAL" clId="{EF23FE1D-A042-481E-AFD7-2A9FB0847F54}" dt="2026-08-12T17:28:35.176" v="80" actId="14100"/>
        <pc:sldMkLst>
          <pc:docMk/>
          <pc:sldMk cId="3108891651" sldId="287"/>
        </pc:sldMkLst>
        <pc:picChg chg="del">
          <ac:chgData name="Michael Hill" userId="41dba03d-e58d-4389-9894-554c10310ba4" providerId="ADAL" clId="{EF23FE1D-A042-481E-AFD7-2A9FB0847F54}" dt="2026-08-12T17:28:25.020" v="74" actId="478"/>
          <ac:picMkLst>
            <pc:docMk/>
            <pc:sldMk cId="3108891651" sldId="287"/>
            <ac:picMk id="6" creationId="{33FDBCDD-A916-87A5-2527-4DDFFDCD9E35}"/>
          </ac:picMkLst>
        </pc:picChg>
        <pc:picChg chg="add mod">
          <ac:chgData name="Michael Hill" userId="41dba03d-e58d-4389-9894-554c10310ba4" providerId="ADAL" clId="{EF23FE1D-A042-481E-AFD7-2A9FB0847F54}" dt="2026-08-12T17:28:35.176" v="80" actId="14100"/>
          <ac:picMkLst>
            <pc:docMk/>
            <pc:sldMk cId="3108891651" sldId="287"/>
            <ac:picMk id="7" creationId="{07FDA197-B3F1-9563-0D50-E8981FEC1AB5}"/>
          </ac:picMkLst>
        </pc:picChg>
      </pc:sldChg>
      <pc:sldChg chg="addSp delSp modSp mod ord">
        <pc:chgData name="Michael Hill" userId="41dba03d-e58d-4389-9894-554c10310ba4" providerId="ADAL" clId="{EF23FE1D-A042-481E-AFD7-2A9FB0847F54}" dt="2026-08-12T17:28:43.521" v="84" actId="1076"/>
        <pc:sldMkLst>
          <pc:docMk/>
          <pc:sldMk cId="497777658" sldId="288"/>
        </pc:sldMkLst>
        <pc:picChg chg="del">
          <ac:chgData name="Michael Hill" userId="41dba03d-e58d-4389-9894-554c10310ba4" providerId="ADAL" clId="{EF23FE1D-A042-481E-AFD7-2A9FB0847F54}" dt="2026-08-12T17:28:37.348" v="81" actId="478"/>
          <ac:picMkLst>
            <pc:docMk/>
            <pc:sldMk cId="497777658" sldId="288"/>
            <ac:picMk id="6" creationId="{02B9A93D-0C1D-69AE-D951-62EB23647510}"/>
          </ac:picMkLst>
        </pc:picChg>
        <pc:picChg chg="add mod">
          <ac:chgData name="Michael Hill" userId="41dba03d-e58d-4389-9894-554c10310ba4" providerId="ADAL" clId="{EF23FE1D-A042-481E-AFD7-2A9FB0847F54}" dt="2026-08-12T17:28:43.521" v="84" actId="1076"/>
          <ac:picMkLst>
            <pc:docMk/>
            <pc:sldMk cId="497777658" sldId="288"/>
            <ac:picMk id="7" creationId="{E41E5E4D-9CAF-C0A3-C045-8C466123A396}"/>
          </ac:picMkLst>
        </pc:picChg>
      </pc:sldChg>
      <pc:sldChg chg="addSp delSp modSp mod">
        <pc:chgData name="Michael Hill" userId="41dba03d-e58d-4389-9894-554c10310ba4" providerId="ADAL" clId="{EF23FE1D-A042-481E-AFD7-2A9FB0847F54}" dt="2026-08-12T17:28:52.129" v="88" actId="1076"/>
        <pc:sldMkLst>
          <pc:docMk/>
          <pc:sldMk cId="3726334066" sldId="289"/>
        </pc:sldMkLst>
        <pc:picChg chg="del">
          <ac:chgData name="Michael Hill" userId="41dba03d-e58d-4389-9894-554c10310ba4" providerId="ADAL" clId="{EF23FE1D-A042-481E-AFD7-2A9FB0847F54}" dt="2026-08-12T17:28:47.677" v="85" actId="478"/>
          <ac:picMkLst>
            <pc:docMk/>
            <pc:sldMk cId="3726334066" sldId="289"/>
            <ac:picMk id="6" creationId="{CD85C072-8506-F57A-6DFC-1507719E6D7B}"/>
          </ac:picMkLst>
        </pc:picChg>
        <pc:picChg chg="add mod">
          <ac:chgData name="Michael Hill" userId="41dba03d-e58d-4389-9894-554c10310ba4" providerId="ADAL" clId="{EF23FE1D-A042-481E-AFD7-2A9FB0847F54}" dt="2026-08-12T17:28:52.129" v="88" actId="1076"/>
          <ac:picMkLst>
            <pc:docMk/>
            <pc:sldMk cId="3726334066" sldId="289"/>
            <ac:picMk id="8" creationId="{2B536842-1B36-4FE1-F9C9-F4480DEED43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4D9D0-9A8D-45D0-BBC1-DF8BE32BE22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8A98A-C6B2-4DB1-8285-D44096762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80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8F8C-3BC4-2C2A-FE15-4B0900B9C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46FDC-EFBD-9643-13FA-3ADABCF7C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F114E-266A-65EF-23DF-FDD28EBC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E04C5-2129-2E5D-21D4-B5F83C07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7D3DE-2438-8703-F3A4-8BFD17E2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8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BFD5-A5BC-78AC-A9C3-7F2C1E3E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EF3C2-D14E-9900-A00E-878E6C3FE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3415F-496A-57C4-48A0-E2D5E918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2552D-000F-BD61-D905-146B2A8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A7404-DC83-5A5C-E69B-2CB04631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9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2A11-FC98-6824-DAB5-88003844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5C534-3611-CCD7-ADA0-DACBE3670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0E192-EC7B-16A6-EE1A-FAF02B6EC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12EC8-61E2-D49F-D438-92727082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A1950-D285-6770-7468-5A22A210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5D6C-A4FD-1F29-E982-FCD7E356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E31A-AA7E-660C-8844-B39312BD6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FC096-434E-80E3-C5AC-BCEA6EA8F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DB2D3-E0C7-91D9-FAB5-8632633B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1861B-6C0C-27E5-C905-4A8B92F0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64558-82ED-C8D4-F447-85CD2459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8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EE12-0306-EE9A-7DE1-C6188F55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D80E8-413A-3EBC-A52F-C5769505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C4C82-F51B-1892-B04F-09A206D69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13E9D8-2C0C-9630-7078-ADDDD5708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EB4CC-97BE-9C7E-5694-8FF671D09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9D9DD-EB74-60AD-BF97-52741BCD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D622-B7C5-EE66-3E8B-735082AB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CCF7B-5C0F-03B2-218E-8BEDD446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6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2901-94C4-04EF-30C2-E90CABF3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4C812-C0F6-EBAC-C309-974C99FA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981E7-B07E-3B6C-F413-E01061A5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34AF4-19B7-B2FB-9AEB-DD3DD11A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2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015F1-6435-1159-F63C-968276382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B0AFD-817F-E8BC-0248-AA421A70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3E04F-15A6-4913-D168-B875FFDA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8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1771-6C18-AC44-ED30-C2EF62FB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50F52-0DCA-8742-37C5-B44CAB20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119C0-4620-F984-9FEF-BF0338BA5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83010-5F8A-2A83-6FAD-6A64064D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6514B-7FA6-7724-D422-0D0CC84E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6BBB2-B302-78D0-99F6-6C8B1EEA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9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EB97-42A4-57AF-97A8-B2625559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49A09-DC3F-F111-6E04-AA44B27B5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F7B21-C5D1-5B60-EF20-E9136EBC7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BC51A-56CE-F73C-BC6C-01ADDF87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76B1F-6A13-C431-8179-A6188415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8E118-41E0-99C6-09CA-CF6C95FF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4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0FEF-E6A7-B26F-3F65-CE3A0990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1149C-08CC-7CF2-6E92-951793CEA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8D87-982C-1BFB-1EC9-CD2613A93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ABFB0-9D27-68B3-329F-8894EC2A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47B3F-0D97-EB25-3325-398767B7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2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10203-61B7-3B6A-92C6-C000A8035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C29B1-7BD8-1EE2-35BE-A9953F783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71FC5-266B-6A28-D873-0DE84720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33E4-F16D-F066-390D-3352BA4F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698CD-5AD0-6721-9EE6-58DBC09B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2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3398C-C0E4-2A08-842A-39AF61D1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CBAF7-BB69-942C-DD27-E49A0361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51E32-97A2-95F6-03BA-85CA3F579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F4FF7-17C2-470A-B450-6756AAF160B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D12C7-B16B-0FB8-34FF-68FBA8BF3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62B0-EFC9-880A-3555-4C595CD87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9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609" y="1070608"/>
            <a:ext cx="5844988" cy="2387600"/>
          </a:xfrm>
        </p:spPr>
        <p:txBody>
          <a:bodyPr/>
          <a:lstStyle/>
          <a:p>
            <a:r>
              <a:rPr>
                <a:latin typeface="Comic Sans MS"/>
              </a:rPr>
              <a:t>THE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4684295" cy="1655762"/>
          </a:xfrm>
        </p:spPr>
        <p:txBody>
          <a:bodyPr/>
          <a:lstStyle/>
          <a:p>
            <a:r>
              <a:rPr>
                <a:latin typeface="Comic Sans MS"/>
              </a:rPr>
              <a:t>IA - 4 - Criteria C</a:t>
            </a:r>
          </a:p>
        </p:txBody>
      </p:sp>
      <p:pic>
        <p:nvPicPr>
          <p:cNvPr id="4" name="Picture 3" descr="Letter C (Leapfrog Letter Factory) by supercool3456 on DeviantArt">
            <a:extLst>
              <a:ext uri="{FF2B5EF4-FFF2-40B4-BE49-F238E27FC236}">
                <a16:creationId xmlns:a16="http://schemas.microsoft.com/office/drawing/2014/main" id="{155FDE98-6863-5CEE-DC4C-8E1E0D1F7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782" y="1472338"/>
            <a:ext cx="3467890" cy="37854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CRITERIA C -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dirty="0">
                <a:latin typeface="Comic Sans MS"/>
              </a:rPr>
              <a:t>150 words recommended</a:t>
            </a:r>
          </a:p>
          <a:p>
            <a:r>
              <a:rPr dirty="0">
                <a:latin typeface="Comic Sans MS"/>
              </a:rPr>
              <a:t>Criteria C has THREE parts</a:t>
            </a:r>
          </a:p>
          <a:p>
            <a:pPr lvl="1"/>
            <a:r>
              <a:rPr dirty="0">
                <a:latin typeface="Comic Sans MS"/>
              </a:rPr>
              <a:t>System model</a:t>
            </a:r>
          </a:p>
          <a:p>
            <a:pPr lvl="1"/>
            <a:r>
              <a:rPr dirty="0">
                <a:latin typeface="Comic Sans MS"/>
              </a:rPr>
              <a:t>Algorithms</a:t>
            </a:r>
          </a:p>
          <a:p>
            <a:pPr lvl="1"/>
            <a:r>
              <a:rPr dirty="0">
                <a:latin typeface="Comic Sans MS"/>
              </a:rPr>
              <a:t>Testing strategy</a:t>
            </a:r>
          </a:p>
          <a:p>
            <a:r>
              <a:rPr dirty="0">
                <a:latin typeface="Comic Sans MS"/>
              </a:rPr>
              <a:t>It </a:t>
            </a:r>
            <a:r>
              <a:rPr lang="en-US" dirty="0">
                <a:latin typeface="Comic Sans MS"/>
              </a:rPr>
              <a:t>must </a:t>
            </a:r>
            <a:r>
              <a:rPr dirty="0">
                <a:latin typeface="Comic Sans MS"/>
              </a:rPr>
              <a:t>line up with Criteria A and B - same success criteria, same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mic Sans MS"/>
              </a:rPr>
              <a:t>SYSTEM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70755" cy="4351338"/>
          </a:xfrm>
        </p:spPr>
        <p:txBody>
          <a:bodyPr wrap="square">
            <a:noAutofit/>
          </a:bodyPr>
          <a:lstStyle/>
          <a:p>
            <a:r>
              <a:rPr dirty="0">
                <a:latin typeface="Comic Sans MS"/>
              </a:rPr>
              <a:t>Diagrams showing the components of your system and how they connect</a:t>
            </a:r>
          </a:p>
          <a:p>
            <a:r>
              <a:rPr dirty="0">
                <a:latin typeface="Comic Sans MS"/>
              </a:rPr>
              <a:t>Includes the design of your user interface</a:t>
            </a:r>
          </a:p>
          <a:p>
            <a:r>
              <a:rPr dirty="0">
                <a:latin typeface="Comic Sans MS"/>
              </a:rPr>
              <a:t>Shows the rules governing how the components interact</a:t>
            </a:r>
          </a:p>
          <a:p>
            <a:r>
              <a:rPr dirty="0">
                <a:latin typeface="Comic Sans MS"/>
              </a:rPr>
              <a:t>Does NOT include the algorithms - those are the next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388593-D972-F58C-788E-0D69CF2DE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8" t="8124"/>
          <a:stretch>
            <a:fillRect/>
          </a:stretch>
        </p:blipFill>
        <p:spPr>
          <a:xfrm>
            <a:off x="7069393" y="2363070"/>
            <a:ext cx="4485378" cy="32764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SYSTEM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dirty="0">
                <a:latin typeface="Comic Sans MS"/>
              </a:rPr>
              <a:t>What to draw depends on what you are building</a:t>
            </a:r>
          </a:p>
          <a:p>
            <a:pPr lvl="1"/>
            <a:r>
              <a:rPr dirty="0">
                <a:latin typeface="Comic Sans MS"/>
              </a:rPr>
              <a:t>Procedural: flow charts and data flow diagrams</a:t>
            </a:r>
          </a:p>
          <a:p>
            <a:pPr lvl="1"/>
            <a:r>
              <a:rPr dirty="0">
                <a:latin typeface="Comic Sans MS"/>
              </a:rPr>
              <a:t>Object-oriented: UML class diagrams - yes, NOW you may</a:t>
            </a:r>
          </a:p>
          <a:p>
            <a:pPr lvl="1"/>
            <a:r>
              <a:rPr dirty="0">
                <a:latin typeface="Comic Sans MS"/>
              </a:rPr>
              <a:t>Database: entity relationship diagrams - also now</a:t>
            </a:r>
          </a:p>
          <a:p>
            <a:pPr lvl="1"/>
            <a:r>
              <a:rPr dirty="0">
                <a:latin typeface="Comic Sans MS"/>
              </a:rPr>
              <a:t>Everyone: </a:t>
            </a:r>
            <a:r>
              <a:rPr lang="en-US" dirty="0">
                <a:latin typeface="Comic Sans MS"/>
              </a:rPr>
              <a:t>mockups of every screen the user will see</a:t>
            </a:r>
          </a:p>
          <a:p>
            <a:r>
              <a:rPr dirty="0">
                <a:latin typeface="Comic Sans MS"/>
              </a:rPr>
              <a:t>Files, databases and network</a:t>
            </a:r>
            <a:r>
              <a:rPr lang="en-US" dirty="0">
                <a:latin typeface="Comic Sans MS"/>
              </a:rPr>
              <a:t>ing details </a:t>
            </a:r>
            <a:r>
              <a:rPr dirty="0">
                <a:latin typeface="Comic Sans MS"/>
              </a:rPr>
              <a:t>are components too</a:t>
            </a:r>
            <a:endParaRPr lang="en-US" dirty="0">
              <a:latin typeface="Comic Sans MS"/>
            </a:endParaRPr>
          </a:p>
          <a:p>
            <a:pPr lvl="1"/>
            <a:r>
              <a:rPr lang="en-US" dirty="0">
                <a:latin typeface="Comic Sans MS"/>
              </a:rPr>
              <a:t>Please don’t do networking, I’m begging you</a:t>
            </a:r>
            <a:endParaRPr dirty="0">
              <a:latin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lang="en-US" dirty="0">
                <a:latin typeface="Comic Sans MS"/>
              </a:rPr>
              <a:t>There should be one</a:t>
            </a:r>
            <a:r>
              <a:rPr dirty="0">
                <a:latin typeface="Comic Sans MS"/>
              </a:rPr>
              <a:t> algorithm for each component you named in the model</a:t>
            </a:r>
          </a:p>
          <a:p>
            <a:pPr lvl="1"/>
            <a:r>
              <a:rPr dirty="0">
                <a:latin typeface="Comic Sans MS"/>
              </a:rPr>
              <a:t>Pseudocode, </a:t>
            </a:r>
            <a:r>
              <a:rPr lang="en-US" dirty="0">
                <a:latin typeface="Comic Sans MS"/>
              </a:rPr>
              <a:t>flow charts</a:t>
            </a:r>
            <a:r>
              <a:rPr dirty="0">
                <a:latin typeface="Comic Sans MS"/>
              </a:rPr>
              <a:t>, or numbered plain English</a:t>
            </a:r>
          </a:p>
          <a:p>
            <a:pPr lvl="1"/>
            <a:r>
              <a:rPr dirty="0">
                <a:latin typeface="Comic Sans MS"/>
              </a:rPr>
              <a:t>Detailed enough that someone could code from it</a:t>
            </a:r>
          </a:p>
          <a:p>
            <a:r>
              <a:rPr dirty="0">
                <a:latin typeface="Comic Sans MS"/>
              </a:rPr>
              <a:t>The </a:t>
            </a:r>
            <a:r>
              <a:rPr dirty="0" err="1">
                <a:latin typeface="Comic Sans MS"/>
              </a:rPr>
              <a:t>markscheme</a:t>
            </a:r>
            <a:r>
              <a:rPr dirty="0">
                <a:latin typeface="Comic Sans MS"/>
              </a:rPr>
              <a:t> asks whether your algorithms let the product perform</a:t>
            </a:r>
          </a:p>
          <a:p>
            <a:r>
              <a:rPr lang="en-US" dirty="0">
                <a:latin typeface="Comic Sans MS"/>
              </a:rPr>
              <a:t>Do NOT make one huge algorithm for the whole program</a:t>
            </a:r>
          </a:p>
          <a:p>
            <a:pPr lvl="1"/>
            <a:r>
              <a:rPr lang="en-US" dirty="0">
                <a:latin typeface="Comic Sans MS"/>
              </a:rPr>
              <a:t>The components, when put together, should create the whole program, you’re </a:t>
            </a:r>
            <a:r>
              <a:rPr lang="en-US" dirty="0" err="1">
                <a:latin typeface="Comic Sans MS"/>
              </a:rPr>
              <a:t>sorta</a:t>
            </a:r>
            <a:r>
              <a:rPr lang="en-US" dirty="0">
                <a:latin typeface="Comic Sans MS"/>
              </a:rPr>
              <a:t> piecemealing it</a:t>
            </a:r>
            <a:endParaRPr dirty="0">
              <a:latin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dirty="0">
                <a:latin typeface="Comic Sans MS"/>
              </a:rPr>
              <a:t>A systematic way of checking the product </a:t>
            </a:r>
            <a:r>
              <a:rPr lang="en-US" dirty="0">
                <a:latin typeface="Comic Sans MS"/>
              </a:rPr>
              <a:t>meets your success criteria</a:t>
            </a:r>
            <a:endParaRPr dirty="0">
              <a:latin typeface="Comic Sans MS"/>
            </a:endParaRPr>
          </a:p>
          <a:p>
            <a:r>
              <a:rPr dirty="0">
                <a:latin typeface="Comic Sans MS"/>
              </a:rPr>
              <a:t>A table works best - three columns</a:t>
            </a:r>
          </a:p>
          <a:p>
            <a:pPr lvl="1"/>
            <a:r>
              <a:rPr dirty="0">
                <a:latin typeface="Comic Sans MS"/>
              </a:rPr>
              <a:t>Success criterion | Test | Expected result</a:t>
            </a:r>
          </a:p>
          <a:p>
            <a:r>
              <a:rPr dirty="0">
                <a:latin typeface="Comic Sans MS"/>
              </a:rPr>
              <a:t>One row for every success criterion from Criteria A</a:t>
            </a:r>
          </a:p>
          <a:p>
            <a:r>
              <a:rPr dirty="0">
                <a:latin typeface="Comic Sans MS"/>
              </a:rPr>
              <a:t>Include extreme and abnormal data, </a:t>
            </a:r>
            <a:r>
              <a:rPr lang="en-US" dirty="0">
                <a:latin typeface="Comic Sans MS"/>
              </a:rPr>
              <a:t>not just correct and incorrect data</a:t>
            </a:r>
            <a:endParaRPr dirty="0">
              <a:latin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dirty="0">
                <a:latin typeface="Comic Sans MS"/>
              </a:rPr>
              <a:t>Extreme data is at the edge of what is allowed</a:t>
            </a:r>
            <a:endParaRPr lang="en-US" dirty="0">
              <a:latin typeface="Comic Sans MS"/>
            </a:endParaRPr>
          </a:p>
          <a:p>
            <a:pPr lvl="1"/>
            <a:r>
              <a:rPr lang="en-US" dirty="0">
                <a:latin typeface="Comic Sans MS"/>
              </a:rPr>
              <a:t>These are also called edge cases</a:t>
            </a:r>
            <a:endParaRPr dirty="0">
              <a:latin typeface="Comic Sans MS"/>
            </a:endParaRPr>
          </a:p>
          <a:p>
            <a:pPr lvl="1"/>
            <a:r>
              <a:rPr dirty="0">
                <a:latin typeface="Comic Sans MS"/>
              </a:rPr>
              <a:t>A name of 60 characters, a quantity of 0, the last day of the month</a:t>
            </a:r>
          </a:p>
          <a:p>
            <a:r>
              <a:rPr dirty="0">
                <a:latin typeface="Comic Sans MS"/>
              </a:rPr>
              <a:t>Abnormal data is what should be rejected</a:t>
            </a:r>
          </a:p>
          <a:p>
            <a:pPr lvl="1"/>
            <a:r>
              <a:rPr dirty="0">
                <a:latin typeface="Comic Sans MS"/>
              </a:rPr>
              <a:t>Letters in a number field, an empty form, a file that isn't there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THE THIRD PARTY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dirty="0">
                <a:latin typeface="Comic Sans MS"/>
              </a:rPr>
              <a:t>The guide says Criteria C needs the clarity to let a third party recreate the product</a:t>
            </a:r>
          </a:p>
          <a:p>
            <a:r>
              <a:rPr dirty="0">
                <a:latin typeface="Comic Sans MS"/>
              </a:rPr>
              <a:t>So: if I handed your Criteria C to a stranger who codes, could they build it?</a:t>
            </a:r>
          </a:p>
          <a:p>
            <a:r>
              <a:rPr dirty="0">
                <a:latin typeface="Comic Sans MS"/>
              </a:rPr>
              <a:t>Could they build it without asking you a single que</a:t>
            </a:r>
            <a:r>
              <a:rPr lang="en-US" dirty="0">
                <a:latin typeface="Comic Sans MS"/>
              </a:rPr>
              <a:t>stion?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MARKSCHEME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17558"/>
              </p:ext>
            </p:extLst>
          </p:nvPr>
        </p:nvGraphicFramePr>
        <p:xfrm>
          <a:off x="420000" y="1700000"/>
          <a:ext cx="11350000" cy="4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r>
                        <a:rPr sz="1400" b="1">
                          <a:latin typeface="Comic Sans MS"/>
                        </a:rPr>
                        <a:t>Marks</a:t>
                      </a:r>
                    </a:p>
                  </a:txBody>
                  <a:tcPr marT="27000" marB="27000"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Comic Sans MS"/>
                        </a:rPr>
                        <a:t>Level descriptor</a:t>
                      </a:r>
                    </a:p>
                  </a:txBody>
                  <a:tcPr marT="27000" marB="27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latin typeface="Comic Sans MS"/>
                        </a:rPr>
                        <a:t>0</a:t>
                      </a:r>
                    </a:p>
                  </a:txBody>
                  <a:tcPr marT="27000" marB="27000"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omic Sans MS"/>
                        </a:rPr>
                        <a:t>The response does not reach a standard described by the descriptors below.</a:t>
                      </a:r>
                    </a:p>
                  </a:txBody>
                  <a:tcPr marT="27000" marB="27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000">
                <a:tc>
                  <a:txBody>
                    <a:bodyPr/>
                    <a:lstStyle/>
                    <a:p>
                      <a:r>
                        <a:rPr sz="1600" b="0">
                          <a:latin typeface="Comic Sans MS"/>
                        </a:rPr>
                        <a:t>1-2</a:t>
                      </a:r>
                    </a:p>
                  </a:txBody>
                  <a:tcPr marT="27000" marB="27000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latin typeface="Comic Sans MS"/>
                        </a:rPr>
                        <a:t>The response:</a:t>
                      </a:r>
                    </a:p>
                    <a:p>
                      <a:r>
                        <a:rPr sz="1600" b="0" dirty="0">
                          <a:latin typeface="Comic Sans MS"/>
                        </a:rPr>
                        <a:t>• outlines a limited system model</a:t>
                      </a:r>
                    </a:p>
                    <a:p>
                      <a:r>
                        <a:rPr sz="1600" b="0" dirty="0">
                          <a:latin typeface="Comic Sans MS"/>
                        </a:rPr>
                        <a:t>• identifies algorithms for the components of the system model</a:t>
                      </a:r>
                    </a:p>
                    <a:p>
                      <a:r>
                        <a:rPr sz="1600" b="0" dirty="0">
                          <a:latin typeface="Comic Sans MS"/>
                        </a:rPr>
                        <a:t>• identifies a testing strategy for at least one success criterion.</a:t>
                      </a:r>
                    </a:p>
                  </a:txBody>
                  <a:tcPr marT="27000" marB="27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0000">
                <a:tc>
                  <a:txBody>
                    <a:bodyPr/>
                    <a:lstStyle/>
                    <a:p>
                      <a:r>
                        <a:rPr sz="1600" b="0">
                          <a:latin typeface="Comic Sans MS"/>
                        </a:rPr>
                        <a:t>3-4</a:t>
                      </a:r>
                    </a:p>
                  </a:txBody>
                  <a:tcPr marT="27000" marB="27000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latin typeface="Comic Sans MS"/>
                        </a:rPr>
                        <a:t>The response:</a:t>
                      </a:r>
                    </a:p>
                    <a:p>
                      <a:r>
                        <a:rPr sz="1600" b="0" dirty="0">
                          <a:latin typeface="Comic Sans MS"/>
                        </a:rPr>
                        <a:t>• constructs a system model that is not complete</a:t>
                      </a:r>
                    </a:p>
                    <a:p>
                      <a:r>
                        <a:rPr sz="1600" b="0" dirty="0">
                          <a:latin typeface="Comic Sans MS"/>
                        </a:rPr>
                        <a:t>• constructs algorithms for the components of the system model that lead to partial functionality of the product</a:t>
                      </a:r>
                    </a:p>
                    <a:p>
                      <a:r>
                        <a:rPr sz="1600" b="0" dirty="0">
                          <a:latin typeface="Comic Sans MS"/>
                        </a:rPr>
                        <a:t>• outlines a testing strategy that aligns with at least three success criteria.</a:t>
                      </a:r>
                    </a:p>
                  </a:txBody>
                  <a:tcPr marT="27000" marB="27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0000">
                <a:tc>
                  <a:txBody>
                    <a:bodyPr/>
                    <a:lstStyle/>
                    <a:p>
                      <a:r>
                        <a:rPr sz="1600" b="0">
                          <a:latin typeface="Comic Sans MS"/>
                        </a:rPr>
                        <a:t>5-6</a:t>
                      </a:r>
                    </a:p>
                  </a:txBody>
                  <a:tcPr marT="27000" marB="27000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latin typeface="Comic Sans MS"/>
                        </a:rPr>
                        <a:t>The response:</a:t>
                      </a:r>
                    </a:p>
                    <a:p>
                      <a:r>
                        <a:rPr sz="1600" b="0" dirty="0">
                          <a:latin typeface="Comic Sans MS"/>
                        </a:rPr>
                        <a:t>• constructs a complete system model</a:t>
                      </a:r>
                    </a:p>
                    <a:p>
                      <a:r>
                        <a:rPr sz="1600" b="0" dirty="0">
                          <a:latin typeface="Comic Sans MS"/>
                        </a:rPr>
                        <a:t>• constructs algorithms for the components of the system model that enable the product to perform</a:t>
                      </a:r>
                    </a:p>
                    <a:p>
                      <a:r>
                        <a:rPr sz="1600" b="0" dirty="0">
                          <a:latin typeface="Comic Sans MS"/>
                        </a:rPr>
                        <a:t>• describes a testing strategy that aligns with the success criteria.</a:t>
                      </a:r>
                    </a:p>
                  </a:txBody>
                  <a:tcPr marT="27000" marB="27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884" y="330000"/>
            <a:ext cx="4906490" cy="1500000"/>
          </a:xfrm>
        </p:spPr>
        <p:txBody>
          <a:bodyPr wrap="square" anchor="t"/>
          <a:lstStyle/>
          <a:p>
            <a:r>
              <a:rPr>
                <a:latin typeface="Comic Sans MS"/>
              </a:rPr>
              <a:t>LET'S DO SOME 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883" y="1950000"/>
            <a:ext cx="4152957" cy="4450000"/>
          </a:xfrm>
        </p:spPr>
        <p:txBody>
          <a:bodyPr wrap="square">
            <a:noAutofit/>
          </a:bodyPr>
          <a:lstStyle/>
          <a:p>
            <a:r>
              <a:rPr sz="1800" dirty="0">
                <a:latin typeface="Comic Sans MS"/>
              </a:rPr>
              <a:t>What do we think this got, out of 6?</a:t>
            </a:r>
          </a:p>
          <a:p>
            <a:r>
              <a:rPr sz="1800" dirty="0">
                <a:latin typeface="Comic Sans MS"/>
              </a:rPr>
              <a:t>Flappy Bird</a:t>
            </a:r>
          </a:p>
          <a:p>
            <a:r>
              <a:rPr sz="1800" dirty="0">
                <a:latin typeface="Comic Sans MS"/>
              </a:rPr>
              <a:t>Criteria C pages 1 and 2 of 5</a:t>
            </a:r>
            <a:endParaRPr lang="en-US" sz="1800" dirty="0">
              <a:latin typeface="Comic Sans MS"/>
            </a:endParaRPr>
          </a:p>
          <a:p>
            <a:pPr lvl="1"/>
            <a:r>
              <a:rPr lang="en-US" sz="1400" dirty="0">
                <a:latin typeface="Comic Sans MS"/>
              </a:rPr>
              <a:t>The other three pages just have a few other functions and classes </a:t>
            </a:r>
            <a:endParaRPr sz="1400" dirty="0">
              <a:latin typeface="Comic Sans MS"/>
            </a:endParaRPr>
          </a:p>
        </p:txBody>
      </p:sp>
      <p:pic>
        <p:nvPicPr>
          <p:cNvPr id="4" name="Picture 3" descr="flappy-03.png"/>
          <p:cNvPicPr>
            <a:picLocks noChangeAspect="1"/>
          </p:cNvPicPr>
          <p:nvPr/>
        </p:nvPicPr>
        <p:blipFill>
          <a:blip r:embed="rId2"/>
          <a:srcRect l="8217" t="6350" r="10968" b="29391"/>
          <a:stretch>
            <a:fillRect/>
          </a:stretch>
        </p:blipFill>
        <p:spPr>
          <a:xfrm>
            <a:off x="4619353" y="1394459"/>
            <a:ext cx="3704924" cy="4166437"/>
          </a:xfrm>
          <a:prstGeom prst="rect">
            <a:avLst/>
          </a:prstGeom>
        </p:spPr>
      </p:pic>
      <p:pic>
        <p:nvPicPr>
          <p:cNvPr id="5" name="Picture 4" descr="flappy-04.png"/>
          <p:cNvPicPr>
            <a:picLocks noChangeAspect="1"/>
          </p:cNvPicPr>
          <p:nvPr/>
        </p:nvPicPr>
        <p:blipFill>
          <a:blip r:embed="rId3"/>
          <a:srcRect l="9157" t="7932" r="7234" b="11595"/>
          <a:stretch>
            <a:fillRect/>
          </a:stretch>
        </p:blipFill>
        <p:spPr>
          <a:xfrm>
            <a:off x="8580120" y="1080000"/>
            <a:ext cx="3611880" cy="49165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884" y="330000"/>
            <a:ext cx="4906490" cy="1500000"/>
          </a:xfrm>
        </p:spPr>
        <p:txBody>
          <a:bodyPr wrap="square" anchor="t"/>
          <a:lstStyle/>
          <a:p>
            <a:r>
              <a:rPr>
                <a:latin typeface="Comic Sans MS"/>
              </a:rPr>
              <a:t>LET'S DO SOME 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883" y="1950000"/>
            <a:ext cx="4162298" cy="4450000"/>
          </a:xfrm>
        </p:spPr>
        <p:txBody>
          <a:bodyPr wrap="square">
            <a:noAutofit/>
          </a:bodyPr>
          <a:lstStyle/>
          <a:p>
            <a:r>
              <a:rPr sz="1800" dirty="0">
                <a:latin typeface="Comic Sans MS"/>
              </a:rPr>
              <a:t>It got a 3 out of 6</a:t>
            </a:r>
          </a:p>
          <a:p>
            <a:r>
              <a:rPr sz="1800" dirty="0">
                <a:latin typeface="Comic Sans MS"/>
              </a:rPr>
              <a:t>"System model is very limited"</a:t>
            </a:r>
          </a:p>
          <a:p>
            <a:r>
              <a:rPr sz="1800" dirty="0">
                <a:latin typeface="Comic Sans MS"/>
              </a:rPr>
              <a:t>"Algorithms have been constructed that allow the product to function"</a:t>
            </a:r>
          </a:p>
          <a:p>
            <a:r>
              <a:rPr sz="1800" dirty="0">
                <a:latin typeface="Comic Sans MS"/>
              </a:rPr>
              <a:t>"The testing strategy aligns with the SC, but it is still quite limited"</a:t>
            </a:r>
          </a:p>
        </p:txBody>
      </p:sp>
      <p:pic>
        <p:nvPicPr>
          <p:cNvPr id="9" name="Picture 8" descr="flappy-03.png">
            <a:extLst>
              <a:ext uri="{FF2B5EF4-FFF2-40B4-BE49-F238E27FC236}">
                <a16:creationId xmlns:a16="http://schemas.microsoft.com/office/drawing/2014/main" id="{50930C4B-D944-B429-13B4-5D6C749F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7" t="6350" r="10968" b="29391"/>
          <a:stretch>
            <a:fillRect/>
          </a:stretch>
        </p:blipFill>
        <p:spPr>
          <a:xfrm>
            <a:off x="4728892" y="1003102"/>
            <a:ext cx="3704924" cy="4166437"/>
          </a:xfrm>
          <a:prstGeom prst="rect">
            <a:avLst/>
          </a:prstGeom>
        </p:spPr>
      </p:pic>
      <p:pic>
        <p:nvPicPr>
          <p:cNvPr id="11" name="Picture 10" descr="flappy-04.png">
            <a:extLst>
              <a:ext uri="{FF2B5EF4-FFF2-40B4-BE49-F238E27FC236}">
                <a16:creationId xmlns:a16="http://schemas.microsoft.com/office/drawing/2014/main" id="{D04FDB76-FF4E-2332-BDDB-5F0E10B0EA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57" t="7932" r="7234" b="11595"/>
          <a:stretch>
            <a:fillRect/>
          </a:stretch>
        </p:blipFill>
        <p:spPr>
          <a:xfrm>
            <a:off x="8433816" y="193032"/>
            <a:ext cx="3611880" cy="4916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A74091-F546-1112-8582-045107DE9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93" y="5018682"/>
            <a:ext cx="9735909" cy="13813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884" y="330000"/>
            <a:ext cx="4906490" cy="1500000"/>
          </a:xfrm>
        </p:spPr>
        <p:txBody>
          <a:bodyPr wrap="square" anchor="t"/>
          <a:lstStyle/>
          <a:p>
            <a:r>
              <a:rPr>
                <a:latin typeface="Comic Sans MS"/>
              </a:rPr>
              <a:t>LET'S DO SOME 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883" y="1950000"/>
            <a:ext cx="4800000" cy="4450000"/>
          </a:xfrm>
        </p:spPr>
        <p:txBody>
          <a:bodyPr wrap="square">
            <a:noAutofit/>
          </a:bodyPr>
          <a:lstStyle/>
          <a:p>
            <a:r>
              <a:rPr sz="1800">
                <a:latin typeface="Comic Sans MS"/>
              </a:rPr>
              <a:t>How about this one?</a:t>
            </a:r>
          </a:p>
          <a:p>
            <a:r>
              <a:rPr sz="1800">
                <a:latin typeface="Comic Sans MS"/>
              </a:rPr>
              <a:t>Chat Room</a:t>
            </a:r>
          </a:p>
          <a:p>
            <a:r>
              <a:rPr sz="1800">
                <a:latin typeface="Comic Sans MS"/>
              </a:rPr>
              <a:t>Criteria C pages 1, 3 and 6 of 6</a:t>
            </a:r>
          </a:p>
        </p:txBody>
      </p:sp>
      <p:pic>
        <p:nvPicPr>
          <p:cNvPr id="4" name="Picture 3" descr="chat-04.png"/>
          <p:cNvPicPr>
            <a:picLocks noChangeAspect="1"/>
          </p:cNvPicPr>
          <p:nvPr/>
        </p:nvPicPr>
        <p:blipFill>
          <a:blip r:embed="rId2"/>
          <a:srcRect l="9202" t="14528" r="11177" b="31468"/>
          <a:stretch>
            <a:fillRect/>
          </a:stretch>
        </p:blipFill>
        <p:spPr>
          <a:xfrm>
            <a:off x="619892" y="3326202"/>
            <a:ext cx="3522340" cy="3378880"/>
          </a:xfrm>
          <a:prstGeom prst="rect">
            <a:avLst/>
          </a:prstGeom>
        </p:spPr>
      </p:pic>
      <p:pic>
        <p:nvPicPr>
          <p:cNvPr id="5" name="Picture 4" descr="chat-06.png"/>
          <p:cNvPicPr>
            <a:picLocks noChangeAspect="1"/>
          </p:cNvPicPr>
          <p:nvPr/>
        </p:nvPicPr>
        <p:blipFill>
          <a:blip r:embed="rId3"/>
          <a:srcRect l="5954" t="6331" r="4454" b="39371"/>
          <a:stretch>
            <a:fillRect/>
          </a:stretch>
        </p:blipFill>
        <p:spPr>
          <a:xfrm>
            <a:off x="4181094" y="3035808"/>
            <a:ext cx="3829812" cy="3282696"/>
          </a:xfrm>
          <a:prstGeom prst="rect">
            <a:avLst/>
          </a:prstGeom>
        </p:spPr>
      </p:pic>
      <p:pic>
        <p:nvPicPr>
          <p:cNvPr id="6" name="Picture 5" descr="chat-09.png"/>
          <p:cNvPicPr>
            <a:picLocks noChangeAspect="1"/>
          </p:cNvPicPr>
          <p:nvPr/>
        </p:nvPicPr>
        <p:blipFill>
          <a:blip r:embed="rId4"/>
          <a:srcRect l="7906" t="8141" r="5063" b="25797"/>
          <a:stretch>
            <a:fillRect/>
          </a:stretch>
        </p:blipFill>
        <p:spPr>
          <a:xfrm>
            <a:off x="8056466" y="2432304"/>
            <a:ext cx="3807413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884" y="330000"/>
            <a:ext cx="4906490" cy="1500000"/>
          </a:xfrm>
        </p:spPr>
        <p:txBody>
          <a:bodyPr wrap="square" anchor="t"/>
          <a:lstStyle/>
          <a:p>
            <a:r>
              <a:rPr>
                <a:latin typeface="Comic Sans MS"/>
              </a:rPr>
              <a:t>LET'S DO SOME 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883" y="1950000"/>
            <a:ext cx="4800000" cy="4450000"/>
          </a:xfrm>
        </p:spPr>
        <p:txBody>
          <a:bodyPr wrap="square">
            <a:noAutofit/>
          </a:bodyPr>
          <a:lstStyle/>
          <a:p>
            <a:r>
              <a:rPr sz="1800" dirty="0">
                <a:latin typeface="Comic Sans MS"/>
              </a:rPr>
              <a:t>A 4 out of 6</a:t>
            </a:r>
          </a:p>
        </p:txBody>
      </p:sp>
      <p:pic>
        <p:nvPicPr>
          <p:cNvPr id="8" name="Picture 7" descr="chat-04.png">
            <a:extLst>
              <a:ext uri="{FF2B5EF4-FFF2-40B4-BE49-F238E27FC236}">
                <a16:creationId xmlns:a16="http://schemas.microsoft.com/office/drawing/2014/main" id="{EF0F6463-EB05-05BA-D8DB-A0B66B3E8B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02" t="14528" r="11177" b="31468"/>
          <a:stretch>
            <a:fillRect/>
          </a:stretch>
        </p:blipFill>
        <p:spPr>
          <a:xfrm>
            <a:off x="619892" y="3326202"/>
            <a:ext cx="3522340" cy="3378880"/>
          </a:xfrm>
          <a:prstGeom prst="rect">
            <a:avLst/>
          </a:prstGeom>
        </p:spPr>
      </p:pic>
      <p:pic>
        <p:nvPicPr>
          <p:cNvPr id="10" name="Picture 9" descr="chat-06.png">
            <a:extLst>
              <a:ext uri="{FF2B5EF4-FFF2-40B4-BE49-F238E27FC236}">
                <a16:creationId xmlns:a16="http://schemas.microsoft.com/office/drawing/2014/main" id="{95C33DA5-02BD-8F12-D2A4-0378CCEC42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54" t="6331" r="4454" b="39371"/>
          <a:stretch>
            <a:fillRect/>
          </a:stretch>
        </p:blipFill>
        <p:spPr>
          <a:xfrm>
            <a:off x="4181094" y="3035808"/>
            <a:ext cx="3829812" cy="3282696"/>
          </a:xfrm>
          <a:prstGeom prst="rect">
            <a:avLst/>
          </a:prstGeom>
        </p:spPr>
      </p:pic>
      <p:pic>
        <p:nvPicPr>
          <p:cNvPr id="12" name="Picture 11" descr="chat-09.png">
            <a:extLst>
              <a:ext uri="{FF2B5EF4-FFF2-40B4-BE49-F238E27FC236}">
                <a16:creationId xmlns:a16="http://schemas.microsoft.com/office/drawing/2014/main" id="{9B7C44C4-E628-CA5F-3133-EF38D1C545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06" t="8141" r="5063" b="25797"/>
          <a:stretch>
            <a:fillRect/>
          </a:stretch>
        </p:blipFill>
        <p:spPr>
          <a:xfrm>
            <a:off x="8056466" y="2432304"/>
            <a:ext cx="3807413" cy="40873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3301CF-3E8B-566D-E1E1-02CFA7F96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2557" y="1100659"/>
            <a:ext cx="6322142" cy="1287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884" y="330000"/>
            <a:ext cx="4906490" cy="1500000"/>
          </a:xfrm>
        </p:spPr>
        <p:txBody>
          <a:bodyPr wrap="square" anchor="t"/>
          <a:lstStyle/>
          <a:p>
            <a:r>
              <a:rPr>
                <a:latin typeface="Comic Sans MS"/>
              </a:rPr>
              <a:t>LET'S DO SOME 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883" y="1950000"/>
            <a:ext cx="4800000" cy="4450000"/>
          </a:xfrm>
        </p:spPr>
        <p:txBody>
          <a:bodyPr wrap="square">
            <a:noAutofit/>
          </a:bodyPr>
          <a:lstStyle/>
          <a:p>
            <a:r>
              <a:rPr sz="1800" dirty="0">
                <a:latin typeface="Comic Sans MS"/>
              </a:rPr>
              <a:t>One more </a:t>
            </a:r>
            <a:r>
              <a:rPr lang="en-US" sz="1800" dirty="0">
                <a:latin typeface="Comic Sans MS"/>
              </a:rPr>
              <a:t>- </a:t>
            </a:r>
            <a:r>
              <a:rPr sz="1800" dirty="0">
                <a:latin typeface="Comic Sans MS"/>
              </a:rPr>
              <a:t>Timetable, 26 out of 30 overall</a:t>
            </a:r>
          </a:p>
          <a:p>
            <a:r>
              <a:rPr sz="1800" dirty="0">
                <a:latin typeface="Comic Sans MS"/>
              </a:rPr>
              <a:t>Criteria C pages 1, 3, 5 and 8 of 8</a:t>
            </a:r>
          </a:p>
        </p:txBody>
      </p:sp>
      <p:pic>
        <p:nvPicPr>
          <p:cNvPr id="4" name="Picture 3" descr="time-09.png"/>
          <p:cNvPicPr>
            <a:picLocks noChangeAspect="1"/>
          </p:cNvPicPr>
          <p:nvPr/>
        </p:nvPicPr>
        <p:blipFill>
          <a:blip r:embed="rId2"/>
          <a:srcRect l="7628" t="12960" r="7141" b="8279"/>
          <a:stretch>
            <a:fillRect/>
          </a:stretch>
        </p:blipFill>
        <p:spPr>
          <a:xfrm>
            <a:off x="5458969" y="52446"/>
            <a:ext cx="2487168" cy="3250554"/>
          </a:xfrm>
          <a:prstGeom prst="rect">
            <a:avLst/>
          </a:prstGeom>
        </p:spPr>
      </p:pic>
      <p:pic>
        <p:nvPicPr>
          <p:cNvPr id="5" name="Picture 4" descr="time-11.png"/>
          <p:cNvPicPr>
            <a:picLocks noChangeAspect="1"/>
          </p:cNvPicPr>
          <p:nvPr/>
        </p:nvPicPr>
        <p:blipFill>
          <a:blip r:embed="rId3"/>
          <a:srcRect l="16220" t="6994" r="5722" b="14245"/>
          <a:stretch>
            <a:fillRect/>
          </a:stretch>
        </p:blipFill>
        <p:spPr>
          <a:xfrm>
            <a:off x="8110729" y="52446"/>
            <a:ext cx="2825496" cy="4032057"/>
          </a:xfrm>
          <a:prstGeom prst="rect">
            <a:avLst/>
          </a:prstGeom>
        </p:spPr>
      </p:pic>
      <p:pic>
        <p:nvPicPr>
          <p:cNvPr id="6" name="Picture 5" descr="time-13.png"/>
          <p:cNvPicPr>
            <a:picLocks noChangeAspect="1"/>
          </p:cNvPicPr>
          <p:nvPr/>
        </p:nvPicPr>
        <p:blipFill>
          <a:blip r:embed="rId4"/>
          <a:srcRect l="6784" t="9613" r="7141" b="33107"/>
          <a:stretch>
            <a:fillRect/>
          </a:stretch>
        </p:blipFill>
        <p:spPr>
          <a:xfrm>
            <a:off x="4734955" y="3555000"/>
            <a:ext cx="3150315" cy="2965000"/>
          </a:xfrm>
          <a:prstGeom prst="rect">
            <a:avLst/>
          </a:prstGeom>
        </p:spPr>
      </p:pic>
      <p:pic>
        <p:nvPicPr>
          <p:cNvPr id="7" name="Picture 6" descr="time-16.png"/>
          <p:cNvPicPr>
            <a:picLocks noChangeAspect="1"/>
          </p:cNvPicPr>
          <p:nvPr/>
        </p:nvPicPr>
        <p:blipFill>
          <a:blip r:embed="rId5"/>
          <a:srcRect l="7781" t="8420" r="5722" b="18786"/>
          <a:stretch>
            <a:fillRect/>
          </a:stretch>
        </p:blipFill>
        <p:spPr>
          <a:xfrm>
            <a:off x="946405" y="3172968"/>
            <a:ext cx="2953512" cy="35153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884" y="330000"/>
            <a:ext cx="4906490" cy="1500000"/>
          </a:xfrm>
        </p:spPr>
        <p:txBody>
          <a:bodyPr wrap="square" anchor="t"/>
          <a:lstStyle/>
          <a:p>
            <a:r>
              <a:rPr>
                <a:latin typeface="Comic Sans MS"/>
              </a:rPr>
              <a:t>LET'S DO SOME 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883" y="1950000"/>
            <a:ext cx="4800000" cy="4450000"/>
          </a:xfrm>
        </p:spPr>
        <p:txBody>
          <a:bodyPr wrap="square">
            <a:noAutofit/>
          </a:bodyPr>
          <a:lstStyle/>
          <a:p>
            <a:r>
              <a:rPr sz="1800" dirty="0">
                <a:latin typeface="Comic Sans MS"/>
              </a:rPr>
              <a:t>A 5 out of 6</a:t>
            </a:r>
            <a:endParaRPr lang="en-US" sz="1800" dirty="0">
              <a:latin typeface="Comic Sans MS"/>
            </a:endParaRPr>
          </a:p>
          <a:p>
            <a:r>
              <a:rPr sz="2200" dirty="0">
                <a:latin typeface="Comic Sans MS"/>
              </a:rPr>
              <a:t>No design for the format of the timetable - the output</a:t>
            </a:r>
          </a:p>
        </p:txBody>
      </p:sp>
      <p:pic>
        <p:nvPicPr>
          <p:cNvPr id="9" name="Picture 8" descr="time-09.png">
            <a:extLst>
              <a:ext uri="{FF2B5EF4-FFF2-40B4-BE49-F238E27FC236}">
                <a16:creationId xmlns:a16="http://schemas.microsoft.com/office/drawing/2014/main" id="{824DDE8D-AD99-3D6E-B548-EA777FEA88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28" t="12960" r="7141" b="8279"/>
          <a:stretch>
            <a:fillRect/>
          </a:stretch>
        </p:blipFill>
        <p:spPr>
          <a:xfrm>
            <a:off x="5458969" y="52446"/>
            <a:ext cx="2487168" cy="3250554"/>
          </a:xfrm>
          <a:prstGeom prst="rect">
            <a:avLst/>
          </a:prstGeom>
        </p:spPr>
      </p:pic>
      <p:pic>
        <p:nvPicPr>
          <p:cNvPr id="11" name="Picture 10" descr="time-11.png">
            <a:extLst>
              <a:ext uri="{FF2B5EF4-FFF2-40B4-BE49-F238E27FC236}">
                <a16:creationId xmlns:a16="http://schemas.microsoft.com/office/drawing/2014/main" id="{2ABC5B04-9696-59EA-F111-7B275C2DB1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20" t="6994" r="5722" b="14245"/>
          <a:stretch>
            <a:fillRect/>
          </a:stretch>
        </p:blipFill>
        <p:spPr>
          <a:xfrm>
            <a:off x="8110729" y="52446"/>
            <a:ext cx="2825496" cy="4032057"/>
          </a:xfrm>
          <a:prstGeom prst="rect">
            <a:avLst/>
          </a:prstGeom>
        </p:spPr>
      </p:pic>
      <p:pic>
        <p:nvPicPr>
          <p:cNvPr id="13" name="Picture 12" descr="time-13.png">
            <a:extLst>
              <a:ext uri="{FF2B5EF4-FFF2-40B4-BE49-F238E27FC236}">
                <a16:creationId xmlns:a16="http://schemas.microsoft.com/office/drawing/2014/main" id="{5077EBA4-51C3-9568-BF50-E5C176926D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84" t="9613" r="7141" b="33107"/>
          <a:stretch>
            <a:fillRect/>
          </a:stretch>
        </p:blipFill>
        <p:spPr>
          <a:xfrm>
            <a:off x="4734955" y="3555000"/>
            <a:ext cx="3150315" cy="2965000"/>
          </a:xfrm>
          <a:prstGeom prst="rect">
            <a:avLst/>
          </a:prstGeom>
        </p:spPr>
      </p:pic>
      <p:pic>
        <p:nvPicPr>
          <p:cNvPr id="15" name="Picture 14" descr="time-16.png">
            <a:extLst>
              <a:ext uri="{FF2B5EF4-FFF2-40B4-BE49-F238E27FC236}">
                <a16:creationId xmlns:a16="http://schemas.microsoft.com/office/drawing/2014/main" id="{A26E067D-A994-179B-EA6A-67D31A8288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81" t="8420" r="5722" b="18786"/>
          <a:stretch>
            <a:fillRect/>
          </a:stretch>
        </p:blipFill>
        <p:spPr>
          <a:xfrm>
            <a:off x="946405" y="3172968"/>
            <a:ext cx="2953512" cy="35153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16A48D-B187-D670-A22F-F3C6342FD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3080" y="4336503"/>
            <a:ext cx="9586452" cy="22122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WHAT A 6 OUT OF 6 WOULD ADD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dirty="0">
                <a:latin typeface="Comic Sans MS"/>
              </a:rPr>
              <a:t>A diagram for every component - files, databases and network connections included</a:t>
            </a:r>
          </a:p>
          <a:p>
            <a:r>
              <a:rPr dirty="0">
                <a:latin typeface="Comic Sans MS"/>
              </a:rPr>
              <a:t>A UI design for every screen, and for the output</a:t>
            </a:r>
            <a:r>
              <a:rPr lang="en-US" dirty="0">
                <a:latin typeface="Comic Sans MS"/>
              </a:rPr>
              <a:t> of the program</a:t>
            </a:r>
            <a:endParaRPr dirty="0">
              <a:latin typeface="Comic Sans MS"/>
            </a:endParaRPr>
          </a:p>
          <a:p>
            <a:r>
              <a:rPr dirty="0">
                <a:latin typeface="Comic Sans MS"/>
              </a:rPr>
              <a:t>An algorithm for every component you named in the model</a:t>
            </a:r>
          </a:p>
          <a:p>
            <a:r>
              <a:rPr dirty="0">
                <a:latin typeface="Comic Sans MS"/>
              </a:rPr>
              <a:t>A test row for every success criterion, plus extreme and abnormal data</a:t>
            </a:r>
          </a:p>
          <a:p>
            <a:r>
              <a:rPr lang="en-US" dirty="0">
                <a:latin typeface="Comic Sans MS"/>
              </a:rPr>
              <a:t>None of our examples here actually do everything, which is likely why we’re missing out on that 6</a:t>
            </a:r>
            <a:endParaRPr dirty="0">
              <a:latin typeface="Comic Sans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/>
              </a:rPr>
              <a:t>EXTRA NOTES</a:t>
            </a:r>
            <a:endParaRPr dirty="0">
              <a:latin typeface="Comic Sans M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lang="en-US" dirty="0">
                <a:latin typeface="Comic Sans MS"/>
              </a:rPr>
              <a:t>It seems the system model is the biggest thing these examples are missing out on</a:t>
            </a:r>
            <a:endParaRPr dirty="0">
              <a:latin typeface="Comic Sans MS"/>
            </a:endParaRPr>
          </a:p>
          <a:p>
            <a:r>
              <a:rPr lang="en-US" dirty="0">
                <a:latin typeface="Comic Sans MS"/>
              </a:rPr>
              <a:t>None of the IA examples provided by the IB scored higher than 5/6, so they’re quite greedy with the points here</a:t>
            </a:r>
            <a:endParaRPr dirty="0">
              <a:latin typeface="Comic Sans MS"/>
            </a:endParaRPr>
          </a:p>
          <a:p>
            <a:r>
              <a:rPr lang="en-US" dirty="0">
                <a:latin typeface="Comic Sans MS"/>
              </a:rPr>
              <a:t>The algorithms and testing table seem to be more reliable ways to earn points on this criteria</a:t>
            </a:r>
            <a:endParaRPr dirty="0">
              <a:latin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“WORD COUNT”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dirty="0">
                <a:latin typeface="Comic Sans MS"/>
              </a:rPr>
              <a:t>The IB recommends 150 words for Criteria C</a:t>
            </a:r>
          </a:p>
          <a:p>
            <a:r>
              <a:rPr dirty="0">
                <a:latin typeface="Comic Sans MS"/>
              </a:rPr>
              <a:t>Every example we just </a:t>
            </a:r>
            <a:r>
              <a:rPr lang="en-US" dirty="0">
                <a:latin typeface="Comic Sans MS"/>
              </a:rPr>
              <a:t>looked at</a:t>
            </a:r>
            <a:r>
              <a:rPr dirty="0">
                <a:latin typeface="Comic Sans MS"/>
              </a:rPr>
              <a:t> is well past that</a:t>
            </a:r>
          </a:p>
          <a:p>
            <a:r>
              <a:rPr lang="en-US" dirty="0">
                <a:latin typeface="Comic Sans MS"/>
              </a:rPr>
              <a:t>Do the same move as </a:t>
            </a:r>
            <a:r>
              <a:rPr dirty="0">
                <a:latin typeface="Comic Sans MS"/>
              </a:rPr>
              <a:t>Criteria B </a:t>
            </a:r>
            <a:r>
              <a:rPr lang="en-US" dirty="0">
                <a:latin typeface="Comic Sans MS"/>
              </a:rPr>
              <a:t>–</a:t>
            </a:r>
            <a:r>
              <a:rPr dirty="0">
                <a:latin typeface="Comic Sans MS"/>
              </a:rPr>
              <a:t> </a:t>
            </a:r>
            <a:r>
              <a:rPr lang="en-US" dirty="0">
                <a:latin typeface="Comic Sans MS"/>
              </a:rPr>
              <a:t>cram words into those diagrams and tables that DO NOT COUNT</a:t>
            </a:r>
            <a:endParaRPr dirty="0">
              <a:latin typeface="Comic Sans MS"/>
            </a:endParaRPr>
          </a:p>
          <a:p>
            <a:r>
              <a:rPr dirty="0">
                <a:latin typeface="Comic Sans MS"/>
              </a:rPr>
              <a:t>Write about 200 words and put everything else in diagrams</a:t>
            </a:r>
          </a:p>
          <a:p>
            <a:r>
              <a:rPr lang="en-US" dirty="0">
                <a:latin typeface="Comic Sans MS"/>
              </a:rPr>
              <a:t>I think we’ll dub this strategy the “free words technique”</a:t>
            </a:r>
          </a:p>
          <a:p>
            <a:pPr lvl="1"/>
            <a:r>
              <a:rPr lang="en-US" dirty="0">
                <a:latin typeface="Comic Sans MS"/>
              </a:rPr>
              <a:t>Open to suggestions though, not super happy with it</a:t>
            </a:r>
            <a:endParaRPr dirty="0">
              <a:latin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CRITERIA C - ASSIGNED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dirty="0">
                <a:latin typeface="Comic Sans MS"/>
              </a:rPr>
              <a:t>Check GitHub for the Criteria C document - WS IA-5 - Criteria C</a:t>
            </a:r>
          </a:p>
          <a:p>
            <a:r>
              <a:rPr dirty="0">
                <a:latin typeface="Comic Sans MS"/>
              </a:rPr>
              <a:t>Rough draft of Criteria C is the next thing due</a:t>
            </a:r>
          </a:p>
          <a:p>
            <a:r>
              <a:rPr lang="en-US" dirty="0">
                <a:latin typeface="Comic Sans MS"/>
              </a:rPr>
              <a:t>Next time, we’ll be spending some hands on time with Criteria C to get you a bit more prepared hopefully, so come with your </a:t>
            </a:r>
            <a:r>
              <a:rPr lang="en-US" dirty="0" err="1">
                <a:latin typeface="Comic Sans MS"/>
              </a:rPr>
              <a:t>hdzea</a:t>
            </a:r>
            <a:r>
              <a:rPr lang="en-US" dirty="0">
                <a:latin typeface="Comic Sans MS"/>
              </a:rPr>
              <a:t> screwed on straight</a:t>
            </a:r>
            <a:endParaRPr dirty="0">
              <a:latin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926</Words>
  <Application>Microsoft Office PowerPoint</Application>
  <PresentationFormat>Widescreen</PresentationFormat>
  <Paragraphs>108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Comic Sans MS</vt:lpstr>
      <vt:lpstr>Office Theme</vt:lpstr>
      <vt:lpstr>THE IA</vt:lpstr>
      <vt:lpstr>CRITERIA C - SYSTEM OVERVIEW</vt:lpstr>
      <vt:lpstr>SYSTEM MODEL</vt:lpstr>
      <vt:lpstr>SYSTEM MODEL</vt:lpstr>
      <vt:lpstr>ALGORITHMS</vt:lpstr>
      <vt:lpstr>TESTING STRATEGY</vt:lpstr>
      <vt:lpstr>TESTING STRATEGY</vt:lpstr>
      <vt:lpstr>THE THIRD PARTY TEST</vt:lpstr>
      <vt:lpstr>MARKSCHEME</vt:lpstr>
      <vt:lpstr>LET'S DO SOME MARKING</vt:lpstr>
      <vt:lpstr>LET'S DO SOME MARKING</vt:lpstr>
      <vt:lpstr>LET'S DO SOME MARKING</vt:lpstr>
      <vt:lpstr>LET'S DO SOME MARKING</vt:lpstr>
      <vt:lpstr>LET'S DO SOME MARKING</vt:lpstr>
      <vt:lpstr>LET'S DO SOME MARKING</vt:lpstr>
      <vt:lpstr>WHAT A 6 OUT OF 6 WOULD ADD</vt:lpstr>
      <vt:lpstr>EXTRA NOTES</vt:lpstr>
      <vt:lpstr>“WORD COUNT”</vt:lpstr>
      <vt:lpstr>CRITERIA C - ASSIGNED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6</cp:revision>
  <dcterms:created xsi:type="dcterms:W3CDTF">2025-02-04T14:31:25Z</dcterms:created>
  <dcterms:modified xsi:type="dcterms:W3CDTF">2026-09-11T19:40:07Z</dcterms:modified>
</cp:coreProperties>
</file>