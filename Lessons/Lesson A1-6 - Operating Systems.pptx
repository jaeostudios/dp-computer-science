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9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0" r:id="rId15"/>
    <p:sldId id="269" r:id="rId16"/>
    <p:sldId id="270" r:id="rId17"/>
    <p:sldId id="271" r:id="rId18"/>
    <p:sldId id="272" r:id="rId19"/>
    <p:sldId id="273" r:id="rId20"/>
    <p:sldId id="274" r:id="rId21"/>
    <p:sldId id="291" r:id="rId22"/>
    <p:sldId id="275" r:id="rId23"/>
    <p:sldId id="276" r:id="rId24"/>
    <p:sldId id="28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344BBE-FD9C-4263-9BAB-641C325DF968}" v="1" dt="2026-08-18T17:09:03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7" autoAdjust="0"/>
    <p:restoredTop sz="89467" autoAdjust="0"/>
  </p:normalViewPr>
  <p:slideViewPr>
    <p:cSldViewPr snapToGrid="0">
      <p:cViewPr>
        <p:scale>
          <a:sx n="40" d="100"/>
          <a:sy n="40" d="100"/>
        </p:scale>
        <p:origin x="720" y="13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modSld">
      <pc:chgData name="Michael Hill" userId="41dba03d-e58d-4389-9894-554c10310ba4" providerId="ADAL" clId="{EF23FE1D-A042-481E-AFD7-2A9FB0847F54}" dt="2026-08-18T17:09:03.475" v="290"/>
      <pc:docMkLst>
        <pc:docMk/>
      </pc:docMkLst>
      <pc:sldChg chg="modNotesTx">
        <pc:chgData name="Michael Hill" userId="41dba03d-e58d-4389-9894-554c10310ba4" providerId="ADAL" clId="{EF23FE1D-A042-481E-AFD7-2A9FB0847F54}" dt="2026-08-18T17:07:33.635" v="289" actId="20577"/>
        <pc:sldMkLst>
          <pc:docMk/>
          <pc:sldMk cId="1878848435" sldId="256"/>
        </pc:sldMkLst>
      </pc:sldChg>
      <pc:sldChg chg="modAnim">
        <pc:chgData name="Michael Hill" userId="41dba03d-e58d-4389-9894-554c10310ba4" providerId="ADAL" clId="{EF23FE1D-A042-481E-AFD7-2A9FB0847F54}" dt="2026-08-18T17:09:03.475" v="290"/>
        <pc:sldMkLst>
          <pc:docMk/>
          <pc:sldMk cId="854122100" sldId="257"/>
        </pc:sldMkLst>
      </pc:sldChg>
      <pc:sldChg chg="modSp mod">
        <pc:chgData name="Michael Hill" userId="41dba03d-e58d-4389-9894-554c10310ba4" providerId="ADAL" clId="{EF23FE1D-A042-481E-AFD7-2A9FB0847F54}" dt="2026-08-18T15:55:01.062" v="221" actId="207"/>
        <pc:sldMkLst>
          <pc:docMk/>
          <pc:sldMk cId="0" sldId="261"/>
        </pc:sldMkLst>
        <pc:spChg chg="mod">
          <ac:chgData name="Michael Hill" userId="41dba03d-e58d-4389-9894-554c10310ba4" providerId="ADAL" clId="{EF23FE1D-A042-481E-AFD7-2A9FB0847F54}" dt="2026-08-18T15:55:01.062" v="221" actId="207"/>
          <ac:spMkLst>
            <pc:docMk/>
            <pc:sldMk cId="0" sldId="261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17.665" v="227" actId="114"/>
        <pc:sldMkLst>
          <pc:docMk/>
          <pc:sldMk cId="0" sldId="262"/>
        </pc:sldMkLst>
        <pc:spChg chg="mod">
          <ac:chgData name="Michael Hill" userId="41dba03d-e58d-4389-9894-554c10310ba4" providerId="ADAL" clId="{EF23FE1D-A042-481E-AFD7-2A9FB0847F54}" dt="2026-08-18T15:55:17.665" v="227" actId="114"/>
          <ac:spMkLst>
            <pc:docMk/>
            <pc:sldMk cId="0" sldId="262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12.180" v="225" actId="114"/>
        <pc:sldMkLst>
          <pc:docMk/>
          <pc:sldMk cId="0" sldId="263"/>
        </pc:sldMkLst>
        <pc:spChg chg="mod">
          <ac:chgData name="Michael Hill" userId="41dba03d-e58d-4389-9894-554c10310ba4" providerId="ADAL" clId="{EF23FE1D-A042-481E-AFD7-2A9FB0847F54}" dt="2026-08-18T15:55:12.180" v="225" actId="114"/>
          <ac:spMkLst>
            <pc:docMk/>
            <pc:sldMk cId="0" sldId="263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21.609" v="230" actId="207"/>
        <pc:sldMkLst>
          <pc:docMk/>
          <pc:sldMk cId="0" sldId="264"/>
        </pc:sldMkLst>
        <pc:spChg chg="mod">
          <ac:chgData name="Michael Hill" userId="41dba03d-e58d-4389-9894-554c10310ba4" providerId="ADAL" clId="{EF23FE1D-A042-481E-AFD7-2A9FB0847F54}" dt="2026-08-18T15:55:21.609" v="230" actId="207"/>
          <ac:spMkLst>
            <pc:docMk/>
            <pc:sldMk cId="0" sldId="264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30.986" v="236" actId="207"/>
        <pc:sldMkLst>
          <pc:docMk/>
          <pc:sldMk cId="0" sldId="266"/>
        </pc:sldMkLst>
        <pc:spChg chg="mod">
          <ac:chgData name="Michael Hill" userId="41dba03d-e58d-4389-9894-554c10310ba4" providerId="ADAL" clId="{EF23FE1D-A042-481E-AFD7-2A9FB0847F54}" dt="2026-08-18T15:55:30.986" v="236" actId="207"/>
          <ac:spMkLst>
            <pc:docMk/>
            <pc:sldMk cId="0" sldId="266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1:39.797" v="14" actId="20577"/>
        <pc:sldMkLst>
          <pc:docMk/>
          <pc:sldMk cId="0" sldId="268"/>
        </pc:sldMkLst>
        <pc:spChg chg="mod">
          <ac:chgData name="Michael Hill" userId="41dba03d-e58d-4389-9894-554c10310ba4" providerId="ADAL" clId="{EF23FE1D-A042-481E-AFD7-2A9FB0847F54}" dt="2026-08-18T15:51:39.797" v="14" actId="20577"/>
          <ac:spMkLst>
            <pc:docMk/>
            <pc:sldMk cId="0" sldId="268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45.998" v="245" actId="207"/>
        <pc:sldMkLst>
          <pc:docMk/>
          <pc:sldMk cId="0" sldId="270"/>
        </pc:sldMkLst>
        <pc:spChg chg="mod">
          <ac:chgData name="Michael Hill" userId="41dba03d-e58d-4389-9894-554c10310ba4" providerId="ADAL" clId="{EF23FE1D-A042-481E-AFD7-2A9FB0847F54}" dt="2026-08-18T15:55:45.998" v="245" actId="207"/>
          <ac:spMkLst>
            <pc:docMk/>
            <pc:sldMk cId="0" sldId="270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3:49.795" v="155" actId="20577"/>
        <pc:sldMkLst>
          <pc:docMk/>
          <pc:sldMk cId="0" sldId="276"/>
        </pc:sldMkLst>
        <pc:spChg chg="mod">
          <ac:chgData name="Michael Hill" userId="41dba03d-e58d-4389-9894-554c10310ba4" providerId="ADAL" clId="{EF23FE1D-A042-481E-AFD7-2A9FB0847F54}" dt="2026-08-18T15:53:49.795" v="155" actId="20577"/>
          <ac:spMkLst>
            <pc:docMk/>
            <pc:sldMk cId="0" sldId="276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6:25.912" v="288" actId="207"/>
        <pc:sldMkLst>
          <pc:docMk/>
          <pc:sldMk cId="0" sldId="280"/>
        </pc:sldMkLst>
        <pc:spChg chg="mod">
          <ac:chgData name="Michael Hill" userId="41dba03d-e58d-4389-9894-554c10310ba4" providerId="ADAL" clId="{EF23FE1D-A042-481E-AFD7-2A9FB0847F54}" dt="2026-08-18T15:56:14.039" v="251" actId="113"/>
          <ac:spMkLst>
            <pc:docMk/>
            <pc:sldMk cId="0" sldId="280"/>
            <ac:spMk id="5" creationId="{6101391E-910B-70E2-21F8-0AD7DBA98205}"/>
          </ac:spMkLst>
        </pc:spChg>
        <pc:spChg chg="mod">
          <ac:chgData name="Michael Hill" userId="41dba03d-e58d-4389-9894-554c10310ba4" providerId="ADAL" clId="{EF23FE1D-A042-481E-AFD7-2A9FB0847F54}" dt="2026-08-18T15:56:25.912" v="288" actId="207"/>
          <ac:spMkLst>
            <pc:docMk/>
            <pc:sldMk cId="0" sldId="280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4:35.462" v="218" actId="20577"/>
        <pc:sldMkLst>
          <pc:docMk/>
          <pc:sldMk cId="0" sldId="287"/>
        </pc:sldMkLst>
        <pc:spChg chg="mod">
          <ac:chgData name="Michael Hill" userId="41dba03d-e58d-4389-9894-554c10310ba4" providerId="ADAL" clId="{EF23FE1D-A042-481E-AFD7-2A9FB0847F54}" dt="2026-08-18T15:54:35.462" v="218" actId="20577"/>
          <ac:spMkLst>
            <pc:docMk/>
            <pc:sldMk cId="0" sldId="287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1:47.639" v="33" actId="20577"/>
        <pc:sldMkLst>
          <pc:docMk/>
          <pc:sldMk cId="160159476" sldId="290"/>
        </pc:sldMkLst>
        <pc:spChg chg="mod">
          <ac:chgData name="Michael Hill" userId="41dba03d-e58d-4389-9894-554c10310ba4" providerId="ADAL" clId="{EF23FE1D-A042-481E-AFD7-2A9FB0847F54}" dt="2026-08-18T15:51:47.639" v="33" actId="20577"/>
          <ac:spMkLst>
            <pc:docMk/>
            <pc:sldMk cId="160159476" sldId="290"/>
            <ac:spMk id="8" creationId="{85A1BFE4-A3E6-FA12-212C-61AA5DC1F7DC}"/>
          </ac:spMkLst>
        </pc:spChg>
      </pc:sldChg>
      <pc:sldChg chg="modSp mod">
        <pc:chgData name="Michael Hill" userId="41dba03d-e58d-4389-9894-554c10310ba4" providerId="ADAL" clId="{EF23FE1D-A042-481E-AFD7-2A9FB0847F54}" dt="2026-08-18T15:52:52.127" v="83" actId="20577"/>
        <pc:sldMkLst>
          <pc:docMk/>
          <pc:sldMk cId="0" sldId="291"/>
        </pc:sldMkLst>
        <pc:spChg chg="mod">
          <ac:chgData name="Michael Hill" userId="41dba03d-e58d-4389-9894-554c10310ba4" providerId="ADAL" clId="{EF23FE1D-A042-481E-AFD7-2A9FB0847F54}" dt="2026-08-18T15:52:52.127" v="83" actId="20577"/>
          <ac:spMkLst>
            <pc:docMk/>
            <pc:sldMk cId="0" sldId="291"/>
            <ac:spMk id="8" creationId="{1812F390-3309-32E6-4E5B-EF9BB6857C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AF866-01F9-9BB9-4DC0-F921031C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B847B-28C4-C583-6913-D9F843F4C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147DA-D0B6-4761-FFA6-08E3EBDA1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440B0-1303-1F4F-A5F9-891D590BF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69295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7086-4C6E-8DF5-AC6E-C4A5EB0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6CF9-5126-01A0-D651-8DED19BF0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60BA-EA55-68B5-33EC-20B0FA47D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5CD-BD7B-54CC-0451-661215D8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876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TOPIC A1:</a:t>
            </a:r>
          </a:p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LESSON A1-6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333999" y="3728134"/>
            <a:ext cx="4657025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Your Laptop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ur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hedz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Operating System</a:t>
            </a:r>
          </a:p>
          <a:p>
            <a:pPr marL="457200" indent="-457200" algn="ctr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Abstraction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nine functions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OS Safari Zone</a:t>
            </a:r>
          </a:p>
          <a:p>
            <a:pPr marL="457200" indent="-457200" algn="ctr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Background Operations and Integrity</a:t>
            </a:r>
          </a:p>
          <a:p>
            <a:pPr marL="457200" indent="-457200" algn="ctr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Lab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222B7B-E340-802F-0DD9-3A0E3582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1259E94-EB1D-3682-0715-D3E52C4CB17E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 up of fire&#10;&#10;AI-generated content may be incorrect.">
            <a:extLst>
              <a:ext uri="{FF2B5EF4-FFF2-40B4-BE49-F238E27FC236}">
                <a16:creationId xmlns:a16="http://schemas.microsoft.com/office/drawing/2014/main" id="{9377D763-7474-496A-FE64-D05923F9BB4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3" name="Picture 12" descr="A close up of fire&#10;&#10;AI-generated content may be incorrect.">
            <a:extLst>
              <a:ext uri="{FF2B5EF4-FFF2-40B4-BE49-F238E27FC236}">
                <a16:creationId xmlns:a16="http://schemas.microsoft.com/office/drawing/2014/main" id="{05254D53-F3A7-E05C-DB8B-CFBE2354721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BE73D9DB-A860-1D30-3560-792F39F53B02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5C3B300-9774-E2BA-1DDF-6D4926B84A6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308556F-ADCE-C803-087C-1FE64A2E0C9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AD79DD-9C8F-8AB0-017B-20A9111C1BAB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(a) State the Boolean operator that outputs 1 only when both inputs are 0.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(b) Complete using De Morgan:  NOT(A OR B)  =  ______________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(c) In a three-variable Karnaugh map, a group of four cells removes how many variables?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Q1 (a)-(c)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0C586F-086D-9249-4D65-789EE2F65F79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25" name="Picture 24" descr="A close up of fire&#10;&#10;AI-generated content may be incorrect.">
            <a:extLst>
              <a:ext uri="{FF2B5EF4-FFF2-40B4-BE49-F238E27FC236}">
                <a16:creationId xmlns:a16="http://schemas.microsoft.com/office/drawing/2014/main" id="{B6343FEB-519C-5416-F7D3-4B2FC96DF88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27" name="Picture 26" descr="A close up of fire&#10;&#10;AI-generated content may be incorrect.">
            <a:extLst>
              <a:ext uri="{FF2B5EF4-FFF2-40B4-BE49-F238E27FC236}">
                <a16:creationId xmlns:a16="http://schemas.microsoft.com/office/drawing/2014/main" id="{F4ADD1CC-78B3-0CC0-326E-2F98E4C1CA6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29" name="Picture 28" descr="A close up of fire&#10;&#10;AI-generated content may be incorrect.">
            <a:extLst>
              <a:ext uri="{FF2B5EF4-FFF2-40B4-BE49-F238E27FC236}">
                <a16:creationId xmlns:a16="http://schemas.microsoft.com/office/drawing/2014/main" id="{4F8190E1-B7F0-9162-29E5-4B65204D720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46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630B3FF-E48B-5731-4776-540A68BF182D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 up of fire&#10;&#10;AI-generated content may be incorrect.">
            <a:extLst>
              <a:ext uri="{FF2B5EF4-FFF2-40B4-BE49-F238E27FC236}">
                <a16:creationId xmlns:a16="http://schemas.microsoft.com/office/drawing/2014/main" id="{A5D31A50-ECF8-9DFE-F72B-9AF2FB0D73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close up of fire&#10;&#10;AI-generated content may be incorrect.">
            <a:extLst>
              <a:ext uri="{FF2B5EF4-FFF2-40B4-BE49-F238E27FC236}">
                <a16:creationId xmlns:a16="http://schemas.microsoft.com/office/drawing/2014/main" id="{719452C6-4AAE-5534-ADBB-54E72138EBC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9901B49-63CF-E120-08CA-E138422424A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5D2CA3-6D36-82B8-699C-89A12D9B239A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7703A83-7FCB-0E70-9244-4E71ADFBE23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012BC4-01F7-F78B-8F45-0DF6FE407EF5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(a) NOR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(b) NOT A AND NOT B  -  invert both inputs and flip the operator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(c) Two. A group of four leaves one variable out of three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C6DE75-2F4E-D551-2ACE-2489C57BE3CD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6" name="Picture 15" descr="A close up of fire&#10;&#10;AI-generated content may be incorrect.">
            <a:extLst>
              <a:ext uri="{FF2B5EF4-FFF2-40B4-BE49-F238E27FC236}">
                <a16:creationId xmlns:a16="http://schemas.microsoft.com/office/drawing/2014/main" id="{29308CAE-96A8-4641-74EB-78C08D5DFF3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512D0EC8-B894-0877-BDA5-C9503802A08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C878F17D-BBD7-FC72-4561-A3DC715E4CC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 far, we’ve discussed hardware, and what the numbers on that hardware can mean, but none of it is usable on its own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CPU cannot open a file, because a file is not a thing the hardware knows about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operating system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software layer that turns hardware into something a program can use</a:t>
            </a:r>
          </a:p>
          <a:p>
            <a:pPr marL="0" indent="0">
              <a:spcBef>
                <a:spcPts val="1200"/>
              </a:spcBef>
              <a:buNone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71280" y="185784"/>
            <a:ext cx="65992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OPERATING SYSTEM</a:t>
            </a:r>
          </a:p>
        </p:txBody>
      </p:sp>
      <p:pic>
        <p:nvPicPr>
          <p:cNvPr id="2" name="Picture 1" descr="Microsoft Logo Png - Free Transparent PNG Logos">
            <a:extLst>
              <a:ext uri="{FF2B5EF4-FFF2-40B4-BE49-F238E27FC236}">
                <a16:creationId xmlns:a16="http://schemas.microsoft.com/office/drawing/2014/main" id="{05C1EEE6-1E75-52AB-BEA6-CE0F7B5B5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645" y="4666983"/>
            <a:ext cx="2019444" cy="1783366"/>
          </a:xfrm>
          <a:prstGeom prst="rect">
            <a:avLst/>
          </a:prstGeom>
        </p:spPr>
      </p:pic>
      <p:pic>
        <p:nvPicPr>
          <p:cNvPr id="6" name="Picture 5" descr="Macos Icons, Logos, Symbols _ Macos maps Icons, Logos, Symbols – ZKRJU">
            <a:extLst>
              <a:ext uri="{FF2B5EF4-FFF2-40B4-BE49-F238E27FC236}">
                <a16:creationId xmlns:a16="http://schemas.microsoft.com/office/drawing/2014/main" id="{BFD7BB6E-5BCA-65CA-F0C1-9E746FF23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497" y="4279972"/>
            <a:ext cx="2590800" cy="1457325"/>
          </a:xfrm>
          <a:prstGeom prst="rect">
            <a:avLst/>
          </a:prstGeom>
        </p:spPr>
      </p:pic>
      <p:pic>
        <p:nvPicPr>
          <p:cNvPr id="10" name="Picture 9" descr="Android Logo PNG Transparent &amp; SVG Vector - Freebie Supply">
            <a:extLst>
              <a:ext uri="{FF2B5EF4-FFF2-40B4-BE49-F238E27FC236}">
                <a16:creationId xmlns:a16="http://schemas.microsoft.com/office/drawing/2014/main" id="{5A9C6FF5-094F-67A1-D7B4-9B66F13E3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285" y="4557420"/>
            <a:ext cx="1592292" cy="1783367"/>
          </a:xfrm>
          <a:prstGeom prst="rect">
            <a:avLst/>
          </a:prstGeom>
        </p:spPr>
      </p:pic>
      <p:pic>
        <p:nvPicPr>
          <p:cNvPr id="11" name="Picture 10" descr="Linux PNG Transparent Images">
            <a:extLst>
              <a:ext uri="{FF2B5EF4-FFF2-40B4-BE49-F238E27FC236}">
                <a16:creationId xmlns:a16="http://schemas.microsoft.com/office/drawing/2014/main" id="{D2777DAF-82A7-7577-A9DE-E9ABCFC16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6578" y="3789415"/>
            <a:ext cx="2083328" cy="2301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Abstraction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- hiding complexity behind a simple interface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Your Python program says open("data.txt”)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doesn’t specify what physical part of your hard drive to go to, or a memory address, or anything like that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same open() works on an SSD, an HDD and a network drive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implementation of open() is ABSTRACTED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Hopefully, today we’ll peel back just a bit of that abstraction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45370" y="83122"/>
            <a:ext cx="44599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ABSTRACTION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Q2 (a)-(b)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Q2 (a)  Define abstraction as it applies to an operating system.  [1]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Q2 (b)  A program saves a file. State two hardware details the OS hides from that program.  [2]</a:t>
            </a:r>
          </a:p>
          <a:p>
            <a:pPr marL="0" indent="0">
              <a:spcBef>
                <a:spcPts val="1200"/>
              </a:spcBef>
              <a:buNone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ABSTRACTION ON YOUR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IB names the following nine specific functions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571305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NINE FUNCTIONS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E3518D-8862-7D27-D1FE-B9A6A17BF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75064"/>
              </p:ext>
            </p:extLst>
          </p:nvPr>
        </p:nvGraphicFramePr>
        <p:xfrm>
          <a:off x="1737459" y="3372953"/>
          <a:ext cx="8127999" cy="210312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903560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196049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48751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0" dirty="0"/>
                        <a:t>Memory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Virtualization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62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/>
                        <a:t>File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Accounting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Networking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98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/>
                        <a:t>Device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Graphical User Interface (GUI)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/>
                        <a:t>Scheduling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7253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Using our laptops we will (attempt) to find all nine functions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Open Task Manager now:  Ctrl + Shift + Esc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Keep this open during the safari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You’ll jot down some numbers from our hunting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 won’t be breaking anything, so don’t worry about that either, just observing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something is blocked by your school account, oops my bad – write it down and list it as security!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29275"/>
            <a:ext cx="44599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OS SAFARI ZONE</a:t>
            </a:r>
          </a:p>
        </p:txBody>
      </p:sp>
      <p:pic>
        <p:nvPicPr>
          <p:cNvPr id="2" name="Picture 1" descr="Grass PNG Clipart Picture | Gallery Yopriceville - High-Quality Images ...">
            <a:extLst>
              <a:ext uri="{FF2B5EF4-FFF2-40B4-BE49-F238E27FC236}">
                <a16:creationId xmlns:a16="http://schemas.microsoft.com/office/drawing/2014/main" id="{2A612B99-62F7-9CC9-987F-7BE333852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8688" y="4975325"/>
            <a:ext cx="15095151" cy="51164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Task Manager  -&gt;  Performance  -&gt;  Memory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Find three numbers: In use, Available, and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Committed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second half of Committed is likely bigger than your actual RAM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That extra is the page file on your secondary storage instead of your primary to buy you more space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Then do Task Manager -&gt; Processes -&gt; click the Memory column to sort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Whatever is at the top is what program is using the most memory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Write down how much committed memory is used and compare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682478" y="155968"/>
            <a:ext cx="105503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1 - MEMORY MANAGEMENT</a:t>
            </a:r>
          </a:p>
        </p:txBody>
      </p:sp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EA7CE1D4-E3E0-BB7D-0C3F-99F25440A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8688" y="5087724"/>
            <a:ext cx="15095151" cy="5116462"/>
          </a:xfrm>
          <a:prstGeom prst="rect">
            <a:avLst/>
          </a:prstGeom>
        </p:spPr>
      </p:pic>
      <p:pic>
        <p:nvPicPr>
          <p:cNvPr id="10" name="Picture 9" descr="Venonat - WikiDex, la enciclopedia Pokémon">
            <a:extLst>
              <a:ext uri="{FF2B5EF4-FFF2-40B4-BE49-F238E27FC236}">
                <a16:creationId xmlns:a16="http://schemas.microsoft.com/office/drawing/2014/main" id="{8327658F-EED7-268C-DE72-C548AA7CC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474704" y="4950180"/>
            <a:ext cx="1471149" cy="15742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File Explorer  -&gt;  right-click  This PC &gt; Local Disk (C:)  -&gt;  Properties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file system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named on that first tab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should say NTFS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Now: make a new text file on your desktop, type one sentence, save, close, then right-click it and look at Properties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Compare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Size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with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Size on disk</a:t>
            </a:r>
            <a:endParaRPr lang="en-US" sz="2400" b="1" i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Are they the same?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Size on disk says 0 bytes, your file is small enough that NTFS kept it inside its own index instead of giving it a full memory block.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NTFS sorts files into blocks of 4KB in size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25278" y="129275"/>
            <a:ext cx="81119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1 - FILE SYSTEM</a:t>
            </a:r>
          </a:p>
        </p:txBody>
      </p:sp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E26E588E-BC16-D65D-BCB5-6502E3168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8688" y="5737296"/>
            <a:ext cx="15095151" cy="4466889"/>
          </a:xfrm>
          <a:prstGeom prst="rect">
            <a:avLst/>
          </a:prstGeom>
        </p:spPr>
      </p:pic>
      <p:pic>
        <p:nvPicPr>
          <p:cNvPr id="6" name="Picture 5" descr="Rhydon - Pokédex - Pokémon Gaming Wiki - Grindosaur">
            <a:extLst>
              <a:ext uri="{FF2B5EF4-FFF2-40B4-BE49-F238E27FC236}">
                <a16:creationId xmlns:a16="http://schemas.microsoft.com/office/drawing/2014/main" id="{18697463-0713-12F6-87BF-A4DCF5202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740" y="5318514"/>
            <a:ext cx="2037756" cy="20377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Start menu  -&gt;  type  Device Manager  -&gt;  expand  Keyboards  -&gt;  double-click  -&gt;  Driver tab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That is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driver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: the code that translates a general request into this exact device’s format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Click Driver Details for the actual .sys files the OS loads to talk to your keyboard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-&gt; Notes Q3 - memory management, file system, device management</a:t>
            </a:r>
          </a:p>
          <a:p>
            <a:pPr marL="0" indent="0">
              <a:spcBef>
                <a:spcPts val="1200"/>
              </a:spcBef>
              <a:buNone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644378" y="155968"/>
            <a:ext cx="101884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1 - DEVICE MANAGEMENT</a:t>
            </a:r>
          </a:p>
        </p:txBody>
      </p:sp>
      <p:pic>
        <p:nvPicPr>
          <p:cNvPr id="10" name="Picture 9" descr="Scyther - WikiDex, la enciclopedia Pokémon">
            <a:extLst>
              <a:ext uri="{FF2B5EF4-FFF2-40B4-BE49-F238E27FC236}">
                <a16:creationId xmlns:a16="http://schemas.microsoft.com/office/drawing/2014/main" id="{D23CD626-5384-7DBD-7D77-FF2BF49DE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411" y="2391110"/>
            <a:ext cx="4835668" cy="4466890"/>
          </a:xfrm>
          <a:prstGeom prst="rect">
            <a:avLst/>
          </a:prstGeom>
        </p:spPr>
      </p:pic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AD6C9284-3DE4-0025-74D0-9E7B20E10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09072" y="4717074"/>
            <a:ext cx="15095151" cy="44668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lnSpcReduction="10000"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Task Manager  -&gt;  Performance  -&gt;  CPU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Read four numbers off the bottom: Processes, Threads, Logical processors, Up time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Threads is usually two to four thousand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how many different “program parts” your computer is managing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Your logical processors is based on how many cores your CPU has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represents how many different “CPUs” the threads have to run on – they have to ‘share’ time on those CPUs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Now right-click the graph -&gt; Change graph to -&gt; Logical processors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Try playing a YouTube video, or switching to the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roblox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running in the background (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cole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) and see what happens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2 - SCHEDULING</a:t>
            </a:r>
          </a:p>
        </p:txBody>
      </p:sp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68ABB880-6836-7DEA-90A9-40CC34398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1576" y="5558666"/>
            <a:ext cx="15095151" cy="4466889"/>
          </a:xfrm>
          <a:prstGeom prst="rect">
            <a:avLst/>
          </a:prstGeom>
        </p:spPr>
      </p:pic>
      <p:pic>
        <p:nvPicPr>
          <p:cNvPr id="11" name="Picture 10" descr="Tauros — Poképédia">
            <a:extLst>
              <a:ext uri="{FF2B5EF4-FFF2-40B4-BE49-F238E27FC236}">
                <a16:creationId xmlns:a16="http://schemas.microsoft.com/office/drawing/2014/main" id="{DA145D20-BD26-9962-A3CF-3FE9353A9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026" y="64202"/>
            <a:ext cx="1635314" cy="15007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537D5-22F1-DBC9-DFBE-47AF1787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0BB94-AF46-1B63-2A71-3B48C858C7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D65635-6A09-A2F3-31DB-5309EB198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6F2A1-3A90-3AAA-64FE-E577F2BF62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FA1B3-BB45-53F9-45B2-7243257AF8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1BFE4-A3E6-FA12-212C-61AA5DC1F7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Task Manager  -&gt;  Details / Processes  -&gt;  right-click the column headers  -&gt;  add  User name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Some processes belong to you, some belong to SYSTEM (those are restricted OS functions)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Now open Command Prompt and run  whoami /priv  - that is the list of things your account is and is not allowed to do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Assuming they finally unblocked command prompt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Then try to save a text file into C:\Windows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What happens?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Process isolation is the same idea one level down: your program cannot read another's memory just because it asked.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387D4-2E1C-E701-7FD6-1486734E4B7A}"/>
              </a:ext>
            </a:extLst>
          </p:cNvPr>
          <p:cNvSpPr/>
          <p:nvPr/>
        </p:nvSpPr>
        <p:spPr>
          <a:xfrm>
            <a:off x="-344575" y="155968"/>
            <a:ext cx="71213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2 - SECURITY</a:t>
            </a:r>
          </a:p>
        </p:txBody>
      </p:sp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17F8CDDD-DB54-42AF-061E-1C4726E92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1576" y="5558666"/>
            <a:ext cx="15095151" cy="4466889"/>
          </a:xfrm>
          <a:prstGeom prst="rect">
            <a:avLst/>
          </a:prstGeom>
        </p:spPr>
      </p:pic>
      <p:pic>
        <p:nvPicPr>
          <p:cNvPr id="6" name="Picture 5" descr="Nidorino (Pokémon) - Bulbapedia, the community-driven Pokémon encyclopedia">
            <a:extLst>
              <a:ext uri="{FF2B5EF4-FFF2-40B4-BE49-F238E27FC236}">
                <a16:creationId xmlns:a16="http://schemas.microsoft.com/office/drawing/2014/main" id="{7BFBD39A-C1C3-EB4C-CEC5-A8E718420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5050" y="5120332"/>
            <a:ext cx="2019444" cy="2019444"/>
          </a:xfrm>
          <a:prstGeom prst="rect">
            <a:avLst/>
          </a:prstGeom>
        </p:spPr>
      </p:pic>
      <p:pic>
        <p:nvPicPr>
          <p:cNvPr id="10" name="Picture 9" descr="Nidoran♀ Und Seine Entwicklungen – WVTC">
            <a:extLst>
              <a:ext uri="{FF2B5EF4-FFF2-40B4-BE49-F238E27FC236}">
                <a16:creationId xmlns:a16="http://schemas.microsoft.com/office/drawing/2014/main" id="{2C529898-10C4-7579-E54F-1230BE769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78177" y="5137789"/>
            <a:ext cx="2556354" cy="23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9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Task Manager  -&gt;  Users  -&gt;  expand your own name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CPU, memory, disk and network, itemised per user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accounting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: the OS keeping track of what’s occurring on the computer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Then go to Settings -&gt; System -&gt; Storage, and wait for it to finish tallying up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is the OS reporting its accounting to you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Q3, rows 4 to 6 - scheduling, security, accounting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2 - ACCOUNTING</a:t>
            </a:r>
          </a:p>
        </p:txBody>
      </p:sp>
      <p:pic>
        <p:nvPicPr>
          <p:cNvPr id="6" name="Picture 5" descr="Dratini Pokemon, Evolving, Pokémon Battle, Rare, Baby Pokémon PNG">
            <a:extLst>
              <a:ext uri="{FF2B5EF4-FFF2-40B4-BE49-F238E27FC236}">
                <a16:creationId xmlns:a16="http://schemas.microsoft.com/office/drawing/2014/main" id="{83EDC97F-DCCE-C41F-9A34-98859DB3E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081" y="3429000"/>
            <a:ext cx="3776914" cy="3776914"/>
          </a:xfrm>
          <a:prstGeom prst="rect">
            <a:avLst/>
          </a:prstGeom>
        </p:spPr>
      </p:pic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10AF04B0-2AA9-5409-6CE9-D25AABAC8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1576" y="5558666"/>
            <a:ext cx="15095151" cy="44668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Trust the process here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Task Manager  -&gt;  find  Windows Explorer  -&gt;  End task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Your taskbar and desktop should vanish – but not every program you had open will close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We’ve turned off 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GUI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and left the operating system running underneath it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should automatically come back, but if it doesn’t: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To get it back:  Task Manager  -&gt;  File  -&gt;  Run new task  -&gt;  type  explorer  -&gt;  OK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GUI is one function of an OS, not the definition of one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For example, a server runs with no GUI at all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217138" y="155968"/>
            <a:ext cx="664512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3 - THE GUI</a:t>
            </a:r>
          </a:p>
        </p:txBody>
      </p:sp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5BFD2042-8C39-3E7F-92A7-332510593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1576" y="5558666"/>
            <a:ext cx="15095151" cy="4466889"/>
          </a:xfrm>
          <a:prstGeom prst="rect">
            <a:avLst/>
          </a:prstGeom>
        </p:spPr>
      </p:pic>
      <p:pic>
        <p:nvPicPr>
          <p:cNvPr id="6" name="Picture 5" descr="Pinsir - WikiDex, la enciclopedia Pokémon">
            <a:extLst>
              <a:ext uri="{FF2B5EF4-FFF2-40B4-BE49-F238E27FC236}">
                <a16:creationId xmlns:a16="http://schemas.microsoft.com/office/drawing/2014/main" id="{95F1F391-8379-7F7A-6E41-16EBE527C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448233">
            <a:off x="9680542" y="-40822"/>
            <a:ext cx="2583216" cy="23894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Task Manager  -&gt;  Performance  -&gt;  CPU  -&gt;  read the right-hand column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There is a line that says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Virtualization: Enabled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your computer is ready to simulate another computer</a:t>
            </a:r>
          </a:p>
          <a:p>
            <a:pPr marL="1371600" lvl="2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Should the need arise, which it probably won’t for you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This functionality supports cloud computing, leading to SaaS, PaaS, and IaaS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Each virtual machine believes it has its own CPU, memory and disk, and cannot see the others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If yours says Disabled, that is a BIOS setting – just jot down what you have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9120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3 - VIRTUALIZATION</a:t>
            </a:r>
          </a:p>
        </p:txBody>
      </p:sp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8124A837-F62B-6DF7-52FC-E63AB6219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51576" y="5558666"/>
            <a:ext cx="15095151" cy="4466889"/>
          </a:xfrm>
          <a:prstGeom prst="rect">
            <a:avLst/>
          </a:prstGeom>
        </p:spPr>
      </p:pic>
      <p:pic>
        <p:nvPicPr>
          <p:cNvPr id="6" name="Picture 5" descr="Exeggcute - WikiDex, la enciclopedia Pokémon">
            <a:extLst>
              <a:ext uri="{FF2B5EF4-FFF2-40B4-BE49-F238E27FC236}">
                <a16:creationId xmlns:a16="http://schemas.microsoft.com/office/drawing/2014/main" id="{4543E981-AEAB-63E6-EB8B-0F609E348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4310" y="4785547"/>
            <a:ext cx="2863533" cy="26451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Task Manager  -&gt;  Processes  -&gt;  click the  Network  column to sort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Command Prompt  -&gt;  netstat –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ano</a:t>
            </a: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Again, SHOULD be unblocked by now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Each of these is a connection your computer is making to a server or some other network device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Count the number of these that say established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Most of these are either school required programs or background tasks, like stuff from Microsoft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OS gave every one of those a connection and shares a single network card between all of them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Q3, rows 7 to 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20528" y="155968"/>
            <a:ext cx="82453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ZONE 3 - NETWORKING</a:t>
            </a:r>
          </a:p>
        </p:txBody>
      </p:sp>
      <p:pic>
        <p:nvPicPr>
          <p:cNvPr id="6" name="Picture 5" descr="Slowpoke - Pokemon Scarlet and Violet Guide - IGN">
            <a:extLst>
              <a:ext uri="{FF2B5EF4-FFF2-40B4-BE49-F238E27FC236}">
                <a16:creationId xmlns:a16="http://schemas.microsoft.com/office/drawing/2014/main" id="{9ECF669F-245D-92F4-03DF-9E438388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605" y="4196482"/>
            <a:ext cx="4699257" cy="4699257"/>
          </a:xfrm>
          <a:prstGeom prst="rect">
            <a:avLst/>
          </a:prstGeom>
        </p:spPr>
      </p:pic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CBFA7BF2-C8BE-D585-3F46-9E22D0557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1576" y="5558666"/>
            <a:ext cx="15095151" cy="446688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Double check your process list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maybe have 4 or 5 apps you’ve opened, but there’s well more processes than that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rest are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background operations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: writing logs, indexing files for search, checking for updates, expiring caches, watching for devices, managing memory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All of it competes for the same CPU and memory as your work, which is why a machine can be so slow even when it looks like it’s doing nothing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operating system is why WE don’t have to choose to run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75648" y="155968"/>
            <a:ext cx="470202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SAFARI WRAP UP</a:t>
            </a:r>
          </a:p>
        </p:txBody>
      </p:sp>
      <p:pic>
        <p:nvPicPr>
          <p:cNvPr id="6" name="Picture 5" descr="Safari ball icon poke balls icons – Artofit">
            <a:extLst>
              <a:ext uri="{FF2B5EF4-FFF2-40B4-BE49-F238E27FC236}">
                <a16:creationId xmlns:a16="http://schemas.microsoft.com/office/drawing/2014/main" id="{12831DAE-D3D7-3A15-AD4D-44534A58B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544" y="5144540"/>
            <a:ext cx="2073693" cy="2070427"/>
          </a:xfrm>
          <a:prstGeom prst="rect">
            <a:avLst/>
          </a:prstGeom>
        </p:spPr>
      </p:pic>
      <p:pic>
        <p:nvPicPr>
          <p:cNvPr id="3" name="Picture 2" descr="Grass PNG Clipart Picture | Gallery Yopriceville - High-Quality Images ...">
            <a:extLst>
              <a:ext uri="{FF2B5EF4-FFF2-40B4-BE49-F238E27FC236}">
                <a16:creationId xmlns:a16="http://schemas.microsoft.com/office/drawing/2014/main" id="{FD9E054D-57E7-7C84-6075-07F17FD4B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1576" y="5558666"/>
            <a:ext cx="15095151" cy="44668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64633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System integrity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machine staying in a correct, consistent, working state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fact that we were able to kill the whole program’s GUI and the computer didn’t crash is because of system integrity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crashing program should take only itself down, and its memory should come back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file half-written when the power fails should not corrupt the whole file system</a:t>
            </a:r>
          </a:p>
          <a:p>
            <a:pPr marL="0" indent="0">
              <a:spcBef>
                <a:spcPts val="1200"/>
              </a:spcBef>
              <a:buNone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52163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SYSTEM INTEGRITY</a:t>
            </a:r>
          </a:p>
        </p:txBody>
      </p:sp>
      <p:pic>
        <p:nvPicPr>
          <p:cNvPr id="2" name="Picture 1" descr="broken computer with shattered screen, displaying signs of wear and ...">
            <a:extLst>
              <a:ext uri="{FF2B5EF4-FFF2-40B4-BE49-F238E27FC236}">
                <a16:creationId xmlns:a16="http://schemas.microsoft.com/office/drawing/2014/main" id="{6A9B01AC-02B3-104C-C4B6-2312321BC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23" y="1770277"/>
            <a:ext cx="5032109" cy="40256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Q4 (a)-(c) and Q5 (a)-(b)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Q4  Name the function responsible for: (a) two programs sharing CPU time, (b) a new printer working with no manual code written by you(c) a school tracking disk space per account.  [3]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Q5 (a)  State what is meant by system integrity.  [1]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Q5 (b)  Describe one background operation and explain why it matters. 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401296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YOUR NOTES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Q6  Describe the role of an operating system, with reference to abstraction.  [3]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Q7  Explain how memory management and security work together to stop one program crashing another.  [3]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Q8  A school is choosing between twenty physical servers and one server using virtualization. Explain two advantages of the virtualization option.  [4]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255923" y="129275"/>
            <a:ext cx="15206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4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2" name="Picture 1" descr="Labrador Retriever Png Transparent Image Png Arts Labrador Retriever">
            <a:extLst>
              <a:ext uri="{FF2B5EF4-FFF2-40B4-BE49-F238E27FC236}">
                <a16:creationId xmlns:a16="http://schemas.microsoft.com/office/drawing/2014/main" id="{44E8E8FA-2574-B59A-5223-36D7500CA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82" y="-63367"/>
            <a:ext cx="962556" cy="11077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Pay attention to the command terms here: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'Describe' wants what it is and what it does. 'Explain' wants a because in the sentence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Q8 is four marks for two advantages, so each one needs a point and a reason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4349" y="129275"/>
            <a:ext cx="53687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JOHN IB’S PRO TIPS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EE5FEE-30C1-01B4-4613-79FB43E86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23" y="938421"/>
            <a:ext cx="3960554" cy="5943600"/>
          </a:xfrm>
          <a:prstGeom prst="rect">
            <a:avLst/>
          </a:prstGeom>
        </p:spPr>
      </p:pic>
      <p:pic>
        <p:nvPicPr>
          <p:cNvPr id="3" name="Picture 2" descr="File:International Baccalaureate Logo.svg - Wikipedia">
            <a:extLst>
              <a:ext uri="{FF2B5EF4-FFF2-40B4-BE49-F238E27FC236}">
                <a16:creationId xmlns:a16="http://schemas.microsoft.com/office/drawing/2014/main" id="{64AA2A40-D4F0-514B-4EEE-18BB6DB2C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919" y="1658830"/>
            <a:ext cx="777995" cy="77819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44927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Operating system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Abstraction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Memory management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Committed memory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Page file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File system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Size on disk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Driver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5354429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Scheduling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Thread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Logical processor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Process isolation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Accounting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GUI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Virtualization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System integrity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89DB9-BFE9-D0BB-65E7-668ABF5A8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45583</TotalTime>
  <Words>1695</Words>
  <Application>Microsoft Office PowerPoint</Application>
  <PresentationFormat>Widescreen</PresentationFormat>
  <Paragraphs>170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40</cp:revision>
  <dcterms:created xsi:type="dcterms:W3CDTF">2025-08-11T14:07:39Z</dcterms:created>
  <dcterms:modified xsi:type="dcterms:W3CDTF">2026-09-01T21:01:07Z</dcterms:modified>
</cp:coreProperties>
</file>