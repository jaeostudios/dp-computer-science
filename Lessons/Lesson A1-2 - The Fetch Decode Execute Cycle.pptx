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0" r:id="rId15"/>
    <p:sldId id="269" r:id="rId16"/>
    <p:sldId id="270" r:id="rId17"/>
    <p:sldId id="271" r:id="rId18"/>
    <p:sldId id="272" r:id="rId19"/>
    <p:sldId id="273" r:id="rId20"/>
    <p:sldId id="274" r:id="rId21"/>
    <p:sldId id="291" r:id="rId22"/>
    <p:sldId id="275" r:id="rId23"/>
    <p:sldId id="276" r:id="rId24"/>
    <p:sldId id="277" r:id="rId25"/>
    <p:sldId id="278" r:id="rId26"/>
    <p:sldId id="279" r:id="rId27"/>
    <p:sldId id="280" r:id="rId28"/>
    <p:sldId id="292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7" autoAdjust="0"/>
    <p:restoredTop sz="89467" autoAdjust="0"/>
  </p:normalViewPr>
  <p:slideViewPr>
    <p:cSldViewPr snapToGrid="0">
      <p:cViewPr varScale="1">
        <p:scale>
          <a:sx n="99" d="100"/>
          <a:sy n="99" d="100"/>
        </p:scale>
        <p:origin x="762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modSld">
      <pc:chgData name="Michael Hill" userId="41dba03d-e58d-4389-9894-554c10310ba4" providerId="ADAL" clId="{EF23FE1D-A042-481E-AFD7-2A9FB0847F54}" dt="2026-08-18T15:56:25.912" v="288" actId="207"/>
      <pc:docMkLst>
        <pc:docMk/>
      </pc:docMkLst>
      <pc:sldChg chg="modSp mod">
        <pc:chgData name="Michael Hill" userId="41dba03d-e58d-4389-9894-554c10310ba4" providerId="ADAL" clId="{EF23FE1D-A042-481E-AFD7-2A9FB0847F54}" dt="2026-08-18T15:55:01.062" v="221" actId="207"/>
        <pc:sldMkLst>
          <pc:docMk/>
          <pc:sldMk cId="0" sldId="261"/>
        </pc:sldMkLst>
        <pc:spChg chg="mod">
          <ac:chgData name="Michael Hill" userId="41dba03d-e58d-4389-9894-554c10310ba4" providerId="ADAL" clId="{EF23FE1D-A042-481E-AFD7-2A9FB0847F54}" dt="2026-08-18T15:55:01.062" v="221" actId="207"/>
          <ac:spMkLst>
            <pc:docMk/>
            <pc:sldMk cId="0" sldId="261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17.665" v="227" actId="114"/>
        <pc:sldMkLst>
          <pc:docMk/>
          <pc:sldMk cId="0" sldId="262"/>
        </pc:sldMkLst>
        <pc:spChg chg="mod">
          <ac:chgData name="Michael Hill" userId="41dba03d-e58d-4389-9894-554c10310ba4" providerId="ADAL" clId="{EF23FE1D-A042-481E-AFD7-2A9FB0847F54}" dt="2026-08-18T15:55:17.665" v="227" actId="114"/>
          <ac:spMkLst>
            <pc:docMk/>
            <pc:sldMk cId="0" sldId="262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12.180" v="225" actId="114"/>
        <pc:sldMkLst>
          <pc:docMk/>
          <pc:sldMk cId="0" sldId="263"/>
        </pc:sldMkLst>
        <pc:spChg chg="mod">
          <ac:chgData name="Michael Hill" userId="41dba03d-e58d-4389-9894-554c10310ba4" providerId="ADAL" clId="{EF23FE1D-A042-481E-AFD7-2A9FB0847F54}" dt="2026-08-18T15:55:12.180" v="225" actId="114"/>
          <ac:spMkLst>
            <pc:docMk/>
            <pc:sldMk cId="0" sldId="263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21.609" v="230" actId="207"/>
        <pc:sldMkLst>
          <pc:docMk/>
          <pc:sldMk cId="0" sldId="264"/>
        </pc:sldMkLst>
        <pc:spChg chg="mod">
          <ac:chgData name="Michael Hill" userId="41dba03d-e58d-4389-9894-554c10310ba4" providerId="ADAL" clId="{EF23FE1D-A042-481E-AFD7-2A9FB0847F54}" dt="2026-08-18T15:55:21.609" v="230" actId="207"/>
          <ac:spMkLst>
            <pc:docMk/>
            <pc:sldMk cId="0" sldId="264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30.986" v="236" actId="207"/>
        <pc:sldMkLst>
          <pc:docMk/>
          <pc:sldMk cId="0" sldId="266"/>
        </pc:sldMkLst>
        <pc:spChg chg="mod">
          <ac:chgData name="Michael Hill" userId="41dba03d-e58d-4389-9894-554c10310ba4" providerId="ADAL" clId="{EF23FE1D-A042-481E-AFD7-2A9FB0847F54}" dt="2026-08-18T15:55:30.986" v="236" actId="207"/>
          <ac:spMkLst>
            <pc:docMk/>
            <pc:sldMk cId="0" sldId="266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1:39.797" v="14" actId="20577"/>
        <pc:sldMkLst>
          <pc:docMk/>
          <pc:sldMk cId="0" sldId="268"/>
        </pc:sldMkLst>
        <pc:spChg chg="mod">
          <ac:chgData name="Michael Hill" userId="41dba03d-e58d-4389-9894-554c10310ba4" providerId="ADAL" clId="{EF23FE1D-A042-481E-AFD7-2A9FB0847F54}" dt="2026-08-18T15:51:39.797" v="14" actId="20577"/>
          <ac:spMkLst>
            <pc:docMk/>
            <pc:sldMk cId="0" sldId="268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5:45.998" v="245" actId="207"/>
        <pc:sldMkLst>
          <pc:docMk/>
          <pc:sldMk cId="0" sldId="270"/>
        </pc:sldMkLst>
        <pc:spChg chg="mod">
          <ac:chgData name="Michael Hill" userId="41dba03d-e58d-4389-9894-554c10310ba4" providerId="ADAL" clId="{EF23FE1D-A042-481E-AFD7-2A9FB0847F54}" dt="2026-08-18T15:55:45.998" v="245" actId="207"/>
          <ac:spMkLst>
            <pc:docMk/>
            <pc:sldMk cId="0" sldId="270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3:49.795" v="155" actId="20577"/>
        <pc:sldMkLst>
          <pc:docMk/>
          <pc:sldMk cId="0" sldId="276"/>
        </pc:sldMkLst>
        <pc:spChg chg="mod">
          <ac:chgData name="Michael Hill" userId="41dba03d-e58d-4389-9894-554c10310ba4" providerId="ADAL" clId="{EF23FE1D-A042-481E-AFD7-2A9FB0847F54}" dt="2026-08-18T15:53:49.795" v="155" actId="20577"/>
          <ac:spMkLst>
            <pc:docMk/>
            <pc:sldMk cId="0" sldId="276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6:25.912" v="288" actId="207"/>
        <pc:sldMkLst>
          <pc:docMk/>
          <pc:sldMk cId="0" sldId="280"/>
        </pc:sldMkLst>
        <pc:spChg chg="mod">
          <ac:chgData name="Michael Hill" userId="41dba03d-e58d-4389-9894-554c10310ba4" providerId="ADAL" clId="{EF23FE1D-A042-481E-AFD7-2A9FB0847F54}" dt="2026-08-18T15:56:14.039" v="251" actId="113"/>
          <ac:spMkLst>
            <pc:docMk/>
            <pc:sldMk cId="0" sldId="280"/>
            <ac:spMk id="5" creationId="{6101391E-910B-70E2-21F8-0AD7DBA98205}"/>
          </ac:spMkLst>
        </pc:spChg>
        <pc:spChg chg="mod">
          <ac:chgData name="Michael Hill" userId="41dba03d-e58d-4389-9894-554c10310ba4" providerId="ADAL" clId="{EF23FE1D-A042-481E-AFD7-2A9FB0847F54}" dt="2026-08-18T15:56:25.912" v="288" actId="207"/>
          <ac:spMkLst>
            <pc:docMk/>
            <pc:sldMk cId="0" sldId="280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4:35.462" v="218" actId="20577"/>
        <pc:sldMkLst>
          <pc:docMk/>
          <pc:sldMk cId="0" sldId="287"/>
        </pc:sldMkLst>
        <pc:spChg chg="mod">
          <ac:chgData name="Michael Hill" userId="41dba03d-e58d-4389-9894-554c10310ba4" providerId="ADAL" clId="{EF23FE1D-A042-481E-AFD7-2A9FB0847F54}" dt="2026-08-18T15:54:35.462" v="218" actId="20577"/>
          <ac:spMkLst>
            <pc:docMk/>
            <pc:sldMk cId="0" sldId="287"/>
            <ac:spMk id="8" creationId="{1812F390-3309-32E6-4E5B-EF9BB6857C6C}"/>
          </ac:spMkLst>
        </pc:spChg>
      </pc:sldChg>
      <pc:sldChg chg="modSp mod">
        <pc:chgData name="Michael Hill" userId="41dba03d-e58d-4389-9894-554c10310ba4" providerId="ADAL" clId="{EF23FE1D-A042-481E-AFD7-2A9FB0847F54}" dt="2026-08-18T15:51:47.639" v="33" actId="20577"/>
        <pc:sldMkLst>
          <pc:docMk/>
          <pc:sldMk cId="160159476" sldId="290"/>
        </pc:sldMkLst>
        <pc:spChg chg="mod">
          <ac:chgData name="Michael Hill" userId="41dba03d-e58d-4389-9894-554c10310ba4" providerId="ADAL" clId="{EF23FE1D-A042-481E-AFD7-2A9FB0847F54}" dt="2026-08-18T15:51:47.639" v="33" actId="20577"/>
          <ac:spMkLst>
            <pc:docMk/>
            <pc:sldMk cId="160159476" sldId="290"/>
            <ac:spMk id="8" creationId="{85A1BFE4-A3E6-FA12-212C-61AA5DC1F7DC}"/>
          </ac:spMkLst>
        </pc:spChg>
      </pc:sldChg>
      <pc:sldChg chg="modSp mod">
        <pc:chgData name="Michael Hill" userId="41dba03d-e58d-4389-9894-554c10310ba4" providerId="ADAL" clId="{EF23FE1D-A042-481E-AFD7-2A9FB0847F54}" dt="2026-08-18T15:52:52.127" v="83" actId="20577"/>
        <pc:sldMkLst>
          <pc:docMk/>
          <pc:sldMk cId="0" sldId="291"/>
        </pc:sldMkLst>
        <pc:spChg chg="mod">
          <ac:chgData name="Michael Hill" userId="41dba03d-e58d-4389-9894-554c10310ba4" providerId="ADAL" clId="{EF23FE1D-A042-481E-AFD7-2A9FB0847F54}" dt="2026-08-18T15:52:52.127" v="83" actId="20577"/>
          <ac:spMkLst>
            <pc:docMk/>
            <pc:sldMk cId="0" sldId="291"/>
            <ac:spMk id="8" creationId="{1812F390-3309-32E6-4E5B-EF9BB6857C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0:00-0:01. Checker Dance from Deltarune playing on entry. Guided Notes handed out at the door. Tell them to open their CPU diagram from last lesson before they sit down - today is built directly on top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0:01-0:02. Point out the shape of the day: forty minutes on how memory and the cycle work, then a proper programming block. Warn them the second half is Python so nobody is surprised when PyCharm has to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0:02-0:03. Silent, two minutes. Do not let anyone shout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0:03-0:04. Someone will have said the PC holds the instruction. Correct it out loud - it is the single most common slip on this topic and it will cost them a mark in September.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0:04-0:05. Framing. They already drew the top of the memory hierarchy last week without being told that is what it was. Keep this to a minute - step 2 is ten minutes now, not twelve.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0:05-0:07. Anchor it to their diagram: IR, PC, MAR, MDR, AC are all registers.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0:07-0:09. The syllabus names L1, L2 and L3 explicitly. The pattern: as cache gets bigger it gets slower. That is not a design failure, it is physics - a bigger array takes longer to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0:09-0:10. Keep this one short. The number that matters is the 100x, because it is the same 100 ns they are about to use in Notes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0:10-0:11. The question they always ask: if the computer needs an OS to run, what runs before the OS is loaded? Answer: code sitting in ROM. That is the whole reason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0:11-0:14. Draw the pyramid on the whiteboard next to their A1-1 diagram so both are visible at once. Two minutes on Q2 and Q3, then take answers fast and move - the time for this step came out of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0:14-0:15. These two terms are named in the syllabus in exactly these words, which tells you they will be asked for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0:15-0:17. Write the formula on the board and leave it there - they need it for Notes Q4 and again for Part 3 of the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0:17-0:18. Ask before you reveal the 99% row: we go from 90 to 99, how much faster? They will guess about ten percent. Let them be wrong first - it is the whole reason chip designers spend a third of the die area on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7086-4C6E-8DF5-AC6E-C4A5EB0F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16CF9-5126-01A0-D651-8DED19BF0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860BA-EA55-68B5-33EC-20B0FA47D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0:18-0:19. The answer to the slide 13 question is 25x (50.50 / 1.99). Then push further: going 90 to 99 still buys 5.5x. Nine percentage points. That is why chip designers spend a third of the die area on cache.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735CD-BD7B-54CC-0451-661215D83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48765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0:19-0:21. Answers: (c) 0.9 x 1 + 0.1 x 100 = 10.9 ns. (d) 0.5 x 1 + 0.5 x 100 = 50.5 ns. Insist on the working line for (c) - it is worth 2 and the answer alone gets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0:21-0:22. Get the diagram on every screen before you go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0:22-0:23. Point at PC then MAR on the diagram as you say it, then trace the address bus out to the memory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0:23-0:25. This is the sentence to make them write down - it is the answer to Notes Q10.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0:25-0:26. Say the warning twice. This is the classic exam trap and it turns up on Notes Q6 in about ninety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0:26-0:27. Note that not every instruction uses the ALU - STORE just writes memory - but the syllabus wants the ALU/AC pairing.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0:27-0:32. This is the visual for the whole of step 4 - do not just run it, drive it. Press Enter only after somebody has committed to an answer. Cycle 1 in full, slowly; that is where the six fetch stages land. Then speed up. Watch for the FETCH 4 panel: memory still holds the value after it has been read, which kills the 'reading empties memory' idea before it forms. Press 'a' to let cycles 2-4 run themselves if you are short of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0:32-0:33. Q5 answers in order: PC, MAR / address / read / data, MDR / IR / incremented / control unit / ALU, accumulator. Take these verbally while they are still on the demo panel, then move straight into LMC.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0:33-0:35. Get the site open on every machine before you say anything else - that is the step most likely to eat time. If the site is blocked, fall back: they run A1-2-fde-trace.py themselves in pairs and step it. Say the sentence about it being real - after twenty minutes of diagrams, the fact that this thing actually assembles matters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0:35-0:39. Four minutes. Circulate hard, this is where the typos live. LDA not LOAD, STA not STORE, HLT not HALT. DAT reserves a mailbox and puts a value in it. Point out what happened in the mailboxes: the assembler placed NUM1, NUM2 and RESULT at addresses 4, 5 and 6, right after the four instructions - nobody told it to, it just fills downwards. LDA NUM1 has become 504: a 5 for LDA, then 04 for the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0:39-0:42. Slowest speed or the narration does not appear. Let them find the PC line themselves rather than reading it out - it lands harder. Q6 answers: cycle 1 PC 1, IR LDA 4, AC 12, no change. Cycle 2 PC 2, IR ADD 5, AC 42, no change. Cycle 3 PC 3, IR STA 6, AC 42, yes - address 6 becomes 42. Cycle 4 PC 4, IR HLT, AC 42, no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0:42-0:43. Short but do not skip it - a sharp student will already have asked what AR is. This is also the honest answer to why we ran the Python demo first: it showed MAR, MDR and the three buses precisely because LMC cannot. Q8 and Q10 on the notes are about exactly the parts LMC hides. SUB extension answer: 12 - 30 = -18, and LMC will show it as a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0:43-0:45. HL bullet A1.1.6, but keep the SL students in the room - it costs five minutes and makes the scheduling material in A1-8 land much better. Analogy that works: a laundromat. You do not wait for load one to dry before washing load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F6AB-BF08-9661-2A31-EE206A0A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9650E-4B0D-DCDC-FC54-31BAC049C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3E3CA-CF2C-9C4B-A9D6-C50E0165B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0:43-0:45. HL bullet A1.1.6, but keep the SL students in the room - it costs five minutes and makes the scheduling material in A1-8 land much better. Analogy that works: a laundromat. You do not wait for load one to dry before washing load two.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9AE0F-652F-A276-F695-1860762FD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8716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0:45-0:48. Callback to A1-1: we said then that software has to be written to take advantage of multiple cores. This is the mechanism behind that sentence. Q7 answers: (a) fetch, decode, execute, write-back. (b) stages work on different instructions at the same time, so one instruction completes per clock once the pipeline is full instead of one every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0:48-0:52. Genuinely silent. Watch the clock - four minutes, then stop them wherever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0:52-0:54. Make them total the sheet and hand it in at the door - the mark out of 34 is the record that the notes were actually done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0:54-0:55. Hand it out. Set the tone: this is not new syntax, it is B2 material they already own. Say that out loud - the rust is the obstacle, not the difficulty.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0:55-0:56. Open the file on the projector so they can see it is just integers with a trailing newline. Mention the trailing newline explicitly - int('') is the crash they will all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0:56-0:58. Point out load_trace is straight out of B2.5.1 / Lesson B2-14, and that they should reopen those notes rather than guess. Tell them the target numbers now: direct-mapped gives 16 hits, 24 misses, 40.0%, 60.40 ns. If they get those, Parts 1-3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0:58-1:18. Circulate. Common failures, in the order you will meet them: forgetting int() on the line; forgetting to write the address into the cache line on a miss (gives 0 hits); comparing the line index instead of the stored address (gives far too many hits).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1:18-1:20. Name the next lesson explicitly. Remind them PA A1-1 is due at the start of it, and that access_trace.txt has to be in the same folder or nothing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Leave this up while they pack. Everything here is fair game on Quiz A1-1.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A1: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COMPUTER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A1-2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1740569" y="3728134"/>
            <a:ext cx="8250456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Bahnschrift SemiBold" panose="020B0502040204020203" pitchFamily="34" charset="0"/>
              </a:rPr>
              <a:t>THE FETCH, DECODE, EXECUTE CYCLE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</a:p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Guided Notes</a:t>
            </a:r>
          </a:p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Your A1-1 CPU diagram</a:t>
            </a:r>
          </a:p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A browser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Primary memory: registers, cache, RAM, ROM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Cache hits and cache misses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The fetch, decode, execute cycle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LMC: running a real program on a real machine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Pipelining and multi-core [HL]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PA A1-1: Cache 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From the CPU diagram we built last lesson: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(a) Which register holds the address of the next instruction to be fetched?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(b) Which register holds the instruction currently being executed?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(c) Which bus carries an address from the CPU to memory - and is it one-way or two-way?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Q1 (a)-(c) [3 marks] - do them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WARM UP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(a)  Program Counter (PC)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(b)  Instruction Register (IR)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(c)  The address bus - unidirectional, CPU to memory only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All of these will come back today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WARM UP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Last lesson we drew registers inside the CPU and 'memory' as one box outside it.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Doing this was a lie of convenience.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four kinds of primary memory, and the CPU treats them very differently.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PRIMARY 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06841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lnSpcReduction="10000"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Registers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Storage built directly into the CPU - you have already labelled five of them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Fastest thing in the machine: the ALU reads them in a single clock cycle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Tiny. A handful of values, measured in bytes, not gigabytes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Volatile - contents vanish when power is lost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PRIMARY MEMORY</a:t>
            </a:r>
          </a:p>
        </p:txBody>
      </p:sp>
      <p:pic>
        <p:nvPicPr>
          <p:cNvPr id="2" name="Picture 1" descr="Lecture 04 – AVR CPU Registers">
            <a:extLst>
              <a:ext uri="{FF2B5EF4-FFF2-40B4-BE49-F238E27FC236}">
                <a16:creationId xmlns:a16="http://schemas.microsoft.com/office/drawing/2014/main" id="{66DBE4FF-7D58-06B9-DC1F-F5B365C8B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534" y="3789415"/>
            <a:ext cx="5059543" cy="29496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Cache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(Level 1, Level 2, Level 3)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Small, fast memory that holds copies of things from RAM the CPU expects to want again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L1: smallest and fastest, one per core, closest to the ALU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L2: bigger, a little slower, usually still per-core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L3: biggest and slowest of the three, normally shared between all cores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Volatile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PRIMARY MEMORY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7DBA7-3C14-4064-9BF3-C9526C8394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502" r="28769" b="29214"/>
          <a:stretch>
            <a:fillRect/>
          </a:stretch>
        </p:blipFill>
        <p:spPr>
          <a:xfrm>
            <a:off x="7864905" y="4759693"/>
            <a:ext cx="2019445" cy="1597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RAM  -  Random Access Memory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main working memory: running programs and their data live here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Gigabytes of it, but roughly 100x slower to reach than cache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Volatile - this is why unsaved work dies in a power outage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PRIMARY MEMORY</a:t>
            </a:r>
          </a:p>
        </p:txBody>
      </p:sp>
      <p:pic>
        <p:nvPicPr>
          <p:cNvPr id="2" name="Picture 1" descr="RAM Stick. DDR RAM stick. computer memory module 67755298 PNG">
            <a:extLst>
              <a:ext uri="{FF2B5EF4-FFF2-40B4-BE49-F238E27FC236}">
                <a16:creationId xmlns:a16="http://schemas.microsoft.com/office/drawing/2014/main" id="{771A1A34-142A-C1FD-1607-04C34ACC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442" y="2754435"/>
            <a:ext cx="8948585" cy="5965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ROM  -  Read Only Memory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Non-volatile - survives power loss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Holds the firmware that starts the machine before an OS exists (BIOS / UEFI)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Cannot be written to, only read from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PRIMARY MEMORY</a:t>
            </a:r>
          </a:p>
        </p:txBody>
      </p:sp>
      <p:pic>
        <p:nvPicPr>
          <p:cNvPr id="2" name="Picture 1" descr="Read Only Memory (rom)">
            <a:extLst>
              <a:ext uri="{FF2B5EF4-FFF2-40B4-BE49-F238E27FC236}">
                <a16:creationId xmlns:a16="http://schemas.microsoft.com/office/drawing/2014/main" id="{AC1073F9-13E3-109E-161F-403ABBAF7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509" y="4275015"/>
            <a:ext cx="4533900" cy="23802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Top to bottom:  faster, smaller, more expensive per byte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    Registers          &lt;1 ns          bytes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    L1 / L2 / L3       1-20 ns        KB to MB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    RAM                ~100 ns        GB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    ROM                slow           MB, fixed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Q2 [4 marks] and Q3 [2 marks] - do them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PRIMARY MEMORY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CPU asks for the contents of a memory address.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CACHE HIT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 it is already in cache. Fetch it from there.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CACHE MISS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 it is not. Go all the way out to RAM, and copy it into cache on the way back, in the hope that it gets asked for again.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CACHE HITS AND MISSES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Cache access:    1 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RAM access:      100 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miss costs 100x more than a hit.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Yikers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average access time  =  (hit rate x 1)  +  (miss rate x 100)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CACHE HITS AND MISSES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Run:  A1-CacheSimulation.py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difference in speed between a 50% and 99% cache hit rate in terms of time?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CACHE HITS AND MISSES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537D5-22F1-DBC9-DFBE-47AF1787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60BB94-AF46-1B63-2A71-3B48C858C7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D65635-6A09-A2F3-31DB-5309EB1987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A6F2A1-3A90-3AAA-64FE-E577F2BF62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FA1B3-BB45-53F9-45B2-7243257AF8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1BFE4-A3E6-FA12-212C-61AA5DC1F7D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Run:  A1-CacheSimulation.py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50% hit rate  -&gt;  50.50 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90% hit rate  -&gt;  10.90 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99% hit rate  -&gt;   1.99 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50% to 99% is 25x faster. Even 90% to 99% - nine points - is 5.5x.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387D4-2E1C-E701-7FD6-1486734E4B7A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CACHE HITS AND MISSES</a:t>
            </a:r>
          </a:p>
        </p:txBody>
      </p:sp>
    </p:spTree>
    <p:extLst>
      <p:ext uri="{BB962C8B-B14F-4D97-AF65-F5344CB8AC3E}">
        <p14:creationId xmlns:p14="http://schemas.microsoft.com/office/powerpoint/2010/main" val="160159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Q4 (a)-(d) [5 marks] - do them now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(a) Define cache hit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(b) Define cache miss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(c) 90% hit rate, cache 1 ns, RAM 100 ns. Calculate the average access time. Show working.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(d) The hit rate drops to 50%. Calculate the new average access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CACHE HITS AND MISSES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10000"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Everything computers do is this loop, run a few billion times a second: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FETCH   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get the next instruction out of memory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DECODE  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work out what it is asking for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EXECUTE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 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 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Open your A1-1 diagram, or the slides from last time to get access to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1014172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FETCH, DECODE, EXECUTE CYCLE</a:t>
            </a:r>
          </a:p>
        </p:txBody>
      </p:sp>
      <p:pic>
        <p:nvPicPr>
          <p:cNvPr id="2" name="Picture 1" descr="The CPU Flashcards | Quizlet">
            <a:extLst>
              <a:ext uri="{FF2B5EF4-FFF2-40B4-BE49-F238E27FC236}">
                <a16:creationId xmlns:a16="http://schemas.microsoft.com/office/drawing/2014/main" id="{4BEC7101-7FFE-0311-5A33-AEB7F85B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564" y="2488327"/>
            <a:ext cx="3097827" cy="2602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5432678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FETCH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1.  The address of the next instruction is copied from the PC into the MAR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2.  The MAR puts that address onto the ADDRESS bus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Nothing has left the CPU until step 2. Step 1 is internal.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986642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FETCH, DECODE, EXECUTE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BF60F7-7340-EFD0-9B8A-8D1EF07DF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991" y="1688898"/>
            <a:ext cx="5432678" cy="38697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22231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lnSpcReduction="10000"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FETCH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3.  The control unit sends a READ signal along the CONTROL bus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4.  The instruction travels back along the DATA bus and lands in the MDR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Three buses, three different jobs. Address says where, control says what to do, data carries the info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1003357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FETCH, DECODE, EXECUTE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64F927-EC5E-E094-00CF-D1F76A10F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073" y="2042466"/>
            <a:ext cx="4905004" cy="34938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570120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FETCH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5.  The instruction is copied from the MDR into the IR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6.  The PC is incremented so it points at the next instruction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PC increments during FETCH - not after EXECUTE.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By the time the CPU starts working, it already knows where it is going next.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992541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FETCH, DECODE, EXECUTE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7048E0-B703-3FBC-6099-3F018F651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974" y="1934876"/>
            <a:ext cx="5960690" cy="42458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42375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10000"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DECODE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7.  The control unit reads the opcode (operation code) sitting in the IR and works out what is needed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EXECUTE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8.  The ALU performs the operation; the result is placed in the accumulator (AC)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 back to step 1 perpetually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100827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FETCH, DECODE, EXECUTE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5339BF-9038-E0B6-F541-1F231F4EB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368" y="2067902"/>
            <a:ext cx="4632657" cy="32999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Run:  A1-FetchDecodeExecuteTrace.py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same cycle, one stage at a time, on the machine you drew last lesson.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waits for input between every stage.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Before each one: which register changes next, and which bus is doing the work?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1014172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FETCH, DECODE, EXECUTE CYCLE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Q5 [5 marks] - fill in the ten blanks now, while it is on the board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have been filling these in as we went, you are already finished.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986642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FETCH, DECODE, EXECUTE CYCLE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A1-FetchDecodeExecute.py was a simulation of a CPU, let’s try it on a more complete model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Little Man Computer – an assembler and machine, in your web browser: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peterhigginson.co.uk/lmc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are about to write machine code (assembly) and watch it execute.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LMC: A REAL MACHINE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20000"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Type this into the assembly box on the right. Exactly as written.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LDA NUM1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ADD NUM2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STA RESULT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HLT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NUM1    DAT 12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NUM2    DAT 30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  DAT 0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Click the ‘Assemble into RAM’ button to ‘compile’ the 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LMC: TYPE THIS 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Drag SPEED to its slowest setting first. Then press STEP, not RUN.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Watch the PC and the ACC. Watch RAM spot 6.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Read what the simulator says during FETCH: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“...In parallel add 1 to the Program Counter.”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Q6 [4 marks] - fill in the trace table as you step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LMC: STEP 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 lnSpcReduction="20000"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LMC shows PC, ACC, IR and AR.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Its IR holds only the opcode digit - the 5 in 504.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Its AR holds the address digits - the 04. That is our MAR, under another name.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is no MDR anywhere. There are no buses anywhere.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Every simulator is a simplification. Worth knowing what the LMC excludes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Finished early? Add OUT before HLT, then swap ADD for SUB and predict the answer.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WHAT LMC HIDES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 far one instruction has had the whole CPU to itself.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Real processors do not wait. Break the work into four stages: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    FETCH  -&gt;  DECODE  -&gt;  EXECUTE  -&gt;  WRITE-BACK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While instruction 1 is being decoded, instruction 2 is already being fetched. This is called </a:t>
            </a:r>
            <a:r>
              <a:rPr lang="en-US" sz="28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pipelining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PIPELINING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B8F33210-59E3-DA96-F1EF-047D3AACD2B6}"/>
              </a:ext>
            </a:extLst>
          </p:cNvPr>
          <p:cNvSpPr/>
          <p:nvPr/>
        </p:nvSpPr>
        <p:spPr>
          <a:xfrm>
            <a:off x="6837573" y="-336995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B3DC8-54BC-25AF-D0F0-8206AB34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CB18368-96B9-B5F9-7AB4-7B0E8F2CAAB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FF08F2-5075-C0EF-E554-A00833F7D84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1754F0-8C1C-E1D7-995E-CCEE4302736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48865E-B2DE-BF4A-3397-D882A82A95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D9FA7A-3395-0222-5ABF-824301ECC1C0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PIPELINING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312FB2C8-C1D7-86DC-7365-A117E8EE1788}"/>
              </a:ext>
            </a:extLst>
          </p:cNvPr>
          <p:cNvSpPr/>
          <p:nvPr/>
        </p:nvSpPr>
        <p:spPr>
          <a:xfrm>
            <a:off x="6837573" y="-336995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  <p:pic>
        <p:nvPicPr>
          <p:cNvPr id="2" name="Picture 1" descr="L'Arcanum: [CPU] Pipeline">
            <a:extLst>
              <a:ext uri="{FF2B5EF4-FFF2-40B4-BE49-F238E27FC236}">
                <a16:creationId xmlns:a16="http://schemas.microsoft.com/office/drawing/2014/main" id="{4BACF5B8-A0FA-A502-F7C9-4515FF870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423" y="1671515"/>
            <a:ext cx="9157154" cy="462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15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lnSpcReduction="10000"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 the same clock speed, more instructions can be finished per second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a multi-core processor each core runs its own pipeline, independently and in parallel.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why 'more cores' and 'higher clock speed' are two different ways to go faster -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why old single-threaded software gets nothing from the first one.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Q7 (a) and (b) [3 marks] - do them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PIPELINING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B8F33210-59E3-DA96-F1EF-047D3AACD2B6}"/>
              </a:ext>
            </a:extLst>
          </p:cNvPr>
          <p:cNvSpPr/>
          <p:nvPr/>
        </p:nvSpPr>
        <p:spPr>
          <a:xfrm>
            <a:off x="6837573" y="-336995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Q8, Q9 and Q10 [8 marks] - silent, four minutes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Q8.  Describe the role of the MDR during the fetch stage. [2]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Q9.  Explain why a cache miss slows the CPU down, with reference to the memory hierarchy. [3]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Q10. Explain how the three buses interact during the fetch stage of the cycle. [3]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EXAM-STYLE QUESTIONS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Mark your own, then total the sheet out of 34.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Q8.  Holds the instruction just fetched - the staging point between data bus and IR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Q9.  Not in cache, so the CPU goes out to RAM, ~100x slower, and stalls while it waits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Q10. MAR -&gt; address bus; CU sends READ on the control bus; instruction returns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       on the data bus into the MDR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EXAM-STYLE QUESTIONS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Time for actual Python. Long time no see!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are going to build the cache we have been talking about, run a real sequence of memory accesses through it, and produce the hit rate and the average access time yourself.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You’ll have the rest of class to work on this programming assignment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 A1-1: CACHE MEMORY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Download from the Resources tab:   access_trace.txt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40 memory addresses, one per line, in the order the CPU asked for them. Three phases: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reads 1-20 - a tight loop over addresses 16, 17, 18, 19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reads 21-32 - alternating between address 0 and address 4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reads 33-40 - a single walk through addresses 32 to 39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 A1-1: CACHE MEMORY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 fontScale="92500"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Your cache: 4 addresses (list spaces).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Direct-mapped, so an address may only live in line  address % 4.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Part 1 [4]   load_trace()   -   read the file, return a list of ints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Part 2 [8]   direct_mapped()   -   count the hits and the misses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Part 3 [6]   average_access_time()   -   and print a readable report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Part 4 [2]   fully_associative_lru()   -   extension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Reflection questions R1-R4 [10]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 A1-1: CACHE MEMORY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Work time. 20 minutes.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Try to get through parts 1 and 2 at least today.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Finished early? Go to the reflection questions.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Whatever is left goes home. Due at the start of Lesson A1-3.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PA A1-1: CACHE MEMORY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Your direct-mapped cache hit 40% of the time.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fully associative version in Part 4 gets 65% on exactly the same trace.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Even with the same size and workload, changing the where an address is allowed to sit.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Next lesson: A1-3 - Secondary Storage, Compression, and SaaS.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Everything we touched today is volatile. Wednesday is about the non-volatile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CLOSE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44927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Registers                     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Cache (L1, L2, L3)            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Cache miss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RAM                           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Average access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ROM                           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Fetch, decode, execute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Volatile / non-volatile       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Write-back  [HL]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5354429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Cache hit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Pipelining  [HL]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Memory hierarchy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98DD38-B473-6F3C-787B-5068656DF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553848" y="3717853"/>
            <a:ext cx="3278463" cy="29825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45443</TotalTime>
  <Words>3704</Words>
  <Application>Microsoft Office PowerPoint</Application>
  <PresentationFormat>Widescreen</PresentationFormat>
  <Paragraphs>305</Paragraphs>
  <Slides>37</Slides>
  <Notes>37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39</cp:revision>
  <dcterms:created xsi:type="dcterms:W3CDTF">2025-08-11T14:07:39Z</dcterms:created>
  <dcterms:modified xsi:type="dcterms:W3CDTF">2026-08-18T15:56:32Z</dcterms:modified>
</cp:coreProperties>
</file>