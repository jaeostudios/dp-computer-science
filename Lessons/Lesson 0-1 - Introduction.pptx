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4" r:id="rId18"/>
    <p:sldId id="275" r:id="rId19"/>
    <p:sldId id="272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1064"/>
    <a:srgbClr val="AE5E22"/>
    <a:srgbClr val="31682A"/>
    <a:srgbClr val="B18B1F"/>
    <a:srgbClr val="E0B94C"/>
    <a:srgbClr val="6E4924"/>
    <a:srgbClr val="730B0B"/>
    <a:srgbClr val="611D32"/>
    <a:srgbClr val="345494"/>
    <a:srgbClr val="3C2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335C-C385-98F9-37D8-222A61CCA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06793-4E8B-F8CE-60AD-791A463B0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07BF8-A509-9289-F71A-F36D6288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B83AA-8C2C-F119-3A64-E7D89FFA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A8D0-06FF-385B-2E45-30534E4A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1F53-E6E7-4752-3C47-40F4F646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CE2D-3735-9674-1112-8EA985593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64031-9BD6-3B8A-137A-D49A3191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8FCC-A4DE-2C08-6F3B-E194D3E7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7310-FC7D-7936-2ACE-DBAF148E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1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0057-8666-F171-4692-4D03DA61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BF577-9DE4-8EF9-F2B3-F82161296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2A89B-D0EF-8254-95E8-375F0989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7A713-3D85-35E3-4A7D-CC7F9BD7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8B292-93AA-8D59-E842-C619DF7D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9EC4-B68B-6969-EE78-5662A361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83B7-2121-BC0B-CB3E-A7DC98355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E7F14-72C8-5E00-2B77-EE400D79C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4FA72-7D46-90E0-D815-49EB96D1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2CFCD-9162-5CE8-FBA0-C907A323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F763D-F7AA-FC94-C146-D78973DF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3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AE99-BDAA-AA86-C7A3-4EC06440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0B157-B144-129B-165A-37F76F41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5AB94-14B8-0A3A-BF47-BF44290C2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BDF20-D805-4149-3EC9-CBFC97185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D514F-38FF-ECE3-8E5A-1A07538B8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89FFE-7BE1-A7CA-9D7D-59944954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DA340-279E-2DDC-2DE4-8066D61C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36E7D6-017B-A578-52A9-22E5E7E9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7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D019-AB85-3326-5D85-992CCFCB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708099-636F-14D6-062B-86F455E3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0A9C5-2537-9781-4DA7-7FC05C8B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EA769-D8DE-5B0B-8484-D9AFA030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1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E2817-A115-E585-0FA7-6789CFA9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15D8E-FB32-CEE0-613D-3381FBA3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38289-407B-E5FC-170D-9AC70F2C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0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534F-E667-413A-9CD8-109C6A58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1782C-116B-73B6-C877-83677DEF3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68F7D-6BC4-6A3D-9BA0-14897ECA9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2066F-2C16-00DF-4CFA-9D4103DB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3B444-E3CF-4191-8E75-DFCB58EB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BE3EC-A776-0CD3-64ED-7C32AC49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6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B5BE-4F18-7386-F645-DC6752DC3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288A8-1B0A-A927-03EB-4FAA32670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9D349-AFC7-0114-0A35-BA139B094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0AAE2-0017-5B6D-FD25-4739FD2DD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A8C32-8F45-54D1-3EAF-C3C431FB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89DC0-6780-F871-B419-35385358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8020-24A2-7B94-E129-AC87790A6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D0F3E-AE95-0F85-8EDB-E407D9A8B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EC120-CE2C-EB04-4DD2-A5F36798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040A3-BFD3-9E8B-8F95-12C814B1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97F60-33C8-BE5B-999B-A866E67C7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4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6F1A4B-7759-1566-F85C-4FA01B455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FDF0D-E1AD-F271-F426-3C0A1E75A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FF5C5-5E9D-2BC5-E849-AA9C76C6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BB478-112B-8313-C14C-D3234119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1DAFD-B098-79B0-586D-109AE783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8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CDE23-F679-11A6-1586-1693BC9C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68FE6-B44F-F3DF-60B3-78B609092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74DD-7000-877A-3C6E-50F33A57E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65227-DAEE-4A16-85A2-5D940A201AC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4A34A-4E3E-78E9-A311-55C7D28F0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9B5BF-4665-81B6-BE92-2FB313C3F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EF304-A3A7-4975-BA00-A56FB7368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6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1C371C-D43E-7F58-4EF3-2F0349E5D509}"/>
              </a:ext>
            </a:extLst>
          </p:cNvPr>
          <p:cNvSpPr/>
          <p:nvPr/>
        </p:nvSpPr>
        <p:spPr>
          <a:xfrm>
            <a:off x="10384364" y="376194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B82F88-292B-DF16-057C-C0A8347B3BE2}"/>
              </a:ext>
            </a:extLst>
          </p:cNvPr>
          <p:cNvSpPr/>
          <p:nvPr/>
        </p:nvSpPr>
        <p:spPr>
          <a:xfrm>
            <a:off x="3507748" y="1905144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A90FE-0779-990D-3CDE-3433FC71FA7C}"/>
              </a:ext>
            </a:extLst>
          </p:cNvPr>
          <p:cNvSpPr/>
          <p:nvPr/>
        </p:nvSpPr>
        <p:spPr>
          <a:xfrm>
            <a:off x="756270" y="744239"/>
            <a:ext cx="4489498" cy="39532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/>
              <a:t>TOPIC </a:t>
            </a:r>
          </a:p>
          <a:p>
            <a:pPr algn="ctr"/>
            <a:r>
              <a:rPr lang="en-US" sz="9600" dirty="0"/>
              <a:t>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89D81-2BB1-64BA-4BED-EE047E3C9791}"/>
              </a:ext>
            </a:extLst>
          </p:cNvPr>
          <p:cNvSpPr/>
          <p:nvPr/>
        </p:nvSpPr>
        <p:spPr>
          <a:xfrm>
            <a:off x="4704089" y="1151467"/>
            <a:ext cx="6531175" cy="199749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695389" lon="1542488" rev="30301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LESSON 0-1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26BD0-AF25-6F60-1975-43E134761BAB}"/>
              </a:ext>
            </a:extLst>
          </p:cNvPr>
          <p:cNvSpPr/>
          <p:nvPr/>
        </p:nvSpPr>
        <p:spPr>
          <a:xfrm>
            <a:off x="4247913" y="4309725"/>
            <a:ext cx="6531175" cy="199749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478204" lon="1127557" rev="2134407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INTRODUCTION TO DP COMPUTER SCIENCE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DF9F871-5152-B02B-51C7-6241E43A5565}"/>
              </a:ext>
            </a:extLst>
          </p:cNvPr>
          <p:cNvSpPr/>
          <p:nvPr/>
        </p:nvSpPr>
        <p:spPr>
          <a:xfrm rot="8856716">
            <a:off x="5269081" y="2342093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427364B-103E-2F2E-F693-1043581F1ED5}"/>
              </a:ext>
            </a:extLst>
          </p:cNvPr>
          <p:cNvSpPr/>
          <p:nvPr/>
        </p:nvSpPr>
        <p:spPr>
          <a:xfrm rot="6300000">
            <a:off x="5323962" y="2801320"/>
            <a:ext cx="130120" cy="234425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9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29D7-2F03-EC67-1B34-33923D64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D2E7BBF-CCFA-833A-6786-EDBDDE6AB453}"/>
              </a:ext>
            </a:extLst>
          </p:cNvPr>
          <p:cNvSpPr/>
          <p:nvPr/>
        </p:nvSpPr>
        <p:spPr>
          <a:xfrm>
            <a:off x="8822268" y="39042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39964E-4E25-4FD8-FB79-DBA5EC39E7BB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CD87E-855C-6CAB-47DA-EFA6FA139EDC}"/>
              </a:ext>
            </a:extLst>
          </p:cNvPr>
          <p:cNvSpPr/>
          <p:nvPr/>
        </p:nvSpPr>
        <p:spPr>
          <a:xfrm>
            <a:off x="1021285" y="124709"/>
            <a:ext cx="10441754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INTRODUCTION TO DP COMPUTER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E60733-6A32-7E43-C0AA-53B94E084A46}"/>
              </a:ext>
            </a:extLst>
          </p:cNvPr>
          <p:cNvSpPr/>
          <p:nvPr/>
        </p:nvSpPr>
        <p:spPr>
          <a:xfrm>
            <a:off x="563861" y="1642534"/>
            <a:ext cx="11064278" cy="16580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DP Computer Science consists of two papers and an individual assessment (IA)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17F1F7-A549-38FF-87E3-36B88D5D37AB}"/>
              </a:ext>
            </a:extLst>
          </p:cNvPr>
          <p:cNvSpPr/>
          <p:nvPr/>
        </p:nvSpPr>
        <p:spPr>
          <a:xfrm>
            <a:off x="563861" y="4251414"/>
            <a:ext cx="11064278" cy="16580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51797" lon="21259369" rev="12437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Paper 1 consists of Concepts of Computer Science, while Paper 2 consists of Computational Thinking &amp; Problem Solving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259149C-C78B-F287-2CAA-D391B39538B8}"/>
              </a:ext>
            </a:extLst>
          </p:cNvPr>
          <p:cNvSpPr/>
          <p:nvPr/>
        </p:nvSpPr>
        <p:spPr>
          <a:xfrm rot="12544476">
            <a:off x="10950904" y="319405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FBBCAD6-B575-7D94-67A9-E46AEDEA6352}"/>
              </a:ext>
            </a:extLst>
          </p:cNvPr>
          <p:cNvSpPr/>
          <p:nvPr/>
        </p:nvSpPr>
        <p:spPr>
          <a:xfrm rot="15002333">
            <a:off x="11245146" y="678455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9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5A07-E2B3-F4E0-8B0E-C8F3876C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D5AA642F-1A12-17DB-D970-183B4E067269}"/>
              </a:ext>
            </a:extLst>
          </p:cNvPr>
          <p:cNvSpPr/>
          <p:nvPr/>
        </p:nvSpPr>
        <p:spPr>
          <a:xfrm>
            <a:off x="3477460" y="272716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F01DF1-7F7A-DF47-1D1E-B929C7AB19E6}"/>
              </a:ext>
            </a:extLst>
          </p:cNvPr>
          <p:cNvSpPr/>
          <p:nvPr/>
        </p:nvSpPr>
        <p:spPr>
          <a:xfrm>
            <a:off x="7593884" y="903483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63250-477F-1DD5-DD7C-1CA250724C93}"/>
              </a:ext>
            </a:extLst>
          </p:cNvPr>
          <p:cNvSpPr/>
          <p:nvPr/>
        </p:nvSpPr>
        <p:spPr>
          <a:xfrm>
            <a:off x="817973" y="446443"/>
            <a:ext cx="3322115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0A814-2933-9F53-596D-77853C05EB4A}"/>
              </a:ext>
            </a:extLst>
          </p:cNvPr>
          <p:cNvSpPr/>
          <p:nvPr/>
        </p:nvSpPr>
        <p:spPr>
          <a:xfrm>
            <a:off x="143934" y="1473518"/>
            <a:ext cx="6344938" cy="35221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Paper 1 Contains: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A1: Concepts of computing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A2: Networks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A3: Databases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A4: Machine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38DA7-BBC3-D246-BFAC-46647CCA1327}"/>
              </a:ext>
            </a:extLst>
          </p:cNvPr>
          <p:cNvSpPr/>
          <p:nvPr/>
        </p:nvSpPr>
        <p:spPr>
          <a:xfrm>
            <a:off x="6380462" y="2396066"/>
            <a:ext cx="5566005" cy="415713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856033" lon="21239322" rev="17295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Paper 2 Contains: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B1: Computational Thinking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B2: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B3: Object-oriented </a:t>
            </a:r>
            <a:r>
              <a:rPr lang="en-US" sz="3200" dirty="0" err="1"/>
              <a:t>Proramming</a:t>
            </a:r>
            <a:r>
              <a:rPr lang="en-US" sz="3200" dirty="0"/>
              <a:t> (OOP)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 B4: Abstract Data Types (ADTs)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7A4081-2D1C-B688-F3C5-B0238E391456}"/>
              </a:ext>
            </a:extLst>
          </p:cNvPr>
          <p:cNvSpPr/>
          <p:nvPr/>
        </p:nvSpPr>
        <p:spPr>
          <a:xfrm>
            <a:off x="8051912" y="1360524"/>
            <a:ext cx="3322115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251807" lon="1001829" rev="2116342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PAPER 2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6E34DC5-ABF7-AB2A-9FAF-3B756B9D0B99}"/>
              </a:ext>
            </a:extLst>
          </p:cNvPr>
          <p:cNvSpPr/>
          <p:nvPr/>
        </p:nvSpPr>
        <p:spPr>
          <a:xfrm rot="9159159">
            <a:off x="320800" y="697802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B717762-D5F8-A071-8117-952C921629B6}"/>
              </a:ext>
            </a:extLst>
          </p:cNvPr>
          <p:cNvSpPr/>
          <p:nvPr/>
        </p:nvSpPr>
        <p:spPr>
          <a:xfrm rot="10223962">
            <a:off x="7865645" y="1481985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2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A73D-AE15-5394-FE64-9EA643D3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DA18502-5EE3-CD1A-61A7-32F6F9BAC1BC}"/>
              </a:ext>
            </a:extLst>
          </p:cNvPr>
          <p:cNvSpPr/>
          <p:nvPr/>
        </p:nvSpPr>
        <p:spPr>
          <a:xfrm>
            <a:off x="8822268" y="3904280"/>
            <a:ext cx="3648402" cy="3648402"/>
          </a:xfrm>
          <a:prstGeom prst="ellipse">
            <a:avLst/>
          </a:prstGeom>
          <a:noFill/>
          <a:ln w="127000">
            <a:solidFill>
              <a:srgbClr val="004C4A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F24F27-90EA-4A7E-9F5A-02741099C706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rgbClr val="004C4A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7E0E5-6C23-AE70-1833-7CB2AD4FAC57}"/>
              </a:ext>
            </a:extLst>
          </p:cNvPr>
          <p:cNvSpPr/>
          <p:nvPr/>
        </p:nvSpPr>
        <p:spPr>
          <a:xfrm>
            <a:off x="1021286" y="111266"/>
            <a:ext cx="9043990" cy="914081"/>
          </a:xfrm>
          <a:prstGeom prst="rect">
            <a:avLst/>
          </a:prstGeom>
          <a:solidFill>
            <a:srgbClr val="004C4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A1: CONCEPTS OF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EAA6B-824E-571D-755C-75780FC6DE6E}"/>
              </a:ext>
            </a:extLst>
          </p:cNvPr>
          <p:cNvSpPr/>
          <p:nvPr/>
        </p:nvSpPr>
        <p:spPr>
          <a:xfrm>
            <a:off x="2289533" y="1621908"/>
            <a:ext cx="8258407" cy="3410729"/>
          </a:xfrm>
          <a:prstGeom prst="rect">
            <a:avLst/>
          </a:prstGeom>
          <a:solidFill>
            <a:srgbClr val="004C4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Computer Hardware and Operation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 Representation and Computer Logic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Operating Systems and Control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Translation </a:t>
            </a:r>
            <a:r>
              <a:rPr lang="en-US" sz="3200" b="1" i="1" dirty="0"/>
              <a:t>(HL ONLY)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6221A1B-D1D7-1B9A-A395-B5AC5A10A511}"/>
              </a:ext>
            </a:extLst>
          </p:cNvPr>
          <p:cNvSpPr/>
          <p:nvPr/>
        </p:nvSpPr>
        <p:spPr>
          <a:xfrm rot="12544476">
            <a:off x="9630868" y="319405"/>
            <a:ext cx="372533" cy="671157"/>
          </a:xfrm>
          <a:prstGeom prst="triangle">
            <a:avLst/>
          </a:prstGeom>
          <a:solidFill>
            <a:srgbClr val="004C4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788D481-1D88-4258-3995-4107B420F378}"/>
              </a:ext>
            </a:extLst>
          </p:cNvPr>
          <p:cNvSpPr/>
          <p:nvPr/>
        </p:nvSpPr>
        <p:spPr>
          <a:xfrm rot="15002333">
            <a:off x="9924072" y="675413"/>
            <a:ext cx="206694" cy="372381"/>
          </a:xfrm>
          <a:prstGeom prst="triangle">
            <a:avLst/>
          </a:prstGeom>
          <a:solidFill>
            <a:srgbClr val="004C4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9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9668-393B-DE40-6E8F-5C6C410B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8CAE167-E179-D1C1-D333-F44F1B4D7E78}"/>
              </a:ext>
            </a:extLst>
          </p:cNvPr>
          <p:cNvSpPr/>
          <p:nvPr/>
        </p:nvSpPr>
        <p:spPr>
          <a:xfrm>
            <a:off x="7830249" y="4002033"/>
            <a:ext cx="1984038" cy="1984038"/>
          </a:xfrm>
          <a:prstGeom prst="ellipse">
            <a:avLst/>
          </a:prstGeom>
          <a:noFill/>
          <a:ln w="127000">
            <a:solidFill>
              <a:srgbClr val="3C2D51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E3CC13-219E-07CC-45A1-218B41085BFE}"/>
              </a:ext>
            </a:extLst>
          </p:cNvPr>
          <p:cNvSpPr/>
          <p:nvPr/>
        </p:nvSpPr>
        <p:spPr>
          <a:xfrm>
            <a:off x="1490135" y="1345650"/>
            <a:ext cx="3648402" cy="3648402"/>
          </a:xfrm>
          <a:prstGeom prst="ellipse">
            <a:avLst/>
          </a:prstGeom>
          <a:noFill/>
          <a:ln w="127000">
            <a:solidFill>
              <a:srgbClr val="3C2D51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059772-1547-91CC-1B6C-61A98DD974F8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rgbClr val="3C2D51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C5132-10A8-0BF6-81E1-7B082A177049}"/>
              </a:ext>
            </a:extLst>
          </p:cNvPr>
          <p:cNvSpPr/>
          <p:nvPr/>
        </p:nvSpPr>
        <p:spPr>
          <a:xfrm>
            <a:off x="4784355" y="180547"/>
            <a:ext cx="5862114" cy="914081"/>
          </a:xfrm>
          <a:prstGeom prst="rect">
            <a:avLst/>
          </a:prstGeom>
          <a:solidFill>
            <a:srgbClr val="3C2D5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A2: NETWORKS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CBEB87-5347-9E79-4272-A5ACF4827C0D}"/>
              </a:ext>
            </a:extLst>
          </p:cNvPr>
          <p:cNvSpPr/>
          <p:nvPr/>
        </p:nvSpPr>
        <p:spPr>
          <a:xfrm>
            <a:off x="2969333" y="2154175"/>
            <a:ext cx="6388800" cy="3410729"/>
          </a:xfrm>
          <a:prstGeom prst="rect">
            <a:avLst/>
          </a:prstGeom>
          <a:solidFill>
            <a:srgbClr val="3C2D5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468649" lon="20335300" rev="23605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Network Fundamentals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Network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 Transmissions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Network Security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DD672591-1CCB-4D1F-B12E-188FA4033066}"/>
              </a:ext>
            </a:extLst>
          </p:cNvPr>
          <p:cNvSpPr/>
          <p:nvPr/>
        </p:nvSpPr>
        <p:spPr>
          <a:xfrm rot="10441986">
            <a:off x="4448315" y="316443"/>
            <a:ext cx="372533" cy="671157"/>
          </a:xfrm>
          <a:prstGeom prst="triangle">
            <a:avLst/>
          </a:prstGeom>
          <a:solidFill>
            <a:srgbClr val="3C2D5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74CCF23-FAEF-08FB-A82E-D3FC27D04ACE}"/>
              </a:ext>
            </a:extLst>
          </p:cNvPr>
          <p:cNvSpPr/>
          <p:nvPr/>
        </p:nvSpPr>
        <p:spPr>
          <a:xfrm rot="8623936">
            <a:off x="4337767" y="652443"/>
            <a:ext cx="206694" cy="372381"/>
          </a:xfrm>
          <a:prstGeom prst="triangle">
            <a:avLst/>
          </a:prstGeom>
          <a:solidFill>
            <a:srgbClr val="3C2D5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5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695E-35BF-3B81-98AC-1B9F40B0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E704C6C-E0DB-1591-9119-DE38CF24CA4E}"/>
              </a:ext>
            </a:extLst>
          </p:cNvPr>
          <p:cNvSpPr/>
          <p:nvPr/>
        </p:nvSpPr>
        <p:spPr>
          <a:xfrm>
            <a:off x="8822268" y="3904280"/>
            <a:ext cx="3648402" cy="3648402"/>
          </a:xfrm>
          <a:prstGeom prst="ellipse">
            <a:avLst/>
          </a:prstGeom>
          <a:noFill/>
          <a:ln w="127000">
            <a:solidFill>
              <a:srgbClr val="345494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E66657-DD5A-4184-E18D-A346A5E674F1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rgbClr val="345494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5E7A2-0549-4BFB-686A-BD4DAAC39E7D}"/>
              </a:ext>
            </a:extLst>
          </p:cNvPr>
          <p:cNvSpPr/>
          <p:nvPr/>
        </p:nvSpPr>
        <p:spPr>
          <a:xfrm>
            <a:off x="958272" y="108224"/>
            <a:ext cx="6717247" cy="914081"/>
          </a:xfrm>
          <a:prstGeom prst="rect">
            <a:avLst/>
          </a:prstGeom>
          <a:solidFill>
            <a:srgbClr val="34549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A3: DATABASES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85C32-4B59-722C-DA70-D33A7BFEFDDB}"/>
              </a:ext>
            </a:extLst>
          </p:cNvPr>
          <p:cNvSpPr/>
          <p:nvPr/>
        </p:nvSpPr>
        <p:spPr>
          <a:xfrm>
            <a:off x="2289533" y="1621908"/>
            <a:ext cx="8258407" cy="3410729"/>
          </a:xfrm>
          <a:prstGeom prst="rect">
            <a:avLst/>
          </a:prstGeom>
          <a:solidFill>
            <a:srgbClr val="34549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Database Fundamentals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Database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Database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Alternative Databases &amp; Data Warehouses </a:t>
            </a:r>
            <a:r>
              <a:rPr lang="en-US" sz="3200" b="1" i="1" dirty="0"/>
              <a:t>(HL ONLY)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DB2659D-970A-4300-F681-DB15B5ACF4C9}"/>
              </a:ext>
            </a:extLst>
          </p:cNvPr>
          <p:cNvSpPr/>
          <p:nvPr/>
        </p:nvSpPr>
        <p:spPr>
          <a:xfrm rot="12544476">
            <a:off x="7488800" y="302919"/>
            <a:ext cx="372533" cy="671157"/>
          </a:xfrm>
          <a:prstGeom prst="triangle">
            <a:avLst/>
          </a:prstGeom>
          <a:solidFill>
            <a:srgbClr val="34549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38BCBE7-499A-D93E-F589-DB3C67C9268E}"/>
              </a:ext>
            </a:extLst>
          </p:cNvPr>
          <p:cNvSpPr/>
          <p:nvPr/>
        </p:nvSpPr>
        <p:spPr>
          <a:xfrm rot="15002333">
            <a:off x="7732522" y="676935"/>
            <a:ext cx="206694" cy="372381"/>
          </a:xfrm>
          <a:prstGeom prst="triangle">
            <a:avLst/>
          </a:prstGeom>
          <a:solidFill>
            <a:srgbClr val="34549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DBEC-B370-3EF9-73E1-397BA1F9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99E67DC-03DE-8B2B-612A-211B5E51C4F6}"/>
              </a:ext>
            </a:extLst>
          </p:cNvPr>
          <p:cNvSpPr/>
          <p:nvPr/>
        </p:nvSpPr>
        <p:spPr>
          <a:xfrm>
            <a:off x="7830249" y="4002033"/>
            <a:ext cx="1984038" cy="1984038"/>
          </a:xfrm>
          <a:prstGeom prst="ellipse">
            <a:avLst/>
          </a:prstGeom>
          <a:noFill/>
          <a:ln w="127000">
            <a:solidFill>
              <a:srgbClr val="730B0B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F42309-E2F1-2366-A6BA-3A35D7783367}"/>
              </a:ext>
            </a:extLst>
          </p:cNvPr>
          <p:cNvSpPr/>
          <p:nvPr/>
        </p:nvSpPr>
        <p:spPr>
          <a:xfrm>
            <a:off x="1490135" y="1345650"/>
            <a:ext cx="3648402" cy="3648402"/>
          </a:xfrm>
          <a:prstGeom prst="ellipse">
            <a:avLst/>
          </a:prstGeom>
          <a:noFill/>
          <a:ln w="127000">
            <a:solidFill>
              <a:srgbClr val="730B0B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39C08B-F3CC-42FC-CFEB-4F9AD782B740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rgbClr val="730B0B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B9094-6BB3-9537-20BB-343C7124CAA8}"/>
              </a:ext>
            </a:extLst>
          </p:cNvPr>
          <p:cNvSpPr/>
          <p:nvPr/>
        </p:nvSpPr>
        <p:spPr>
          <a:xfrm>
            <a:off x="4784354" y="180547"/>
            <a:ext cx="7153645" cy="914081"/>
          </a:xfrm>
          <a:prstGeom prst="rect">
            <a:avLst/>
          </a:prstGeom>
          <a:solidFill>
            <a:srgbClr val="730B0B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A4: MACHINE LEARNING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BE722D-C07D-0D67-0795-B7ECBB4AEA8D}"/>
              </a:ext>
            </a:extLst>
          </p:cNvPr>
          <p:cNvSpPr/>
          <p:nvPr/>
        </p:nvSpPr>
        <p:spPr>
          <a:xfrm>
            <a:off x="2994733" y="2157740"/>
            <a:ext cx="6388800" cy="3410729"/>
          </a:xfrm>
          <a:prstGeom prst="rect">
            <a:avLst/>
          </a:prstGeom>
          <a:solidFill>
            <a:srgbClr val="730B0B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468649" lon="20335300" rev="23605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Machine Learning Fundamentals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 Preprocessing </a:t>
            </a:r>
            <a:r>
              <a:rPr lang="en-US" sz="3200" b="1" i="1" dirty="0"/>
              <a:t>(HL ONLY)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Machine Learning Approaches </a:t>
            </a:r>
            <a:r>
              <a:rPr lang="en-US" sz="3200" b="1" i="1" dirty="0"/>
              <a:t>(HL ONLY)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3E54215-AA69-F175-98DE-F08D98D50ED0}"/>
              </a:ext>
            </a:extLst>
          </p:cNvPr>
          <p:cNvSpPr/>
          <p:nvPr/>
        </p:nvSpPr>
        <p:spPr>
          <a:xfrm rot="10441986">
            <a:off x="4448315" y="316443"/>
            <a:ext cx="372533" cy="671157"/>
          </a:xfrm>
          <a:prstGeom prst="triangle">
            <a:avLst/>
          </a:prstGeom>
          <a:solidFill>
            <a:srgbClr val="730B0B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EDCEDCC-EE47-EDC3-426E-8B7D2E3875DA}"/>
              </a:ext>
            </a:extLst>
          </p:cNvPr>
          <p:cNvSpPr/>
          <p:nvPr/>
        </p:nvSpPr>
        <p:spPr>
          <a:xfrm rot="8623936">
            <a:off x="4337767" y="652443"/>
            <a:ext cx="206694" cy="372381"/>
          </a:xfrm>
          <a:prstGeom prst="triangle">
            <a:avLst/>
          </a:prstGeom>
          <a:solidFill>
            <a:srgbClr val="730B0B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4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9D9B-AE35-E535-9BA3-43B668A4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CD17B277-9F16-F0BF-EE3E-48C399B9B111}"/>
              </a:ext>
            </a:extLst>
          </p:cNvPr>
          <p:cNvSpPr/>
          <p:nvPr/>
        </p:nvSpPr>
        <p:spPr>
          <a:xfrm>
            <a:off x="8822268" y="3870413"/>
            <a:ext cx="3648402" cy="3648402"/>
          </a:xfrm>
          <a:prstGeom prst="ellipse">
            <a:avLst/>
          </a:prstGeom>
          <a:noFill/>
          <a:ln w="127000">
            <a:solidFill>
              <a:srgbClr val="6E4924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7E5DC3-910C-B29D-56D6-8E49762090E1}"/>
              </a:ext>
            </a:extLst>
          </p:cNvPr>
          <p:cNvSpPr/>
          <p:nvPr/>
        </p:nvSpPr>
        <p:spPr>
          <a:xfrm>
            <a:off x="-417207" y="-395004"/>
            <a:ext cx="1701799" cy="1701799"/>
          </a:xfrm>
          <a:prstGeom prst="ellipse">
            <a:avLst/>
          </a:prstGeom>
          <a:noFill/>
          <a:ln w="127000">
            <a:solidFill>
              <a:srgbClr val="6E4924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51BD4-B8A3-26A6-CF6A-927648D820A0}"/>
              </a:ext>
            </a:extLst>
          </p:cNvPr>
          <p:cNvSpPr/>
          <p:nvPr/>
        </p:nvSpPr>
        <p:spPr>
          <a:xfrm>
            <a:off x="958273" y="108224"/>
            <a:ext cx="5137728" cy="914081"/>
          </a:xfrm>
          <a:prstGeom prst="rect">
            <a:avLst/>
          </a:prstGeom>
          <a:solidFill>
            <a:srgbClr val="6E492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THE 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CC38E3-E95C-2D10-E633-0C9BD30B1330}"/>
              </a:ext>
            </a:extLst>
          </p:cNvPr>
          <p:cNvSpPr/>
          <p:nvPr/>
        </p:nvSpPr>
        <p:spPr>
          <a:xfrm>
            <a:off x="1284592" y="1596508"/>
            <a:ext cx="9349835" cy="4330159"/>
          </a:xfrm>
          <a:prstGeom prst="rect">
            <a:avLst/>
          </a:prstGeom>
          <a:solidFill>
            <a:srgbClr val="6E492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Case Study is a topic decided by the IB that’s different every year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We learn what the case study will be about 12 months before the DP exam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case study consists of a few questions on paper 1 around the topic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We’ll discuss this more in depth towards the end of year 1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DB7C8226-1D7A-ED44-FB00-4A58BD41243B}"/>
              </a:ext>
            </a:extLst>
          </p:cNvPr>
          <p:cNvSpPr/>
          <p:nvPr/>
        </p:nvSpPr>
        <p:spPr>
          <a:xfrm rot="12544476">
            <a:off x="5993089" y="302920"/>
            <a:ext cx="372533" cy="671157"/>
          </a:xfrm>
          <a:prstGeom prst="triangle">
            <a:avLst/>
          </a:prstGeom>
          <a:solidFill>
            <a:srgbClr val="6E492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911835C-8608-59BB-1068-ADA0D7296390}"/>
              </a:ext>
            </a:extLst>
          </p:cNvPr>
          <p:cNvSpPr/>
          <p:nvPr/>
        </p:nvSpPr>
        <p:spPr>
          <a:xfrm rot="15002333">
            <a:off x="6231230" y="675415"/>
            <a:ext cx="206694" cy="372381"/>
          </a:xfrm>
          <a:prstGeom prst="triangle">
            <a:avLst/>
          </a:prstGeom>
          <a:solidFill>
            <a:srgbClr val="6E492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0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B955-42D8-8225-2ACD-C3157CE8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F3CF9F8-A131-1174-8BA2-E9521D04827B}"/>
              </a:ext>
            </a:extLst>
          </p:cNvPr>
          <p:cNvSpPr/>
          <p:nvPr/>
        </p:nvSpPr>
        <p:spPr>
          <a:xfrm>
            <a:off x="7830249" y="4002033"/>
            <a:ext cx="1984038" cy="1984038"/>
          </a:xfrm>
          <a:prstGeom prst="ellipse">
            <a:avLst/>
          </a:prstGeom>
          <a:noFill/>
          <a:ln w="127000">
            <a:solidFill>
              <a:srgbClr val="B18B1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B7A79F-D797-0DF4-BF37-6FBDCEA5AFE6}"/>
              </a:ext>
            </a:extLst>
          </p:cNvPr>
          <p:cNvSpPr/>
          <p:nvPr/>
        </p:nvSpPr>
        <p:spPr>
          <a:xfrm>
            <a:off x="1490135" y="1345650"/>
            <a:ext cx="3648402" cy="3648402"/>
          </a:xfrm>
          <a:prstGeom prst="ellipse">
            <a:avLst/>
          </a:prstGeom>
          <a:noFill/>
          <a:ln w="127000">
            <a:solidFill>
              <a:srgbClr val="B18B1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2FE7B7-EB99-EC53-338B-7AAA69BA6191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rgbClr val="B18B1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4589-980F-9A98-39F7-8774211DB021}"/>
              </a:ext>
            </a:extLst>
          </p:cNvPr>
          <p:cNvSpPr/>
          <p:nvPr/>
        </p:nvSpPr>
        <p:spPr>
          <a:xfrm>
            <a:off x="2878667" y="180547"/>
            <a:ext cx="9059333" cy="914081"/>
          </a:xfrm>
          <a:prstGeom prst="rect">
            <a:avLst/>
          </a:prstGeom>
          <a:solidFill>
            <a:srgbClr val="B18B1F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B1: COMPUTATIONAL THINKING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DCAE55-1BC7-8A3B-0CF7-F5D83EA1214A}"/>
              </a:ext>
            </a:extLst>
          </p:cNvPr>
          <p:cNvSpPr/>
          <p:nvPr/>
        </p:nvSpPr>
        <p:spPr>
          <a:xfrm>
            <a:off x="2491732" y="2749716"/>
            <a:ext cx="7526858" cy="2030646"/>
          </a:xfrm>
          <a:prstGeom prst="rect">
            <a:avLst/>
          </a:prstGeom>
          <a:solidFill>
            <a:srgbClr val="B18B1F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468649" lon="20335300" rev="23605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Approaches to computational thinking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Sometimes things really are just that simple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50C4F5A-D65E-021C-E74D-5F793076E499}"/>
              </a:ext>
            </a:extLst>
          </p:cNvPr>
          <p:cNvSpPr/>
          <p:nvPr/>
        </p:nvSpPr>
        <p:spPr>
          <a:xfrm rot="10441986">
            <a:off x="2692401" y="272896"/>
            <a:ext cx="372533" cy="671157"/>
          </a:xfrm>
          <a:prstGeom prst="triangle">
            <a:avLst/>
          </a:prstGeom>
          <a:solidFill>
            <a:srgbClr val="B18B1F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9B93DDF-C9B7-8A41-37BA-0A0B58DBDC5F}"/>
              </a:ext>
            </a:extLst>
          </p:cNvPr>
          <p:cNvSpPr/>
          <p:nvPr/>
        </p:nvSpPr>
        <p:spPr>
          <a:xfrm rot="8623936">
            <a:off x="2581853" y="608896"/>
            <a:ext cx="206694" cy="372381"/>
          </a:xfrm>
          <a:prstGeom prst="triangle">
            <a:avLst/>
          </a:prstGeom>
          <a:solidFill>
            <a:srgbClr val="B18B1F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3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682D-3F38-233D-5B23-A69653D5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4E4E15BF-CB0C-C8B3-421B-752D2A82FC97}"/>
              </a:ext>
            </a:extLst>
          </p:cNvPr>
          <p:cNvSpPr/>
          <p:nvPr/>
        </p:nvSpPr>
        <p:spPr>
          <a:xfrm>
            <a:off x="8822268" y="3870413"/>
            <a:ext cx="3648402" cy="3648402"/>
          </a:xfrm>
          <a:prstGeom prst="ellipse">
            <a:avLst/>
          </a:prstGeom>
          <a:noFill/>
          <a:ln w="127000">
            <a:solidFill>
              <a:srgbClr val="31682A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5A84C8-D568-F36C-B7D9-647C1564D921}"/>
              </a:ext>
            </a:extLst>
          </p:cNvPr>
          <p:cNvSpPr/>
          <p:nvPr/>
        </p:nvSpPr>
        <p:spPr>
          <a:xfrm>
            <a:off x="-417207" y="-395004"/>
            <a:ext cx="1701799" cy="1701799"/>
          </a:xfrm>
          <a:prstGeom prst="ellipse">
            <a:avLst/>
          </a:prstGeom>
          <a:noFill/>
          <a:ln w="127000">
            <a:solidFill>
              <a:srgbClr val="31682A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826565-76A3-9B0E-7D27-3DF2428A9E7A}"/>
              </a:ext>
            </a:extLst>
          </p:cNvPr>
          <p:cNvSpPr/>
          <p:nvPr/>
        </p:nvSpPr>
        <p:spPr>
          <a:xfrm>
            <a:off x="958273" y="108224"/>
            <a:ext cx="6111394" cy="914081"/>
          </a:xfrm>
          <a:prstGeom prst="rect">
            <a:avLst/>
          </a:prstGeom>
          <a:solidFill>
            <a:srgbClr val="31682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B2: PROGRAMMING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2A82F1-6AF5-6A3E-886A-5EF616A49A92}"/>
              </a:ext>
            </a:extLst>
          </p:cNvPr>
          <p:cNvSpPr/>
          <p:nvPr/>
        </p:nvSpPr>
        <p:spPr>
          <a:xfrm>
            <a:off x="2605393" y="2350646"/>
            <a:ext cx="6150582" cy="3039534"/>
          </a:xfrm>
          <a:prstGeom prst="rect">
            <a:avLst/>
          </a:prstGeom>
          <a:solidFill>
            <a:srgbClr val="31682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Programming Fundamentals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Programming Constructs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Programming Algorithms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File Processing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B21473F-7A90-ECD8-D33B-3DC62E642BEE}"/>
              </a:ext>
            </a:extLst>
          </p:cNvPr>
          <p:cNvSpPr/>
          <p:nvPr/>
        </p:nvSpPr>
        <p:spPr>
          <a:xfrm rot="12544476">
            <a:off x="6883400" y="302919"/>
            <a:ext cx="372533" cy="671157"/>
          </a:xfrm>
          <a:prstGeom prst="triangle">
            <a:avLst/>
          </a:prstGeom>
          <a:solidFill>
            <a:srgbClr val="31682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4BFD77A-7764-12EB-9807-B9F6F70AA324}"/>
              </a:ext>
            </a:extLst>
          </p:cNvPr>
          <p:cNvSpPr/>
          <p:nvPr/>
        </p:nvSpPr>
        <p:spPr>
          <a:xfrm rot="15002333">
            <a:off x="7121541" y="675414"/>
            <a:ext cx="206694" cy="372381"/>
          </a:xfrm>
          <a:prstGeom prst="triangle">
            <a:avLst/>
          </a:prstGeom>
          <a:solidFill>
            <a:srgbClr val="31682A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2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3B14-B429-7463-BBEC-1C3897B8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5CF58AD-2E0E-F0C4-8BA7-FCF0E9DE12F4}"/>
              </a:ext>
            </a:extLst>
          </p:cNvPr>
          <p:cNvSpPr/>
          <p:nvPr/>
        </p:nvSpPr>
        <p:spPr>
          <a:xfrm>
            <a:off x="7830249" y="4002033"/>
            <a:ext cx="1984038" cy="1984038"/>
          </a:xfrm>
          <a:prstGeom prst="ellipse">
            <a:avLst/>
          </a:prstGeom>
          <a:noFill/>
          <a:ln w="127000">
            <a:solidFill>
              <a:srgbClr val="AE5E2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A83F39-7314-075D-712B-3701AB043170}"/>
              </a:ext>
            </a:extLst>
          </p:cNvPr>
          <p:cNvSpPr/>
          <p:nvPr/>
        </p:nvSpPr>
        <p:spPr>
          <a:xfrm>
            <a:off x="1490135" y="1345650"/>
            <a:ext cx="3648402" cy="3648402"/>
          </a:xfrm>
          <a:prstGeom prst="ellipse">
            <a:avLst/>
          </a:prstGeom>
          <a:noFill/>
          <a:ln w="127000">
            <a:solidFill>
              <a:srgbClr val="AE5E2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0EE686-FD9E-B581-6277-24598F38EC46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rgbClr val="AE5E2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43177-ADF4-C9DF-2AEA-859A59E013A3}"/>
              </a:ext>
            </a:extLst>
          </p:cNvPr>
          <p:cNvSpPr/>
          <p:nvPr/>
        </p:nvSpPr>
        <p:spPr>
          <a:xfrm>
            <a:off x="166793" y="180547"/>
            <a:ext cx="11771208" cy="914081"/>
          </a:xfrm>
          <a:prstGeom prst="rect">
            <a:avLst/>
          </a:prstGeom>
          <a:solidFill>
            <a:srgbClr val="AE5E2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B3: OBJECT ORIENTED PROGRAMMING (OOP)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C68A18-5848-7EF4-53A7-FA0B8878D3EC}"/>
              </a:ext>
            </a:extLst>
          </p:cNvPr>
          <p:cNvSpPr/>
          <p:nvPr/>
        </p:nvSpPr>
        <p:spPr>
          <a:xfrm>
            <a:off x="2377713" y="2572581"/>
            <a:ext cx="7526858" cy="2384916"/>
          </a:xfrm>
          <a:prstGeom prst="rect">
            <a:avLst/>
          </a:prstGeom>
          <a:solidFill>
            <a:srgbClr val="AE5E2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468649" lon="20335300" rev="23605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Fundamentals of OOP for a single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Fundamentals of OOP for multiple classes </a:t>
            </a:r>
            <a:r>
              <a:rPr lang="en-US" sz="3200" b="1" u="sng" dirty="0"/>
              <a:t>(HL ONLY)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FC081A9-82D0-3A92-F81A-D1D75F0A4D69}"/>
              </a:ext>
            </a:extLst>
          </p:cNvPr>
          <p:cNvSpPr/>
          <p:nvPr/>
        </p:nvSpPr>
        <p:spPr>
          <a:xfrm rot="10441986">
            <a:off x="147320" y="198091"/>
            <a:ext cx="372533" cy="671157"/>
          </a:xfrm>
          <a:prstGeom prst="triangle">
            <a:avLst/>
          </a:prstGeom>
          <a:solidFill>
            <a:srgbClr val="AE5E2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26B931A-DE02-3287-3917-3C816444EFBB}"/>
              </a:ext>
            </a:extLst>
          </p:cNvPr>
          <p:cNvSpPr/>
          <p:nvPr/>
        </p:nvSpPr>
        <p:spPr>
          <a:xfrm rot="8623936">
            <a:off x="63446" y="540269"/>
            <a:ext cx="206694" cy="372381"/>
          </a:xfrm>
          <a:prstGeom prst="triangle">
            <a:avLst/>
          </a:prstGeom>
          <a:solidFill>
            <a:srgbClr val="AE5E2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0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1DFC6-BBCC-FF82-6995-C6870240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B056F1D-3E45-427E-BBBA-E123FEB80BCC}"/>
              </a:ext>
            </a:extLst>
          </p:cNvPr>
          <p:cNvSpPr/>
          <p:nvPr/>
        </p:nvSpPr>
        <p:spPr>
          <a:xfrm>
            <a:off x="8822268" y="3870413"/>
            <a:ext cx="3648402" cy="3648402"/>
          </a:xfrm>
          <a:prstGeom prst="ellipse">
            <a:avLst/>
          </a:prstGeom>
          <a:noFill/>
          <a:ln w="127000">
            <a:solidFill>
              <a:srgbClr val="861064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644ADD-63E2-A1CE-C0E4-8023C203EA24}"/>
              </a:ext>
            </a:extLst>
          </p:cNvPr>
          <p:cNvSpPr/>
          <p:nvPr/>
        </p:nvSpPr>
        <p:spPr>
          <a:xfrm>
            <a:off x="-417207" y="-395004"/>
            <a:ext cx="1701799" cy="1701799"/>
          </a:xfrm>
          <a:prstGeom prst="ellipse">
            <a:avLst/>
          </a:prstGeom>
          <a:noFill/>
          <a:ln w="127000">
            <a:solidFill>
              <a:srgbClr val="861064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669C74-56F7-515A-E576-CF21C654F1EB}"/>
              </a:ext>
            </a:extLst>
          </p:cNvPr>
          <p:cNvSpPr/>
          <p:nvPr/>
        </p:nvSpPr>
        <p:spPr>
          <a:xfrm>
            <a:off x="958273" y="108224"/>
            <a:ext cx="7990994" cy="914081"/>
          </a:xfrm>
          <a:prstGeom prst="rect">
            <a:avLst/>
          </a:prstGeom>
          <a:solidFill>
            <a:srgbClr val="86106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TOPIC B4: ABSTRACT DATA 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7DF3BF-1464-DB1A-FBF9-F21062920F34}"/>
              </a:ext>
            </a:extLst>
          </p:cNvPr>
          <p:cNvSpPr/>
          <p:nvPr/>
        </p:nvSpPr>
        <p:spPr>
          <a:xfrm>
            <a:off x="2798685" y="2028912"/>
            <a:ext cx="6150582" cy="3039534"/>
          </a:xfrm>
          <a:prstGeom prst="rect">
            <a:avLst/>
          </a:prstGeom>
          <a:solidFill>
            <a:srgbClr val="86106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Fundamentals of ADTs </a:t>
            </a:r>
            <a:r>
              <a:rPr lang="en-US" sz="3200" b="1" i="1" dirty="0"/>
              <a:t>(HL ONLY)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E8BAAD3-A966-6F73-D0A2-AE1B5C3709E0}"/>
              </a:ext>
            </a:extLst>
          </p:cNvPr>
          <p:cNvSpPr/>
          <p:nvPr/>
        </p:nvSpPr>
        <p:spPr>
          <a:xfrm rot="12544476">
            <a:off x="8636001" y="302919"/>
            <a:ext cx="372533" cy="671157"/>
          </a:xfrm>
          <a:prstGeom prst="triangle">
            <a:avLst/>
          </a:prstGeom>
          <a:solidFill>
            <a:srgbClr val="86106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DF7E1DC-0874-76FA-9A89-091D5A163801}"/>
              </a:ext>
            </a:extLst>
          </p:cNvPr>
          <p:cNvSpPr/>
          <p:nvPr/>
        </p:nvSpPr>
        <p:spPr>
          <a:xfrm rot="15002333">
            <a:off x="8874142" y="675414"/>
            <a:ext cx="206694" cy="372381"/>
          </a:xfrm>
          <a:prstGeom prst="triangle">
            <a:avLst/>
          </a:prstGeom>
          <a:solidFill>
            <a:srgbClr val="861064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5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6258-33F4-0F39-F5C5-3958790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07402B3-D8FA-A0FD-8D55-26FEDCCFD75D}"/>
              </a:ext>
            </a:extLst>
          </p:cNvPr>
          <p:cNvSpPr/>
          <p:nvPr/>
        </p:nvSpPr>
        <p:spPr>
          <a:xfrm>
            <a:off x="8822268" y="39042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5D5F5C-315A-04E2-499B-10A620B97C2C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10B13-6DBD-26D5-F844-33B51ED65230}"/>
              </a:ext>
            </a:extLst>
          </p:cNvPr>
          <p:cNvSpPr/>
          <p:nvPr/>
        </p:nvSpPr>
        <p:spPr>
          <a:xfrm>
            <a:off x="1021285" y="124709"/>
            <a:ext cx="5989115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TYPES OF TASKS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C17803-BF02-AA5D-651E-3335A6BC4A47}"/>
              </a:ext>
            </a:extLst>
          </p:cNvPr>
          <p:cNvSpPr/>
          <p:nvPr/>
        </p:nvSpPr>
        <p:spPr>
          <a:xfrm>
            <a:off x="563861" y="1642534"/>
            <a:ext cx="11064278" cy="16580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There are six types of ‘tasks’ in here, which is to say six different categories grades will go into.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4E2B68-0A47-547E-94B5-EDE20749CD39}"/>
              </a:ext>
            </a:extLst>
          </p:cNvPr>
          <p:cNvSpPr/>
          <p:nvPr/>
        </p:nvSpPr>
        <p:spPr>
          <a:xfrm>
            <a:off x="563861" y="4251414"/>
            <a:ext cx="11064278" cy="16580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51797" lon="21259369" rev="12437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No category has a majority of the weight, giving you a chance to spread your grades out a bit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3D641EE-D37C-5854-B2D9-DB423FC53359}"/>
              </a:ext>
            </a:extLst>
          </p:cNvPr>
          <p:cNvSpPr/>
          <p:nvPr/>
        </p:nvSpPr>
        <p:spPr>
          <a:xfrm rot="12544476">
            <a:off x="6824133" y="305961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D78FEF9-EE0C-1CC5-6433-A9BF44A3C69D}"/>
              </a:ext>
            </a:extLst>
          </p:cNvPr>
          <p:cNvSpPr/>
          <p:nvPr/>
        </p:nvSpPr>
        <p:spPr>
          <a:xfrm rot="15002333">
            <a:off x="7117338" y="616050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A3DA-C19B-528F-ADC2-87732CA2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AEDE7F5A-1D27-59F1-17E7-39F6B0CF6E04}"/>
              </a:ext>
            </a:extLst>
          </p:cNvPr>
          <p:cNvSpPr/>
          <p:nvPr/>
        </p:nvSpPr>
        <p:spPr>
          <a:xfrm>
            <a:off x="1770710" y="-124582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E71E04-D67A-DC78-872B-1A2FFCAC1FD6}"/>
              </a:ext>
            </a:extLst>
          </p:cNvPr>
          <p:cNvSpPr/>
          <p:nvPr/>
        </p:nvSpPr>
        <p:spPr>
          <a:xfrm>
            <a:off x="5046558" y="4533582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21FE6-FB96-A791-F8A7-9C51E55CF849}"/>
              </a:ext>
            </a:extLst>
          </p:cNvPr>
          <p:cNvSpPr/>
          <p:nvPr/>
        </p:nvSpPr>
        <p:spPr>
          <a:xfrm>
            <a:off x="817973" y="446443"/>
            <a:ext cx="4634560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WORKSHEETS (WS)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7B74D7-EA5C-D998-BE05-02B4A7F398C6}"/>
              </a:ext>
            </a:extLst>
          </p:cNvPr>
          <p:cNvSpPr/>
          <p:nvPr/>
        </p:nvSpPr>
        <p:spPr>
          <a:xfrm>
            <a:off x="143934" y="1473518"/>
            <a:ext cx="5308599" cy="35221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Non-programming assignments, typically questions similar to an IB exam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448A6-A378-AF7B-52FD-50A277F2A732}"/>
              </a:ext>
            </a:extLst>
          </p:cNvPr>
          <p:cNvSpPr/>
          <p:nvPr/>
        </p:nvSpPr>
        <p:spPr>
          <a:xfrm>
            <a:off x="6380462" y="2396066"/>
            <a:ext cx="5566005" cy="400473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856033" lon="21239322" rev="17295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Python (unless otherwise specified) assignments where you develop a program and document your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A23858-6021-AD4B-DDEE-771A9201852A}"/>
              </a:ext>
            </a:extLst>
          </p:cNvPr>
          <p:cNvSpPr/>
          <p:nvPr/>
        </p:nvSpPr>
        <p:spPr>
          <a:xfrm>
            <a:off x="7247468" y="127000"/>
            <a:ext cx="4126560" cy="214760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251807" lon="1001829" rev="2116342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PROGRAMMING ASSIGNMENTS (PA)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23B607B-F075-CF10-65F7-32B7A7FE8E0B}"/>
              </a:ext>
            </a:extLst>
          </p:cNvPr>
          <p:cNvSpPr/>
          <p:nvPr/>
        </p:nvSpPr>
        <p:spPr>
          <a:xfrm rot="9159159">
            <a:off x="320800" y="697802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06B740A-0905-DECA-8ABB-6DF3CB5A28FC}"/>
              </a:ext>
            </a:extLst>
          </p:cNvPr>
          <p:cNvSpPr/>
          <p:nvPr/>
        </p:nvSpPr>
        <p:spPr>
          <a:xfrm rot="10223962">
            <a:off x="7061202" y="1275870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6F9191-E46E-1045-E9A2-69F33497E337}"/>
              </a:ext>
            </a:extLst>
          </p:cNvPr>
          <p:cNvSpPr/>
          <p:nvPr/>
        </p:nvSpPr>
        <p:spPr>
          <a:xfrm rot="21065937">
            <a:off x="2150550" y="4067445"/>
            <a:ext cx="1969405" cy="196940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WEIGHT: 15%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CEBA44-8732-82F0-3F1E-C7B593F76FA9}"/>
              </a:ext>
            </a:extLst>
          </p:cNvPr>
          <p:cNvSpPr/>
          <p:nvPr/>
        </p:nvSpPr>
        <p:spPr>
          <a:xfrm rot="21065937">
            <a:off x="5545356" y="840963"/>
            <a:ext cx="2924976" cy="1969405"/>
          </a:xfrm>
          <a:prstGeom prst="triangle">
            <a:avLst>
              <a:gd name="adj" fmla="val 2124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WEIGHT: 20%</a:t>
            </a:r>
          </a:p>
        </p:txBody>
      </p:sp>
    </p:spTree>
    <p:extLst>
      <p:ext uri="{BB962C8B-B14F-4D97-AF65-F5344CB8AC3E}">
        <p14:creationId xmlns:p14="http://schemas.microsoft.com/office/powerpoint/2010/main" val="136800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81A48-15A0-984A-E1CC-BD7AD25D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54FCCF8-EC95-3259-AF0B-A82D0E5726E3}"/>
              </a:ext>
            </a:extLst>
          </p:cNvPr>
          <p:cNvSpPr/>
          <p:nvPr/>
        </p:nvSpPr>
        <p:spPr>
          <a:xfrm>
            <a:off x="10186302" y="1184531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F6FA56-EB0F-92EF-1860-5B3A8B512973}"/>
              </a:ext>
            </a:extLst>
          </p:cNvPr>
          <p:cNvSpPr/>
          <p:nvPr/>
        </p:nvSpPr>
        <p:spPr>
          <a:xfrm>
            <a:off x="291087" y="867515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F9C6A-6E0F-4DA5-3AF3-4836437EA156}"/>
              </a:ext>
            </a:extLst>
          </p:cNvPr>
          <p:cNvSpPr/>
          <p:nvPr/>
        </p:nvSpPr>
        <p:spPr>
          <a:xfrm>
            <a:off x="7253541" y="1799192"/>
            <a:ext cx="4634560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QUIZZES (Q)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AC3F18-08FC-0350-DD12-DF3BBC478FE1}"/>
              </a:ext>
            </a:extLst>
          </p:cNvPr>
          <p:cNvSpPr/>
          <p:nvPr/>
        </p:nvSpPr>
        <p:spPr>
          <a:xfrm>
            <a:off x="6579502" y="2834734"/>
            <a:ext cx="5308599" cy="282400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Small, in class, IB-styled question sets. Generally, should not take the whole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D1299-FFFB-D134-D911-40A6C8DA82F3}"/>
              </a:ext>
            </a:extLst>
          </p:cNvPr>
          <p:cNvSpPr/>
          <p:nvPr/>
        </p:nvSpPr>
        <p:spPr>
          <a:xfrm>
            <a:off x="331452" y="2082629"/>
            <a:ext cx="5566005" cy="282400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856033" lon="21239322" rev="17295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Smaller in-class work, like labs, discussions, and other activities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CFBC06-559C-6F08-E227-F13CAAAB66D7}"/>
              </a:ext>
            </a:extLst>
          </p:cNvPr>
          <p:cNvSpPr/>
          <p:nvPr/>
        </p:nvSpPr>
        <p:spPr>
          <a:xfrm>
            <a:off x="1170905" y="185949"/>
            <a:ext cx="4126560" cy="214760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251807" lon="1001829" rev="2116342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IN-CLASS ASSIGNMENT (ICA)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896C5AF-04D2-CE21-090D-AC072167FE07}"/>
              </a:ext>
            </a:extLst>
          </p:cNvPr>
          <p:cNvSpPr/>
          <p:nvPr/>
        </p:nvSpPr>
        <p:spPr>
          <a:xfrm rot="9159159">
            <a:off x="816417" y="1291423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0632C15-A743-739B-BD04-E6D2B61E2689}"/>
              </a:ext>
            </a:extLst>
          </p:cNvPr>
          <p:cNvSpPr/>
          <p:nvPr/>
        </p:nvSpPr>
        <p:spPr>
          <a:xfrm rot="9338383">
            <a:off x="6701336" y="2064228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91F25-2F32-A64A-659D-A00D33584E18}"/>
              </a:ext>
            </a:extLst>
          </p:cNvPr>
          <p:cNvSpPr/>
          <p:nvPr/>
        </p:nvSpPr>
        <p:spPr>
          <a:xfrm rot="670176">
            <a:off x="2708059" y="3980249"/>
            <a:ext cx="1969405" cy="19694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WEIGHT: 15%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11011B09-34BD-3542-3EB7-17D6C96C8323}"/>
              </a:ext>
            </a:extLst>
          </p:cNvPr>
          <p:cNvSpPr/>
          <p:nvPr/>
        </p:nvSpPr>
        <p:spPr>
          <a:xfrm rot="21095458">
            <a:off x="9296586" y="4743957"/>
            <a:ext cx="2241752" cy="1969405"/>
          </a:xfrm>
          <a:prstGeom prst="pentagon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WEIGHT: 10%</a:t>
            </a:r>
          </a:p>
        </p:txBody>
      </p:sp>
    </p:spTree>
    <p:extLst>
      <p:ext uri="{BB962C8B-B14F-4D97-AF65-F5344CB8AC3E}">
        <p14:creationId xmlns:p14="http://schemas.microsoft.com/office/powerpoint/2010/main" val="6538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A489-89C8-3264-544C-5DE6CDB4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C52040D8-0672-25C4-1A24-BF93DF4A19D4}"/>
              </a:ext>
            </a:extLst>
          </p:cNvPr>
          <p:cNvSpPr/>
          <p:nvPr/>
        </p:nvSpPr>
        <p:spPr>
          <a:xfrm>
            <a:off x="1770710" y="-124582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08D7CD-0934-6903-60EA-0F1B909A1AE3}"/>
              </a:ext>
            </a:extLst>
          </p:cNvPr>
          <p:cNvSpPr/>
          <p:nvPr/>
        </p:nvSpPr>
        <p:spPr>
          <a:xfrm>
            <a:off x="5046558" y="4533582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3E723-0153-E733-EA59-1B7A218FDABA}"/>
              </a:ext>
            </a:extLst>
          </p:cNvPr>
          <p:cNvSpPr/>
          <p:nvPr/>
        </p:nvSpPr>
        <p:spPr>
          <a:xfrm>
            <a:off x="817973" y="446443"/>
            <a:ext cx="4634560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PROJECTS (PJ)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D352AD-5E6A-2601-4F2D-F64E4BFD10BA}"/>
              </a:ext>
            </a:extLst>
          </p:cNvPr>
          <p:cNvSpPr/>
          <p:nvPr/>
        </p:nvSpPr>
        <p:spPr>
          <a:xfrm>
            <a:off x="143934" y="1473519"/>
            <a:ext cx="5308599" cy="20810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Less common, larger assignments, may be programming or otherwise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A2A8E-0E00-7EDA-7A55-C49981FB4DD3}"/>
              </a:ext>
            </a:extLst>
          </p:cNvPr>
          <p:cNvSpPr/>
          <p:nvPr/>
        </p:nvSpPr>
        <p:spPr>
          <a:xfrm>
            <a:off x="6380462" y="2396066"/>
            <a:ext cx="5566005" cy="292100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856033" lon="21239322" rev="17295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IB Style exams at the end of each unit. Should take entire class period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1D39E6-1887-2E6A-C0F1-50A446A4BB6D}"/>
              </a:ext>
            </a:extLst>
          </p:cNvPr>
          <p:cNvSpPr/>
          <p:nvPr/>
        </p:nvSpPr>
        <p:spPr>
          <a:xfrm>
            <a:off x="7307234" y="1154407"/>
            <a:ext cx="3361265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251807" lon="1001829" rev="2116342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EXAMS (E)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CD79290-7ECA-9F03-D775-91F8EBDA8607}"/>
              </a:ext>
            </a:extLst>
          </p:cNvPr>
          <p:cNvSpPr/>
          <p:nvPr/>
        </p:nvSpPr>
        <p:spPr>
          <a:xfrm rot="9159159">
            <a:off x="320800" y="697802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34F8666-CD25-BFA7-B9D2-4FD3F00C06BF}"/>
              </a:ext>
            </a:extLst>
          </p:cNvPr>
          <p:cNvSpPr/>
          <p:nvPr/>
        </p:nvSpPr>
        <p:spPr>
          <a:xfrm rot="10223962">
            <a:off x="7061202" y="1275870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86B4789F-8940-6E88-D0E5-D9FBFEF46275}"/>
              </a:ext>
            </a:extLst>
          </p:cNvPr>
          <p:cNvSpPr/>
          <p:nvPr/>
        </p:nvSpPr>
        <p:spPr>
          <a:xfrm rot="21029793">
            <a:off x="752629" y="3437121"/>
            <a:ext cx="2292377" cy="1969405"/>
          </a:xfrm>
          <a:prstGeom prst="hexagon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WEIGHT: 20%</a:t>
            </a:r>
          </a:p>
        </p:txBody>
      </p:sp>
      <p:sp>
        <p:nvSpPr>
          <p:cNvPr id="11" name="Star: 12 Points 10">
            <a:extLst>
              <a:ext uri="{FF2B5EF4-FFF2-40B4-BE49-F238E27FC236}">
                <a16:creationId xmlns:a16="http://schemas.microsoft.com/office/drawing/2014/main" id="{3C67FA8B-658E-FB2E-DE77-2DDE890C580A}"/>
              </a:ext>
            </a:extLst>
          </p:cNvPr>
          <p:cNvSpPr/>
          <p:nvPr/>
        </p:nvSpPr>
        <p:spPr>
          <a:xfrm rot="427499">
            <a:off x="7801467" y="4605625"/>
            <a:ext cx="2422532" cy="1969405"/>
          </a:xfrm>
          <a:prstGeom prst="star12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WEIGHT: 20%</a:t>
            </a:r>
          </a:p>
        </p:txBody>
      </p:sp>
    </p:spTree>
    <p:extLst>
      <p:ext uri="{BB962C8B-B14F-4D97-AF65-F5344CB8AC3E}">
        <p14:creationId xmlns:p14="http://schemas.microsoft.com/office/powerpoint/2010/main" val="175207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5757C-AE38-E947-FAA2-5ACF89C4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71E93656-7E1C-3500-2889-C1D6BD0D51B7}"/>
              </a:ext>
            </a:extLst>
          </p:cNvPr>
          <p:cNvSpPr/>
          <p:nvPr/>
        </p:nvSpPr>
        <p:spPr>
          <a:xfrm>
            <a:off x="8822268" y="39042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C4004D-E45C-DEB7-9D36-5F0DC55996B5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83A32-CB31-B315-79C2-FBCE89791218}"/>
              </a:ext>
            </a:extLst>
          </p:cNvPr>
          <p:cNvSpPr/>
          <p:nvPr/>
        </p:nvSpPr>
        <p:spPr>
          <a:xfrm>
            <a:off x="1021286" y="124709"/>
            <a:ext cx="4244982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GRADE SCALE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621F81-297F-7E11-9D4D-37DC747CBFAA}"/>
              </a:ext>
            </a:extLst>
          </p:cNvPr>
          <p:cNvSpPr/>
          <p:nvPr/>
        </p:nvSpPr>
        <p:spPr>
          <a:xfrm>
            <a:off x="563861" y="1642534"/>
            <a:ext cx="11064278" cy="43857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7: &gt;= 85.0%</a:t>
            </a:r>
          </a:p>
          <a:p>
            <a:pPr algn="ctr"/>
            <a:r>
              <a:rPr lang="en-US" sz="3200" dirty="0"/>
              <a:t>6: &gt;= 75.0%</a:t>
            </a:r>
          </a:p>
          <a:p>
            <a:pPr algn="ctr"/>
            <a:r>
              <a:rPr lang="en-US" sz="3200" dirty="0"/>
              <a:t>5: &gt;= 65.0%</a:t>
            </a:r>
          </a:p>
          <a:p>
            <a:pPr algn="ctr"/>
            <a:r>
              <a:rPr lang="en-US" sz="3200" dirty="0"/>
              <a:t>4: &gt;= 55.0%</a:t>
            </a:r>
          </a:p>
          <a:p>
            <a:pPr algn="ctr"/>
            <a:r>
              <a:rPr lang="en-US" sz="3200" dirty="0"/>
              <a:t>3: &gt;=40.0% </a:t>
            </a:r>
          </a:p>
          <a:p>
            <a:pPr algn="ctr"/>
            <a:r>
              <a:rPr lang="en-US" sz="3200" dirty="0"/>
              <a:t>2: &gt;= 20.0%</a:t>
            </a:r>
          </a:p>
          <a:p>
            <a:pPr algn="ctr"/>
            <a:r>
              <a:rPr lang="en-US" sz="3200" dirty="0"/>
              <a:t>1: &gt;0%</a:t>
            </a:r>
          </a:p>
          <a:p>
            <a:pPr algn="ctr"/>
            <a:r>
              <a:rPr lang="en-US" sz="3200" dirty="0"/>
              <a:t>0: No Submission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11B111B-C44A-5638-DCA7-BC789542BE14}"/>
              </a:ext>
            </a:extLst>
          </p:cNvPr>
          <p:cNvSpPr/>
          <p:nvPr/>
        </p:nvSpPr>
        <p:spPr>
          <a:xfrm rot="12544476">
            <a:off x="5164666" y="305960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82F0C7F-2670-0C9F-35AA-A0863958C930}"/>
              </a:ext>
            </a:extLst>
          </p:cNvPr>
          <p:cNvSpPr/>
          <p:nvPr/>
        </p:nvSpPr>
        <p:spPr>
          <a:xfrm rot="15002333">
            <a:off x="5457871" y="659503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4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E2FB-99B7-674B-1BE0-DEF45E12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C5A8D00-3E2D-3B6F-149E-B9F423537301}"/>
              </a:ext>
            </a:extLst>
          </p:cNvPr>
          <p:cNvSpPr/>
          <p:nvPr/>
        </p:nvSpPr>
        <p:spPr>
          <a:xfrm>
            <a:off x="10573449" y="5564904"/>
            <a:ext cx="1984038" cy="1984038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F47B99-6E5F-08F0-0D7D-3086FDCB81E2}"/>
              </a:ext>
            </a:extLst>
          </p:cNvPr>
          <p:cNvSpPr/>
          <p:nvPr/>
        </p:nvSpPr>
        <p:spPr>
          <a:xfrm>
            <a:off x="-1141560" y="-1643654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3BA660-81F1-89A5-F19D-838134EEF013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2C83A0-6609-D883-665D-464B7AB90E26}"/>
              </a:ext>
            </a:extLst>
          </p:cNvPr>
          <p:cNvSpPr/>
          <p:nvPr/>
        </p:nvSpPr>
        <p:spPr>
          <a:xfrm>
            <a:off x="4784355" y="180547"/>
            <a:ext cx="6586378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GENERATIVE AI USE POLICY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C09968-82A0-7322-9109-DA404F6E7C79}"/>
              </a:ext>
            </a:extLst>
          </p:cNvPr>
          <p:cNvSpPr/>
          <p:nvPr/>
        </p:nvSpPr>
        <p:spPr>
          <a:xfrm>
            <a:off x="1072798" y="1331622"/>
            <a:ext cx="11026068" cy="52274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1423044" lon="20883893" rev="31209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Generative AI is not allowed to be used for the following outright: </a:t>
            </a:r>
            <a:r>
              <a:rPr lang="en-US" sz="2800" dirty="0"/>
              <a:t>Generation of programs/write-ups for submission to me or the IB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AI is allowed to be used in the following contexts:</a:t>
            </a:r>
          </a:p>
          <a:p>
            <a:pPr algn="ctr"/>
            <a:r>
              <a:rPr lang="en-US" sz="2800" dirty="0"/>
              <a:t>Brainstorming, Debugging, Research/Learning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AI is a new tool just like Google was, and it’s not going away. I don’t want you to ignore it, but I need to ensure your own ability to learn in this class and achieve in the DP exams. Plagiarism is plagiarism even if a person didn’t write the program. The only person you’re cheating out of something is yourself </a:t>
            </a:r>
            <a:r>
              <a:rPr lang="en-US" sz="2800" dirty="0">
                <a:sym typeface="Wingdings" panose="05000000000000000000" pitchFamily="2" charset="2"/>
              </a:rPr>
              <a:t></a:t>
            </a:r>
            <a:endParaRPr lang="en-US" sz="28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5590ABF-3326-A21E-E565-7CAD6FB4FD6F}"/>
              </a:ext>
            </a:extLst>
          </p:cNvPr>
          <p:cNvSpPr/>
          <p:nvPr/>
        </p:nvSpPr>
        <p:spPr>
          <a:xfrm rot="10441986">
            <a:off x="4448315" y="316443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1C6A667-8F71-B90E-90DB-90C22F296BC1}"/>
              </a:ext>
            </a:extLst>
          </p:cNvPr>
          <p:cNvSpPr/>
          <p:nvPr/>
        </p:nvSpPr>
        <p:spPr>
          <a:xfrm rot="8623936">
            <a:off x="4337767" y="652443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7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214C-856F-CCD3-B7A7-97A14C5F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E6E578A-9C47-6C48-4432-8416A53F3BA5}"/>
              </a:ext>
            </a:extLst>
          </p:cNvPr>
          <p:cNvSpPr/>
          <p:nvPr/>
        </p:nvSpPr>
        <p:spPr>
          <a:xfrm>
            <a:off x="8822268" y="39042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8D5B11-1278-01E2-3609-C8F5F96D7706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AB93A-39B2-D52D-A497-059B5E276FA2}"/>
              </a:ext>
            </a:extLst>
          </p:cNvPr>
          <p:cNvSpPr/>
          <p:nvPr/>
        </p:nvSpPr>
        <p:spPr>
          <a:xfrm>
            <a:off x="1021285" y="124709"/>
            <a:ext cx="6412448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GENERATIVE AI USE POLICY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58745-5972-74A4-8310-AF68E56C22EC}"/>
              </a:ext>
            </a:extLst>
          </p:cNvPr>
          <p:cNvSpPr/>
          <p:nvPr/>
        </p:nvSpPr>
        <p:spPr>
          <a:xfrm>
            <a:off x="563861" y="1642534"/>
            <a:ext cx="11064278" cy="43857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If you use AI for any of the pre-approved purposes, you must cite the AI as a source, as you would any other, and explain exactly what you got from it. 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Failure to do so will result in point deductions on work.</a:t>
            </a:r>
          </a:p>
          <a:p>
            <a:pPr algn="ctr"/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If an assignment is majority AI generated or otherwise plagiarized, you will receive a zero for that assignment.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2B16662-B75C-D450-AB29-22968C486AB5}"/>
              </a:ext>
            </a:extLst>
          </p:cNvPr>
          <p:cNvSpPr/>
          <p:nvPr/>
        </p:nvSpPr>
        <p:spPr>
          <a:xfrm rot="12544476">
            <a:off x="7247466" y="319404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5C294C8-D56A-7296-5EFC-B6E57042E8E0}"/>
              </a:ext>
            </a:extLst>
          </p:cNvPr>
          <p:cNvSpPr/>
          <p:nvPr/>
        </p:nvSpPr>
        <p:spPr>
          <a:xfrm rot="15002333">
            <a:off x="7540671" y="659503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2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C8CF2-07BF-E14A-EF53-8EFF6329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C72D245-680C-E215-BCCB-D6353E9CABB4}"/>
              </a:ext>
            </a:extLst>
          </p:cNvPr>
          <p:cNvSpPr/>
          <p:nvPr/>
        </p:nvSpPr>
        <p:spPr>
          <a:xfrm>
            <a:off x="10878249" y="2675465"/>
            <a:ext cx="1984038" cy="1984038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4C9DAA-C3A3-1E7E-BA09-5797F7734736}"/>
              </a:ext>
            </a:extLst>
          </p:cNvPr>
          <p:cNvSpPr/>
          <p:nvPr/>
        </p:nvSpPr>
        <p:spPr>
          <a:xfrm>
            <a:off x="3138186" y="1781476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50BFF4-DEFD-6E7F-9083-B4BB7B0A3AEF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E077C-10CB-051C-402E-F847D39EE1BD}"/>
              </a:ext>
            </a:extLst>
          </p:cNvPr>
          <p:cNvSpPr/>
          <p:nvPr/>
        </p:nvSpPr>
        <p:spPr>
          <a:xfrm>
            <a:off x="6095999" y="180547"/>
            <a:ext cx="5274733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LATE WORK POLICY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AA532B-BC88-3CB8-97EA-08218CD8FCA6}"/>
              </a:ext>
            </a:extLst>
          </p:cNvPr>
          <p:cNvSpPr/>
          <p:nvPr/>
        </p:nvSpPr>
        <p:spPr>
          <a:xfrm>
            <a:off x="1470732" y="1627955"/>
            <a:ext cx="3897135" cy="10475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1423044" lon="20883893" rev="31209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Work is due when it’s due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DBA4C5BB-B98A-1086-4EC9-BA66C98BA3F8}"/>
              </a:ext>
            </a:extLst>
          </p:cNvPr>
          <p:cNvSpPr/>
          <p:nvPr/>
        </p:nvSpPr>
        <p:spPr>
          <a:xfrm rot="10441986">
            <a:off x="5689590" y="316442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79A03A6-6F05-1388-48E4-E98982BD5017}"/>
              </a:ext>
            </a:extLst>
          </p:cNvPr>
          <p:cNvSpPr/>
          <p:nvPr/>
        </p:nvSpPr>
        <p:spPr>
          <a:xfrm rot="8623936">
            <a:off x="5579042" y="652442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ead Exploding Meme GIF | GIFDB.com">
            <a:extLst>
              <a:ext uri="{FF2B5EF4-FFF2-40B4-BE49-F238E27FC236}">
                <a16:creationId xmlns:a16="http://schemas.microsoft.com/office/drawing/2014/main" id="{C6C0FC17-E9A1-2FC9-F4AC-6126868FF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334" y="1528813"/>
            <a:ext cx="3814531" cy="229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820BE6-DB3C-0C15-FD8E-6BC87265BA9D}"/>
              </a:ext>
            </a:extLst>
          </p:cNvPr>
          <p:cNvSpPr/>
          <p:nvPr/>
        </p:nvSpPr>
        <p:spPr>
          <a:xfrm>
            <a:off x="143985" y="2964285"/>
            <a:ext cx="5988402" cy="160014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1059166" lon="164063" rev="21480216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If you miss the due date, -20%, and each class period we have without it being turned in is an additional -5%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977E00-0141-EA12-1865-801D8E1D6DF8}"/>
              </a:ext>
            </a:extLst>
          </p:cNvPr>
          <p:cNvSpPr/>
          <p:nvPr/>
        </p:nvSpPr>
        <p:spPr>
          <a:xfrm>
            <a:off x="2755902" y="4752329"/>
            <a:ext cx="7076367" cy="162514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1423044" lon="20883893" rev="31209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This caps at -60%, that way even if you crash out for a few weeks you don’t totally lose all credit</a:t>
            </a:r>
          </a:p>
        </p:txBody>
      </p:sp>
    </p:spTree>
    <p:extLst>
      <p:ext uri="{BB962C8B-B14F-4D97-AF65-F5344CB8AC3E}">
        <p14:creationId xmlns:p14="http://schemas.microsoft.com/office/powerpoint/2010/main" val="155446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0D415-05B2-B9A5-E46F-ECFE9D2E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8EC40F50-0EC3-4A1B-E3A8-C589022083DE}"/>
              </a:ext>
            </a:extLst>
          </p:cNvPr>
          <p:cNvSpPr/>
          <p:nvPr/>
        </p:nvSpPr>
        <p:spPr>
          <a:xfrm>
            <a:off x="-376675" y="982872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D8091C-CD14-B711-A8F4-215412D71956}"/>
              </a:ext>
            </a:extLst>
          </p:cNvPr>
          <p:cNvSpPr/>
          <p:nvPr/>
        </p:nvSpPr>
        <p:spPr>
          <a:xfrm>
            <a:off x="10377793" y="45749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42109-3B9E-B33C-D431-81275E3CE9C0}"/>
              </a:ext>
            </a:extLst>
          </p:cNvPr>
          <p:cNvSpPr/>
          <p:nvPr/>
        </p:nvSpPr>
        <p:spPr>
          <a:xfrm>
            <a:off x="1126067" y="118119"/>
            <a:ext cx="5317066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LATE WORK POLICY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70A01E-9915-2FF6-0A8B-C8AC2D84878F}"/>
              </a:ext>
            </a:extLst>
          </p:cNvPr>
          <p:cNvSpPr/>
          <p:nvPr/>
        </p:nvSpPr>
        <p:spPr>
          <a:xfrm>
            <a:off x="433692" y="1674617"/>
            <a:ext cx="11064278" cy="364840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If you miss a class, your due date is pushed back by the number of class days that you missed.</a:t>
            </a: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If there is a unique circumstance, feel free to email me or ask me. Depending on the circumstance I will extend due dates to make sure this class doesn’t kill you or something.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3B776F5-45FD-68CB-C3B3-9B27F573219F}"/>
              </a:ext>
            </a:extLst>
          </p:cNvPr>
          <p:cNvSpPr/>
          <p:nvPr/>
        </p:nvSpPr>
        <p:spPr>
          <a:xfrm rot="12544476">
            <a:off x="6256866" y="312814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1CCDF4A-F272-F422-246F-D7926800A5EC}"/>
              </a:ext>
            </a:extLst>
          </p:cNvPr>
          <p:cNvSpPr/>
          <p:nvPr/>
        </p:nvSpPr>
        <p:spPr>
          <a:xfrm rot="15002333">
            <a:off x="6550071" y="652913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ownload Fierce Lightning Strike Png Ths6 | Wallpapers.com">
            <a:extLst>
              <a:ext uri="{FF2B5EF4-FFF2-40B4-BE49-F238E27FC236}">
                <a16:creationId xmlns:a16="http://schemas.microsoft.com/office/drawing/2014/main" id="{36EC9490-D7A6-E458-7210-AB7C62A11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486" y="-3739777"/>
            <a:ext cx="12763500" cy="127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7CA4F9-F7F6-683B-35E6-AB2162B2BAA9}"/>
              </a:ext>
            </a:extLst>
          </p:cNvPr>
          <p:cNvSpPr txBox="1"/>
          <p:nvPr/>
        </p:nvSpPr>
        <p:spPr>
          <a:xfrm>
            <a:off x="-165100" y="-1510288"/>
            <a:ext cx="12522200" cy="10710624"/>
          </a:xfrm>
          <a:prstGeom prst="rect">
            <a:avLst/>
          </a:prstGeom>
          <a:solidFill>
            <a:srgbClr val="000000">
              <a:alpha val="45098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13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3800" b="1" dirty="0">
                <a:solidFill>
                  <a:schemeClr val="bg1"/>
                </a:solidFill>
                <a:latin typeface="Bahnschrift" panose="020B0502040204020203" pitchFamily="34" charset="0"/>
              </a:rPr>
              <a:t>FIVE LAWS </a:t>
            </a:r>
          </a:p>
          <a:p>
            <a:pPr algn="ctr"/>
            <a:r>
              <a:rPr lang="en-US" sz="13800" b="1" dirty="0">
                <a:solidFill>
                  <a:schemeClr val="bg1"/>
                </a:solidFill>
                <a:latin typeface="Bahnschrift" panose="020B0502040204020203" pitchFamily="34" charset="0"/>
              </a:rPr>
              <a:t>OF </a:t>
            </a:r>
          </a:p>
          <a:p>
            <a:pPr algn="ctr"/>
            <a:r>
              <a:rPr lang="en-US" sz="13800" b="1" dirty="0">
                <a:solidFill>
                  <a:schemeClr val="bg1"/>
                </a:solidFill>
                <a:latin typeface="Bahnschrift" panose="020B0502040204020203" pitchFamily="34" charset="0"/>
              </a:rPr>
              <a:t>CODECRAFT</a:t>
            </a:r>
          </a:p>
          <a:p>
            <a:pPr algn="ctr"/>
            <a:endParaRPr lang="en-US" sz="13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6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1A73-4731-2140-F5C5-D9CFE765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B603FE0-C022-0D86-3A01-92A9D0AFD434}"/>
              </a:ext>
            </a:extLst>
          </p:cNvPr>
          <p:cNvSpPr/>
          <p:nvPr/>
        </p:nvSpPr>
        <p:spPr>
          <a:xfrm>
            <a:off x="10573449" y="5564904"/>
            <a:ext cx="1984038" cy="1984038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38416B0-7435-80C3-D07E-45F01A50CF96}"/>
              </a:ext>
            </a:extLst>
          </p:cNvPr>
          <p:cNvSpPr/>
          <p:nvPr/>
        </p:nvSpPr>
        <p:spPr>
          <a:xfrm>
            <a:off x="-1141560" y="-1643654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695793-D98D-A8EA-E0FA-83B39A8C09C2}"/>
              </a:ext>
            </a:extLst>
          </p:cNvPr>
          <p:cNvSpPr/>
          <p:nvPr/>
        </p:nvSpPr>
        <p:spPr>
          <a:xfrm>
            <a:off x="7120469" y="-37017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689B4-931A-3410-B3CA-542A46DED9CE}"/>
              </a:ext>
            </a:extLst>
          </p:cNvPr>
          <p:cNvSpPr/>
          <p:nvPr/>
        </p:nvSpPr>
        <p:spPr>
          <a:xfrm>
            <a:off x="3962400" y="180547"/>
            <a:ext cx="7408333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0809732" lon="227460" rev="2146514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THE FIVE LAWS OF CODECRAFT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41726-5206-D11D-0C32-0556BAAB818A}"/>
              </a:ext>
            </a:extLst>
          </p:cNvPr>
          <p:cNvSpPr/>
          <p:nvPr/>
        </p:nvSpPr>
        <p:spPr>
          <a:xfrm>
            <a:off x="1775531" y="1378367"/>
            <a:ext cx="9595202" cy="46500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1423044" lon="20883893" rev="1209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These are a set of laws governing the good authorship of code. Failure to adhere to the great Five Laws of </a:t>
            </a:r>
            <a:r>
              <a:rPr lang="en-US" sz="4000" dirty="0" err="1">
                <a:solidFill>
                  <a:schemeClr val="bg1"/>
                </a:solidFill>
              </a:rPr>
              <a:t>Codecraft</a:t>
            </a:r>
            <a:r>
              <a:rPr lang="en-US" sz="4000" dirty="0">
                <a:solidFill>
                  <a:schemeClr val="bg1"/>
                </a:solidFill>
              </a:rPr>
              <a:t> will result in marks deductions.</a:t>
            </a: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What are the laws, you may be wondering?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D7999A9-E3FD-18A4-A927-A9C9DDF4CB27}"/>
              </a:ext>
            </a:extLst>
          </p:cNvPr>
          <p:cNvSpPr/>
          <p:nvPr/>
        </p:nvSpPr>
        <p:spPr>
          <a:xfrm rot="10441986">
            <a:off x="3678204" y="361182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C3616DB-0324-9473-0909-D2A132A17359}"/>
              </a:ext>
            </a:extLst>
          </p:cNvPr>
          <p:cNvSpPr/>
          <p:nvPr/>
        </p:nvSpPr>
        <p:spPr>
          <a:xfrm rot="8623936">
            <a:off x="3567656" y="697182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3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121D-A4FB-847E-2B1B-213A995E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Fierce Lightning Strike Png Ths6 | Wallpapers.com">
            <a:extLst>
              <a:ext uri="{FF2B5EF4-FFF2-40B4-BE49-F238E27FC236}">
                <a16:creationId xmlns:a16="http://schemas.microsoft.com/office/drawing/2014/main" id="{9467F996-369B-E7DE-9373-158182C70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4444" y="-1044524"/>
            <a:ext cx="3555861" cy="355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CBE5329-E8FE-8A76-D62D-1F108DB9ACFC}"/>
              </a:ext>
            </a:extLst>
          </p:cNvPr>
          <p:cNvSpPr/>
          <p:nvPr/>
        </p:nvSpPr>
        <p:spPr>
          <a:xfrm>
            <a:off x="3644250" y="20881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FBBCF9-6A74-8131-1C4F-285D1B5DF40B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B7A22-9B3A-6E41-8A41-D085E1018DB9}"/>
              </a:ext>
            </a:extLst>
          </p:cNvPr>
          <p:cNvSpPr/>
          <p:nvPr/>
        </p:nvSpPr>
        <p:spPr>
          <a:xfrm>
            <a:off x="1206072" y="137651"/>
            <a:ext cx="6412448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COMMENT WITH PURPOSE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A6E66-AA19-8D31-4E3A-E42B5587C96A}"/>
              </a:ext>
            </a:extLst>
          </p:cNvPr>
          <p:cNvSpPr/>
          <p:nvPr/>
        </p:nvSpPr>
        <p:spPr>
          <a:xfrm>
            <a:off x="1748144" y="2491474"/>
            <a:ext cx="7932439" cy="26468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Thy must comment your code. Let your comments illuminate, not obscure, the journey of your logic</a:t>
            </a: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71DC0DC-9DF7-F7BF-9E41-516CCDBD2446}"/>
              </a:ext>
            </a:extLst>
          </p:cNvPr>
          <p:cNvSpPr/>
          <p:nvPr/>
        </p:nvSpPr>
        <p:spPr>
          <a:xfrm rot="12544476">
            <a:off x="7432254" y="303152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66C15EA-0F2F-8009-E8C0-E9D8034EBB40}"/>
              </a:ext>
            </a:extLst>
          </p:cNvPr>
          <p:cNvSpPr/>
          <p:nvPr/>
        </p:nvSpPr>
        <p:spPr>
          <a:xfrm rot="15002333">
            <a:off x="7725459" y="643251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79316-DC7D-F528-F9BF-A2AE56E2DE52}"/>
              </a:ext>
            </a:extLst>
          </p:cNvPr>
          <p:cNvSpPr txBox="1"/>
          <p:nvPr/>
        </p:nvSpPr>
        <p:spPr>
          <a:xfrm>
            <a:off x="179694" y="-906069"/>
            <a:ext cx="31369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  <a:latin typeface="Palace Script MT" panose="030303020206070C0B05" pitchFamily="66" charset="0"/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24393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2" grpId="0" animBg="1"/>
      <p:bldP spid="7" grpId="0" animBg="1"/>
      <p:bldP spid="8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C07D-33E9-649A-BB5F-F47155D4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Fierce Lightning Strike Png Ths6 | Wallpapers.com">
            <a:extLst>
              <a:ext uri="{FF2B5EF4-FFF2-40B4-BE49-F238E27FC236}">
                <a16:creationId xmlns:a16="http://schemas.microsoft.com/office/drawing/2014/main" id="{736BB968-901B-579D-F42C-4EF3E473C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281" y="-1365113"/>
            <a:ext cx="4411022" cy="441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5994180-0F14-4740-EB1F-1AD0DC1AC401}"/>
              </a:ext>
            </a:extLst>
          </p:cNvPr>
          <p:cNvSpPr/>
          <p:nvPr/>
        </p:nvSpPr>
        <p:spPr>
          <a:xfrm>
            <a:off x="3644250" y="20881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A1B875-A09B-4B39-F939-B3F5506A1374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495786-A129-413D-E570-B44870C2B1AB}"/>
              </a:ext>
            </a:extLst>
          </p:cNvPr>
          <p:cNvSpPr/>
          <p:nvPr/>
        </p:nvSpPr>
        <p:spPr>
          <a:xfrm>
            <a:off x="1206071" y="137651"/>
            <a:ext cx="8941229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RESPECT THE NAMING OF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E5B3FA-BEC1-FCA2-551E-5DB3266AD6DA}"/>
              </a:ext>
            </a:extLst>
          </p:cNvPr>
          <p:cNvSpPr/>
          <p:nvPr/>
        </p:nvSpPr>
        <p:spPr>
          <a:xfrm>
            <a:off x="1748144" y="2491474"/>
            <a:ext cx="7932439" cy="26468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Let the names of variables reflect the nature of variables, so others may follow with ease</a:t>
            </a: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96E0025-79F4-D189-2C2A-46D0C2B009DF}"/>
              </a:ext>
            </a:extLst>
          </p:cNvPr>
          <p:cNvSpPr/>
          <p:nvPr/>
        </p:nvSpPr>
        <p:spPr>
          <a:xfrm rot="12544476">
            <a:off x="9820186" y="314109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A5BAB05-38A0-A9BB-23EA-5ACE05E95B97}"/>
              </a:ext>
            </a:extLst>
          </p:cNvPr>
          <p:cNvSpPr/>
          <p:nvPr/>
        </p:nvSpPr>
        <p:spPr>
          <a:xfrm rot="15002333">
            <a:off x="10113391" y="654208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FA18A-3E00-4E22-1480-1E522EFE04C4}"/>
              </a:ext>
            </a:extLst>
          </p:cNvPr>
          <p:cNvSpPr txBox="1"/>
          <p:nvPr/>
        </p:nvSpPr>
        <p:spPr>
          <a:xfrm>
            <a:off x="42389" y="-1057559"/>
            <a:ext cx="31369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  <a:latin typeface="Palace Script MT" panose="030303020206070C0B05" pitchFamily="66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06283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2" grpId="0" animBg="1"/>
      <p:bldP spid="7" grpId="0" animBg="1"/>
      <p:bldP spid="8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39F8-6E2E-176C-B410-FB3DA214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Fierce Lightning Strike Png Ths6 | Wallpapers.com">
            <a:extLst>
              <a:ext uri="{FF2B5EF4-FFF2-40B4-BE49-F238E27FC236}">
                <a16:creationId xmlns:a16="http://schemas.microsoft.com/office/drawing/2014/main" id="{9A4DF239-5EB8-4347-8D18-2A7B251F1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32029" y="-1622580"/>
            <a:ext cx="6083329" cy="608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C251F05-F81F-56C7-936E-0CE4685ED3CE}"/>
              </a:ext>
            </a:extLst>
          </p:cNvPr>
          <p:cNvSpPr/>
          <p:nvPr/>
        </p:nvSpPr>
        <p:spPr>
          <a:xfrm>
            <a:off x="3644250" y="20881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3DC1E8-DEB4-5176-0844-0FB9AD2C5039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97B48-DDED-C891-22BB-3A6B35F200F3}"/>
              </a:ext>
            </a:extLst>
          </p:cNvPr>
          <p:cNvSpPr/>
          <p:nvPr/>
        </p:nvSpPr>
        <p:spPr>
          <a:xfrm>
            <a:off x="1206071" y="137651"/>
            <a:ext cx="6389377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REFRAIN FROM REPETITION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61056-18B6-44BF-E733-70D943CE11FF}"/>
              </a:ext>
            </a:extLst>
          </p:cNvPr>
          <p:cNvSpPr/>
          <p:nvPr/>
        </p:nvSpPr>
        <p:spPr>
          <a:xfrm>
            <a:off x="1748144" y="2491474"/>
            <a:ext cx="7932439" cy="26468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Code once, reuse endlessly. Loops, functions, and objects are your allies in the field.</a:t>
            </a: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02FB677-A903-766D-93BC-17781224C5DE}"/>
              </a:ext>
            </a:extLst>
          </p:cNvPr>
          <p:cNvSpPr/>
          <p:nvPr/>
        </p:nvSpPr>
        <p:spPr>
          <a:xfrm rot="12544476">
            <a:off x="7409182" y="305615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FEB57CB-998D-5DB0-59A7-992FD7EEF5A2}"/>
              </a:ext>
            </a:extLst>
          </p:cNvPr>
          <p:cNvSpPr/>
          <p:nvPr/>
        </p:nvSpPr>
        <p:spPr>
          <a:xfrm rot="15002333">
            <a:off x="7702388" y="615705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05534-3B06-4789-8E15-4FC3161CACF9}"/>
              </a:ext>
            </a:extLst>
          </p:cNvPr>
          <p:cNvSpPr txBox="1"/>
          <p:nvPr/>
        </p:nvSpPr>
        <p:spPr>
          <a:xfrm>
            <a:off x="179694" y="-1024832"/>
            <a:ext cx="31369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  <a:latin typeface="Palace Script MT" panose="030303020206070C0B05" pitchFamily="66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29474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2" grpId="0" animBg="1"/>
      <p:bldP spid="7" grpId="0" animBg="1"/>
      <p:bldP spid="8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B51F-59ED-D617-9DED-5DF00A3B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Fierce Lightning Strike Png Ths6 | Wallpapers.com">
            <a:extLst>
              <a:ext uri="{FF2B5EF4-FFF2-40B4-BE49-F238E27FC236}">
                <a16:creationId xmlns:a16="http://schemas.microsoft.com/office/drawing/2014/main" id="{73451B1A-A1E5-9221-F7E8-E3EE1D091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3339" y="-1538991"/>
            <a:ext cx="9935981" cy="993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2451CD8-21AD-901E-DDF8-04CC6261FA25}"/>
              </a:ext>
            </a:extLst>
          </p:cNvPr>
          <p:cNvSpPr/>
          <p:nvPr/>
        </p:nvSpPr>
        <p:spPr>
          <a:xfrm>
            <a:off x="3644250" y="20881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ED08C2-D010-D07D-C004-329EA7E0F088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57164-914E-3D6B-3E67-C6E11D89466A}"/>
              </a:ext>
            </a:extLst>
          </p:cNvPr>
          <p:cNvSpPr/>
          <p:nvPr/>
        </p:nvSpPr>
        <p:spPr>
          <a:xfrm>
            <a:off x="1206071" y="137651"/>
            <a:ext cx="7932439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CITE THY SOURCES WITH HONOR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4FE8C9-C08F-4CF9-1EA1-69E09D06603F}"/>
              </a:ext>
            </a:extLst>
          </p:cNvPr>
          <p:cNvSpPr/>
          <p:nvPr/>
        </p:nvSpPr>
        <p:spPr>
          <a:xfrm>
            <a:off x="1748144" y="2491474"/>
            <a:ext cx="7932439" cy="26468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If thou borrows from the wisdom of others, give credit where it is due, for integrity in code reflects integrity in character.</a:t>
            </a: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A8969F5-4FD2-B677-93CF-83F5F45E06A6}"/>
              </a:ext>
            </a:extLst>
          </p:cNvPr>
          <p:cNvSpPr/>
          <p:nvPr/>
        </p:nvSpPr>
        <p:spPr>
          <a:xfrm rot="12544476">
            <a:off x="8856983" y="332346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1B5E6A2-794F-29A5-E6B2-369CF2B2DEB7}"/>
              </a:ext>
            </a:extLst>
          </p:cNvPr>
          <p:cNvSpPr/>
          <p:nvPr/>
        </p:nvSpPr>
        <p:spPr>
          <a:xfrm rot="15002333">
            <a:off x="9150189" y="642436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F0F98-7275-8B5A-8C36-A63016AD3E6F}"/>
              </a:ext>
            </a:extLst>
          </p:cNvPr>
          <p:cNvSpPr txBox="1"/>
          <p:nvPr/>
        </p:nvSpPr>
        <p:spPr>
          <a:xfrm>
            <a:off x="179694" y="-1039322"/>
            <a:ext cx="31369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  <a:latin typeface="Palace Script MT" panose="030303020206070C0B05" pitchFamily="66" charset="0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5065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2" grpId="0" animBg="1"/>
      <p:bldP spid="7" grpId="0" animBg="1"/>
      <p:bldP spid="8" grpId="0" animBg="1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9E3F-CF71-59C4-65BB-E7D44BDB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Fierce Lightning Strike Png Ths6 | Wallpapers.com">
            <a:extLst>
              <a:ext uri="{FF2B5EF4-FFF2-40B4-BE49-F238E27FC236}">
                <a16:creationId xmlns:a16="http://schemas.microsoft.com/office/drawing/2014/main" id="{2DCF12FF-2B38-6DBD-9C24-B42C14F4F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99632" y="-3893987"/>
            <a:ext cx="16630032" cy="1663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E8251C2-F6F6-0AA2-DA4C-C1A834F841B3}"/>
              </a:ext>
            </a:extLst>
          </p:cNvPr>
          <p:cNvSpPr/>
          <p:nvPr/>
        </p:nvSpPr>
        <p:spPr>
          <a:xfrm>
            <a:off x="3644250" y="2088180"/>
            <a:ext cx="3648402" cy="3648402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023F28-CAA5-ABCE-7EFF-E8C6D2CBCC28}"/>
              </a:ext>
            </a:extLst>
          </p:cNvPr>
          <p:cNvSpPr/>
          <p:nvPr/>
        </p:nvSpPr>
        <p:spPr>
          <a:xfrm>
            <a:off x="-417207" y="-361137"/>
            <a:ext cx="1701799" cy="1701799"/>
          </a:xfrm>
          <a:prstGeom prst="ellipse">
            <a:avLst/>
          </a:prstGeom>
          <a:noFill/>
          <a:ln w="127000">
            <a:solidFill>
              <a:schemeClr val="bg2">
                <a:lumMod val="25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25936-C058-BDAF-929A-02E6551B17FC}"/>
              </a:ext>
            </a:extLst>
          </p:cNvPr>
          <p:cNvSpPr/>
          <p:nvPr/>
        </p:nvSpPr>
        <p:spPr>
          <a:xfrm>
            <a:off x="1206071" y="137651"/>
            <a:ext cx="8649129" cy="914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1594443" lon="20938485" rev="2132502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EMBRACE FAILURE AS KNOWLEDGE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6BCED-714F-5147-B7D4-2E6FF9D55C32}"/>
              </a:ext>
            </a:extLst>
          </p:cNvPr>
          <p:cNvSpPr/>
          <p:nvPr/>
        </p:nvSpPr>
        <p:spPr>
          <a:xfrm>
            <a:off x="1748144" y="2491474"/>
            <a:ext cx="7932439" cy="26468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979099" lon="294554" rev="21469122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Errors are teachers in disguise; debug with patience and wisdom.</a:t>
            </a: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1A4F51C-9603-42D6-C336-578E33314F0B}"/>
              </a:ext>
            </a:extLst>
          </p:cNvPr>
          <p:cNvSpPr/>
          <p:nvPr/>
        </p:nvSpPr>
        <p:spPr>
          <a:xfrm rot="12544476">
            <a:off x="9494315" y="332345"/>
            <a:ext cx="372533" cy="671157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142BCB7-2C89-B7F1-AEB5-EC5776F9A675}"/>
              </a:ext>
            </a:extLst>
          </p:cNvPr>
          <p:cNvSpPr/>
          <p:nvPr/>
        </p:nvSpPr>
        <p:spPr>
          <a:xfrm rot="15002333">
            <a:off x="9787521" y="642435"/>
            <a:ext cx="206694" cy="372381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E2E10-F9DD-40C7-D65E-964248120E47}"/>
              </a:ext>
            </a:extLst>
          </p:cNvPr>
          <p:cNvSpPr txBox="1"/>
          <p:nvPr/>
        </p:nvSpPr>
        <p:spPr>
          <a:xfrm>
            <a:off x="42011" y="-833677"/>
            <a:ext cx="31369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  <a:latin typeface="Palace Script MT" panose="030303020206070C0B05" pitchFamily="66" charset="0"/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195558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2" grpId="0" animBg="1"/>
      <p:bldP spid="7" grpId="0" animBg="1"/>
      <p:bldP spid="8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10795-CB41-F89F-C647-73385B24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32F351-EE66-053E-2A72-15837849948B}"/>
              </a:ext>
            </a:extLst>
          </p:cNvPr>
          <p:cNvSpPr/>
          <p:nvPr/>
        </p:nvSpPr>
        <p:spPr>
          <a:xfrm>
            <a:off x="-2399713" y="-2799418"/>
            <a:ext cx="16991421" cy="32198355"/>
          </a:xfrm>
          <a:custGeom>
            <a:avLst/>
            <a:gdLst>
              <a:gd name="connsiteX0" fmla="*/ 1390650 w 2781300"/>
              <a:gd name="connsiteY0" fmla="*/ 0 h 5270500"/>
              <a:gd name="connsiteX1" fmla="*/ 2774120 w 2781300"/>
              <a:gd name="connsiteY1" fmla="*/ 1248464 h 5270500"/>
              <a:gd name="connsiteX2" fmla="*/ 2779056 w 2781300"/>
              <a:gd name="connsiteY2" fmla="*/ 1346200 h 5270500"/>
              <a:gd name="connsiteX3" fmla="*/ 2781300 w 2781300"/>
              <a:gd name="connsiteY3" fmla="*/ 1346200 h 5270500"/>
              <a:gd name="connsiteX4" fmla="*/ 2781300 w 2781300"/>
              <a:gd name="connsiteY4" fmla="*/ 1390650 h 5270500"/>
              <a:gd name="connsiteX5" fmla="*/ 2781300 w 2781300"/>
              <a:gd name="connsiteY5" fmla="*/ 5270500 h 5270500"/>
              <a:gd name="connsiteX6" fmla="*/ 0 w 2781300"/>
              <a:gd name="connsiteY6" fmla="*/ 5270500 h 5270500"/>
              <a:gd name="connsiteX7" fmla="*/ 0 w 2781300"/>
              <a:gd name="connsiteY7" fmla="*/ 1390650 h 5270500"/>
              <a:gd name="connsiteX8" fmla="*/ 0 w 2781300"/>
              <a:gd name="connsiteY8" fmla="*/ 1346200 h 5270500"/>
              <a:gd name="connsiteX9" fmla="*/ 2245 w 2781300"/>
              <a:gd name="connsiteY9" fmla="*/ 1346200 h 5270500"/>
              <a:gd name="connsiteX10" fmla="*/ 7180 w 2781300"/>
              <a:gd name="connsiteY10" fmla="*/ 1248464 h 5270500"/>
              <a:gd name="connsiteX11" fmla="*/ 1390650 w 2781300"/>
              <a:gd name="connsiteY11" fmla="*/ 0 h 527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81300" h="5270500">
                <a:moveTo>
                  <a:pt x="1390650" y="0"/>
                </a:moveTo>
                <a:cubicBezTo>
                  <a:pt x="2110683" y="0"/>
                  <a:pt x="2702905" y="547220"/>
                  <a:pt x="2774120" y="1248464"/>
                </a:cubicBezTo>
                <a:lnTo>
                  <a:pt x="2779056" y="1346200"/>
                </a:lnTo>
                <a:lnTo>
                  <a:pt x="2781300" y="1346200"/>
                </a:lnTo>
                <a:lnTo>
                  <a:pt x="2781300" y="1390650"/>
                </a:lnTo>
                <a:lnTo>
                  <a:pt x="2781300" y="5270500"/>
                </a:lnTo>
                <a:lnTo>
                  <a:pt x="0" y="5270500"/>
                </a:lnTo>
                <a:lnTo>
                  <a:pt x="0" y="1390650"/>
                </a:lnTo>
                <a:lnTo>
                  <a:pt x="0" y="1346200"/>
                </a:lnTo>
                <a:lnTo>
                  <a:pt x="2245" y="1346200"/>
                </a:lnTo>
                <a:lnTo>
                  <a:pt x="7180" y="1248464"/>
                </a:lnTo>
                <a:cubicBezTo>
                  <a:pt x="78395" y="547220"/>
                  <a:pt x="670617" y="0"/>
                  <a:pt x="13906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3DEB391-4E46-C1C4-5D77-98916247450C}"/>
              </a:ext>
            </a:extLst>
          </p:cNvPr>
          <p:cNvSpPr/>
          <p:nvPr/>
        </p:nvSpPr>
        <p:spPr>
          <a:xfrm>
            <a:off x="847464" y="1029806"/>
            <a:ext cx="10497069" cy="19891706"/>
          </a:xfrm>
          <a:custGeom>
            <a:avLst/>
            <a:gdLst>
              <a:gd name="connsiteX0" fmla="*/ 1390650 w 2781300"/>
              <a:gd name="connsiteY0" fmla="*/ 0 h 5270500"/>
              <a:gd name="connsiteX1" fmla="*/ 2774120 w 2781300"/>
              <a:gd name="connsiteY1" fmla="*/ 1248464 h 5270500"/>
              <a:gd name="connsiteX2" fmla="*/ 2779056 w 2781300"/>
              <a:gd name="connsiteY2" fmla="*/ 1346200 h 5270500"/>
              <a:gd name="connsiteX3" fmla="*/ 2781300 w 2781300"/>
              <a:gd name="connsiteY3" fmla="*/ 1346200 h 5270500"/>
              <a:gd name="connsiteX4" fmla="*/ 2781300 w 2781300"/>
              <a:gd name="connsiteY4" fmla="*/ 1390650 h 5270500"/>
              <a:gd name="connsiteX5" fmla="*/ 2781300 w 2781300"/>
              <a:gd name="connsiteY5" fmla="*/ 5270500 h 5270500"/>
              <a:gd name="connsiteX6" fmla="*/ 0 w 2781300"/>
              <a:gd name="connsiteY6" fmla="*/ 5270500 h 5270500"/>
              <a:gd name="connsiteX7" fmla="*/ 0 w 2781300"/>
              <a:gd name="connsiteY7" fmla="*/ 1390650 h 5270500"/>
              <a:gd name="connsiteX8" fmla="*/ 0 w 2781300"/>
              <a:gd name="connsiteY8" fmla="*/ 1346200 h 5270500"/>
              <a:gd name="connsiteX9" fmla="*/ 2245 w 2781300"/>
              <a:gd name="connsiteY9" fmla="*/ 1346200 h 5270500"/>
              <a:gd name="connsiteX10" fmla="*/ 7180 w 2781300"/>
              <a:gd name="connsiteY10" fmla="*/ 1248464 h 5270500"/>
              <a:gd name="connsiteX11" fmla="*/ 1390650 w 2781300"/>
              <a:gd name="connsiteY11" fmla="*/ 0 h 527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81300" h="5270500">
                <a:moveTo>
                  <a:pt x="1390650" y="0"/>
                </a:moveTo>
                <a:cubicBezTo>
                  <a:pt x="2110683" y="0"/>
                  <a:pt x="2702905" y="547220"/>
                  <a:pt x="2774120" y="1248464"/>
                </a:cubicBezTo>
                <a:lnTo>
                  <a:pt x="2779056" y="1346200"/>
                </a:lnTo>
                <a:lnTo>
                  <a:pt x="2781300" y="1346200"/>
                </a:lnTo>
                <a:lnTo>
                  <a:pt x="2781300" y="1390650"/>
                </a:lnTo>
                <a:lnTo>
                  <a:pt x="2781300" y="5270500"/>
                </a:lnTo>
                <a:lnTo>
                  <a:pt x="0" y="5270500"/>
                </a:lnTo>
                <a:lnTo>
                  <a:pt x="0" y="1390650"/>
                </a:lnTo>
                <a:lnTo>
                  <a:pt x="0" y="1346200"/>
                </a:lnTo>
                <a:lnTo>
                  <a:pt x="2245" y="1346200"/>
                </a:lnTo>
                <a:lnTo>
                  <a:pt x="7180" y="1248464"/>
                </a:lnTo>
                <a:cubicBezTo>
                  <a:pt x="78395" y="547220"/>
                  <a:pt x="670617" y="0"/>
                  <a:pt x="13906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EED051-7E70-30C8-C8B9-F775848B5ED4}"/>
              </a:ext>
            </a:extLst>
          </p:cNvPr>
          <p:cNvSpPr/>
          <p:nvPr/>
        </p:nvSpPr>
        <p:spPr>
          <a:xfrm>
            <a:off x="3736975" y="3112532"/>
            <a:ext cx="4718050" cy="8940597"/>
          </a:xfrm>
          <a:custGeom>
            <a:avLst/>
            <a:gdLst>
              <a:gd name="connsiteX0" fmla="*/ 1390650 w 2781300"/>
              <a:gd name="connsiteY0" fmla="*/ 0 h 5270500"/>
              <a:gd name="connsiteX1" fmla="*/ 2774120 w 2781300"/>
              <a:gd name="connsiteY1" fmla="*/ 1248464 h 5270500"/>
              <a:gd name="connsiteX2" fmla="*/ 2779056 w 2781300"/>
              <a:gd name="connsiteY2" fmla="*/ 1346200 h 5270500"/>
              <a:gd name="connsiteX3" fmla="*/ 2781300 w 2781300"/>
              <a:gd name="connsiteY3" fmla="*/ 1346200 h 5270500"/>
              <a:gd name="connsiteX4" fmla="*/ 2781300 w 2781300"/>
              <a:gd name="connsiteY4" fmla="*/ 1390650 h 5270500"/>
              <a:gd name="connsiteX5" fmla="*/ 2781300 w 2781300"/>
              <a:gd name="connsiteY5" fmla="*/ 5270500 h 5270500"/>
              <a:gd name="connsiteX6" fmla="*/ 0 w 2781300"/>
              <a:gd name="connsiteY6" fmla="*/ 5270500 h 5270500"/>
              <a:gd name="connsiteX7" fmla="*/ 0 w 2781300"/>
              <a:gd name="connsiteY7" fmla="*/ 1390650 h 5270500"/>
              <a:gd name="connsiteX8" fmla="*/ 0 w 2781300"/>
              <a:gd name="connsiteY8" fmla="*/ 1346200 h 5270500"/>
              <a:gd name="connsiteX9" fmla="*/ 2245 w 2781300"/>
              <a:gd name="connsiteY9" fmla="*/ 1346200 h 5270500"/>
              <a:gd name="connsiteX10" fmla="*/ 7180 w 2781300"/>
              <a:gd name="connsiteY10" fmla="*/ 1248464 h 5270500"/>
              <a:gd name="connsiteX11" fmla="*/ 1390650 w 2781300"/>
              <a:gd name="connsiteY11" fmla="*/ 0 h 527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81300" h="5270500">
                <a:moveTo>
                  <a:pt x="1390650" y="0"/>
                </a:moveTo>
                <a:cubicBezTo>
                  <a:pt x="2110683" y="0"/>
                  <a:pt x="2702905" y="547220"/>
                  <a:pt x="2774120" y="1248464"/>
                </a:cubicBezTo>
                <a:lnTo>
                  <a:pt x="2779056" y="1346200"/>
                </a:lnTo>
                <a:lnTo>
                  <a:pt x="2781300" y="1346200"/>
                </a:lnTo>
                <a:lnTo>
                  <a:pt x="2781300" y="1390650"/>
                </a:lnTo>
                <a:lnTo>
                  <a:pt x="2781300" y="5270500"/>
                </a:lnTo>
                <a:lnTo>
                  <a:pt x="0" y="5270500"/>
                </a:lnTo>
                <a:lnTo>
                  <a:pt x="0" y="1390650"/>
                </a:lnTo>
                <a:lnTo>
                  <a:pt x="0" y="1346200"/>
                </a:lnTo>
                <a:lnTo>
                  <a:pt x="2245" y="1346200"/>
                </a:lnTo>
                <a:lnTo>
                  <a:pt x="7180" y="1248464"/>
                </a:lnTo>
                <a:cubicBezTo>
                  <a:pt x="78395" y="547220"/>
                  <a:pt x="670617" y="0"/>
                  <a:pt x="13906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ADBBAD9-11D3-A8D1-8A5B-23D07D21B8A9}"/>
              </a:ext>
            </a:extLst>
          </p:cNvPr>
          <p:cNvSpPr/>
          <p:nvPr/>
        </p:nvSpPr>
        <p:spPr>
          <a:xfrm>
            <a:off x="2424112" y="1825042"/>
            <a:ext cx="7343775" cy="13916286"/>
          </a:xfrm>
          <a:custGeom>
            <a:avLst/>
            <a:gdLst>
              <a:gd name="connsiteX0" fmla="*/ 1390650 w 2781300"/>
              <a:gd name="connsiteY0" fmla="*/ 0 h 5270500"/>
              <a:gd name="connsiteX1" fmla="*/ 2774120 w 2781300"/>
              <a:gd name="connsiteY1" fmla="*/ 1248464 h 5270500"/>
              <a:gd name="connsiteX2" fmla="*/ 2779056 w 2781300"/>
              <a:gd name="connsiteY2" fmla="*/ 1346200 h 5270500"/>
              <a:gd name="connsiteX3" fmla="*/ 2781300 w 2781300"/>
              <a:gd name="connsiteY3" fmla="*/ 1346200 h 5270500"/>
              <a:gd name="connsiteX4" fmla="*/ 2781300 w 2781300"/>
              <a:gd name="connsiteY4" fmla="*/ 1390650 h 5270500"/>
              <a:gd name="connsiteX5" fmla="*/ 2781300 w 2781300"/>
              <a:gd name="connsiteY5" fmla="*/ 5270500 h 5270500"/>
              <a:gd name="connsiteX6" fmla="*/ 0 w 2781300"/>
              <a:gd name="connsiteY6" fmla="*/ 5270500 h 5270500"/>
              <a:gd name="connsiteX7" fmla="*/ 0 w 2781300"/>
              <a:gd name="connsiteY7" fmla="*/ 1390650 h 5270500"/>
              <a:gd name="connsiteX8" fmla="*/ 0 w 2781300"/>
              <a:gd name="connsiteY8" fmla="*/ 1346200 h 5270500"/>
              <a:gd name="connsiteX9" fmla="*/ 2245 w 2781300"/>
              <a:gd name="connsiteY9" fmla="*/ 1346200 h 5270500"/>
              <a:gd name="connsiteX10" fmla="*/ 7180 w 2781300"/>
              <a:gd name="connsiteY10" fmla="*/ 1248464 h 5270500"/>
              <a:gd name="connsiteX11" fmla="*/ 1390650 w 2781300"/>
              <a:gd name="connsiteY11" fmla="*/ 0 h 527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81300" h="5270500">
                <a:moveTo>
                  <a:pt x="1390650" y="0"/>
                </a:moveTo>
                <a:cubicBezTo>
                  <a:pt x="2110683" y="0"/>
                  <a:pt x="2702905" y="547220"/>
                  <a:pt x="2774120" y="1248464"/>
                </a:cubicBezTo>
                <a:lnTo>
                  <a:pt x="2779056" y="1346200"/>
                </a:lnTo>
                <a:lnTo>
                  <a:pt x="2781300" y="1346200"/>
                </a:lnTo>
                <a:lnTo>
                  <a:pt x="2781300" y="1390650"/>
                </a:lnTo>
                <a:lnTo>
                  <a:pt x="2781300" y="5270500"/>
                </a:lnTo>
                <a:lnTo>
                  <a:pt x="0" y="5270500"/>
                </a:lnTo>
                <a:lnTo>
                  <a:pt x="0" y="1390650"/>
                </a:lnTo>
                <a:lnTo>
                  <a:pt x="0" y="1346200"/>
                </a:lnTo>
                <a:lnTo>
                  <a:pt x="2245" y="1346200"/>
                </a:lnTo>
                <a:lnTo>
                  <a:pt x="7180" y="1248464"/>
                </a:lnTo>
                <a:cubicBezTo>
                  <a:pt x="78395" y="547220"/>
                  <a:pt x="670617" y="0"/>
                  <a:pt x="13906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7E523-BFA2-F03F-FCFE-0961DD084218}"/>
              </a:ext>
            </a:extLst>
          </p:cNvPr>
          <p:cNvSpPr txBox="1"/>
          <p:nvPr/>
        </p:nvSpPr>
        <p:spPr>
          <a:xfrm>
            <a:off x="1416050" y="2667000"/>
            <a:ext cx="935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Now, armed with knowledge of the tasks to come, you take your first steps into the unknown.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63471F-785C-ED8D-303B-AB778CD243CA}"/>
              </a:ext>
            </a:extLst>
          </p:cNvPr>
          <p:cNvSpPr/>
          <p:nvPr/>
        </p:nvSpPr>
        <p:spPr>
          <a:xfrm>
            <a:off x="4705350" y="4024767"/>
            <a:ext cx="2781300" cy="5270500"/>
          </a:xfrm>
          <a:custGeom>
            <a:avLst/>
            <a:gdLst>
              <a:gd name="connsiteX0" fmla="*/ 1390650 w 2781300"/>
              <a:gd name="connsiteY0" fmla="*/ 0 h 5270500"/>
              <a:gd name="connsiteX1" fmla="*/ 2774120 w 2781300"/>
              <a:gd name="connsiteY1" fmla="*/ 1248464 h 5270500"/>
              <a:gd name="connsiteX2" fmla="*/ 2779056 w 2781300"/>
              <a:gd name="connsiteY2" fmla="*/ 1346200 h 5270500"/>
              <a:gd name="connsiteX3" fmla="*/ 2781300 w 2781300"/>
              <a:gd name="connsiteY3" fmla="*/ 1346200 h 5270500"/>
              <a:gd name="connsiteX4" fmla="*/ 2781300 w 2781300"/>
              <a:gd name="connsiteY4" fmla="*/ 1390650 h 5270500"/>
              <a:gd name="connsiteX5" fmla="*/ 2781300 w 2781300"/>
              <a:gd name="connsiteY5" fmla="*/ 5270500 h 5270500"/>
              <a:gd name="connsiteX6" fmla="*/ 0 w 2781300"/>
              <a:gd name="connsiteY6" fmla="*/ 5270500 h 5270500"/>
              <a:gd name="connsiteX7" fmla="*/ 0 w 2781300"/>
              <a:gd name="connsiteY7" fmla="*/ 1390650 h 5270500"/>
              <a:gd name="connsiteX8" fmla="*/ 0 w 2781300"/>
              <a:gd name="connsiteY8" fmla="*/ 1346200 h 5270500"/>
              <a:gd name="connsiteX9" fmla="*/ 2245 w 2781300"/>
              <a:gd name="connsiteY9" fmla="*/ 1346200 h 5270500"/>
              <a:gd name="connsiteX10" fmla="*/ 7180 w 2781300"/>
              <a:gd name="connsiteY10" fmla="*/ 1248464 h 5270500"/>
              <a:gd name="connsiteX11" fmla="*/ 1390650 w 2781300"/>
              <a:gd name="connsiteY11" fmla="*/ 0 h 527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81300" h="5270500">
                <a:moveTo>
                  <a:pt x="1390650" y="0"/>
                </a:moveTo>
                <a:cubicBezTo>
                  <a:pt x="2110683" y="0"/>
                  <a:pt x="2702905" y="547220"/>
                  <a:pt x="2774120" y="1248464"/>
                </a:cubicBezTo>
                <a:lnTo>
                  <a:pt x="2779056" y="1346200"/>
                </a:lnTo>
                <a:lnTo>
                  <a:pt x="2781300" y="1346200"/>
                </a:lnTo>
                <a:lnTo>
                  <a:pt x="2781300" y="1390650"/>
                </a:lnTo>
                <a:lnTo>
                  <a:pt x="2781300" y="5270500"/>
                </a:lnTo>
                <a:lnTo>
                  <a:pt x="0" y="5270500"/>
                </a:lnTo>
                <a:lnTo>
                  <a:pt x="0" y="1390650"/>
                </a:lnTo>
                <a:lnTo>
                  <a:pt x="0" y="1346200"/>
                </a:lnTo>
                <a:lnTo>
                  <a:pt x="2245" y="1346200"/>
                </a:lnTo>
                <a:lnTo>
                  <a:pt x="7180" y="1248464"/>
                </a:lnTo>
                <a:cubicBezTo>
                  <a:pt x="78395" y="547220"/>
                  <a:pt x="670617" y="0"/>
                  <a:pt x="13906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1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4" grpId="0" animBg="1"/>
      <p:bldP spid="15" grpId="0" animBg="1"/>
      <p:bldP spid="5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76532C-FF43-A7FD-3547-B1309EA6BC2D}"/>
              </a:ext>
            </a:extLst>
          </p:cNvPr>
          <p:cNvSpPr txBox="1"/>
          <p:nvPr/>
        </p:nvSpPr>
        <p:spPr>
          <a:xfrm>
            <a:off x="1879600" y="2967335"/>
            <a:ext cx="843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DP COMPUTER SCIENCE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9E1B5-F303-057B-418B-7DECE3904531}"/>
              </a:ext>
            </a:extLst>
          </p:cNvPr>
          <p:cNvSpPr txBox="1"/>
          <p:nvPr/>
        </p:nvSpPr>
        <p:spPr>
          <a:xfrm>
            <a:off x="4711700" y="3705999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may </a:t>
            </a:r>
            <a:r>
              <a:rPr lang="en-US"/>
              <a:t>now applaud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47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3967</TotalTime>
  <Words>1031</Words>
  <Application>Microsoft Office PowerPoint</Application>
  <PresentationFormat>Widescreen</PresentationFormat>
  <Paragraphs>135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Bahnschrift</vt:lpstr>
      <vt:lpstr>Palace Script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</cp:revision>
  <dcterms:created xsi:type="dcterms:W3CDTF">2025-08-08T18:52:53Z</dcterms:created>
  <dcterms:modified xsi:type="dcterms:W3CDTF">2025-08-11T18:27:48Z</dcterms:modified>
</cp:coreProperties>
</file>