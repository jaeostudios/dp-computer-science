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4" autoAdjust="0"/>
    <p:restoredTop sz="89467" autoAdjust="0"/>
  </p:normalViewPr>
  <p:slideViewPr>
    <p:cSldViewPr snapToGrid="0">
      <p:cViewPr varScale="1">
        <p:scale>
          <a:sx n="44" d="100"/>
          <a:sy n="44" d="100"/>
        </p:scale>
        <p:origin x="56" y="10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3352F-B7D4-C1E2-E066-89E42C22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FB9E0F-EC02-09FB-37DD-F9C538009A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BD46CE-1E7A-5CC1-A4DD-69739AB468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D76D5-7429-CC79-4D75-69AF20034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96721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TOPIC A4:</a:t>
            </a:r>
          </a:p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MACHINE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LESSON A4-6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5808133" y="3728134"/>
            <a:ext cx="4500000" cy="7622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600" dirty="0">
                <a:latin typeface="Bahnschrift SemiBold" panose="020B0502040204020203" pitchFamily="34" charset="0"/>
              </a:rPr>
              <a:t>DECISION TREES</a:t>
            </a:r>
          </a:p>
        </p:txBody>
      </p:sp>
      <p:sp>
        <p:nvSpPr>
          <p:cNvPr id="10" name="Star: 12 Points 9">
            <a:extLst>
              <a:ext uri="{FF2B5EF4-FFF2-40B4-BE49-F238E27FC236}">
                <a16:creationId xmlns:a16="http://schemas.microsoft.com/office/drawing/2014/main" id="{66B26B19-2889-E42C-A01D-5774525E4EE3}"/>
              </a:ext>
            </a:extLst>
          </p:cNvPr>
          <p:cNvSpPr/>
          <p:nvPr/>
        </p:nvSpPr>
        <p:spPr>
          <a:xfrm>
            <a:off x="5256811" y="1077733"/>
            <a:ext cx="1647265" cy="1647265"/>
          </a:xfrm>
          <a:prstGeom prst="star12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Guided Notes</a:t>
            </a:r>
          </a:p>
          <a:p>
            <a:pPr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ur hedz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Warm up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What a decision tree is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Reading a tree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Building a tree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Choosing the first question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When the tree stops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Trees against k-NN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Medical diagnosis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Lab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D8CA8B0B-29B4-4F45-A9BE-88F49F9B442F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D1CAEE-B319-A780-9B96-038987577C8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6E9AA4A-F120-DD17-0CB0-2E85BDEF169E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F514AF8-7688-1CAF-271C-812A3A4CA6FC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0311B9-8000-00E2-EA2F-52B51C9C4A41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(a) A regression line is y = 0.4x + 15. State what the 0.4 means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(b) Calculate the predicted y when x = 20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(c) State what k-NN does with a new data point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Q1 (a), (b), (c)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D908BF-3440-E0DF-2F0E-30B56B6F8098}"/>
              </a:ext>
            </a:extLst>
          </p:cNvPr>
          <p:cNvSpPr/>
          <p:nvPr/>
        </p:nvSpPr>
        <p:spPr>
          <a:xfrm>
            <a:off x="1989750" y="65791"/>
            <a:ext cx="7615450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WARM UP QUESTION</a:t>
            </a:r>
          </a:p>
        </p:txBody>
      </p:sp>
      <p:pic>
        <p:nvPicPr>
          <p:cNvPr id="22" name="Picture 21" descr="url_upload_6a7f3d9e572a4.gif [effects output image]">
            <a:extLst>
              <a:ext uri="{FF2B5EF4-FFF2-40B4-BE49-F238E27FC236}">
                <a16:creationId xmlns:a16="http://schemas.microsoft.com/office/drawing/2014/main" id="{D9271AD9-D578-11DF-7DA1-51581A51B57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24" name="Picture 23" descr="url_upload_6a7f3d9e572a4.gif [effects output image]">
            <a:extLst>
              <a:ext uri="{FF2B5EF4-FFF2-40B4-BE49-F238E27FC236}">
                <a16:creationId xmlns:a16="http://schemas.microsoft.com/office/drawing/2014/main" id="{B30C67D8-C8AA-F1F8-B373-1AECB05C01A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26" name="Picture 25" descr="url_upload_6a7f3d9e572a4.gif [effects output image]">
            <a:extLst>
              <a:ext uri="{FF2B5EF4-FFF2-40B4-BE49-F238E27FC236}">
                <a16:creationId xmlns:a16="http://schemas.microsoft.com/office/drawing/2014/main" id="{BFEBAE74-AEA2-B3C2-EF07-F84EA1B7D41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28" name="Picture 27" descr="url_upload_6a7f3d9e572a4.gif [effects output image]">
            <a:extLst>
              <a:ext uri="{FF2B5EF4-FFF2-40B4-BE49-F238E27FC236}">
                <a16:creationId xmlns:a16="http://schemas.microsoft.com/office/drawing/2014/main" id="{BD5F3A05-97A3-AEB7-0085-9F08A9DC8C5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30" name="Picture 29" descr="url_upload_6a7f3d9e572a4.gif [effects output image]">
            <a:extLst>
              <a:ext uri="{FF2B5EF4-FFF2-40B4-BE49-F238E27FC236}">
                <a16:creationId xmlns:a16="http://schemas.microsoft.com/office/drawing/2014/main" id="{A17A3B87-5760-271D-2622-96C0BC318E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32" name="Picture 31" descr="url_upload_6a7f3d9e572a4.gif [effects output image]">
            <a:extLst>
              <a:ext uri="{FF2B5EF4-FFF2-40B4-BE49-F238E27FC236}">
                <a16:creationId xmlns:a16="http://schemas.microsoft.com/office/drawing/2014/main" id="{D6465FBC-B66B-79FB-ACEB-2DCDCF85F1E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34" name="Picture 33" descr="url_upload_6a7f3d9e572a4.gif [effects output image]">
            <a:extLst>
              <a:ext uri="{FF2B5EF4-FFF2-40B4-BE49-F238E27FC236}">
                <a16:creationId xmlns:a16="http://schemas.microsoft.com/office/drawing/2014/main" id="{E2180E99-6E7F-D0AD-5B11-3A8AD8CC71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36" name="Picture 35" descr="url_upload_6a7f3d9e572a4.gif [effects output image]">
            <a:extLst>
              <a:ext uri="{FF2B5EF4-FFF2-40B4-BE49-F238E27FC236}">
                <a16:creationId xmlns:a16="http://schemas.microsoft.com/office/drawing/2014/main" id="{0130BB2A-2F5C-C6D8-B500-A2A8AC710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7D341957-430A-EF60-D3EA-CD511D2CA7D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D7D693E-B573-D0BC-DFB1-6C79697387B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F25AC2E-0D02-E810-9216-42CF152FB28F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793B20-5976-9D4C-5A7B-1C85E4E6D59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3F6CA5-D24F-822D-5553-1951788E1282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(a) Every one-unit rise in x raises y by 0.4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(b) 0.4 × 20 + 15 = 23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(c) It measures the distance to every stored example, takes the k closest, and the most common category is what is inferred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0C41D60-D405-256A-C157-C77194A788CD}"/>
              </a:ext>
            </a:extLst>
          </p:cNvPr>
          <p:cNvSpPr/>
          <p:nvPr/>
        </p:nvSpPr>
        <p:spPr>
          <a:xfrm>
            <a:off x="1989750" y="65791"/>
            <a:ext cx="7615450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WARM UP ANSWER</a:t>
            </a:r>
          </a:p>
        </p:txBody>
      </p:sp>
      <p:pic>
        <p:nvPicPr>
          <p:cNvPr id="49" name="Picture 48" descr="url_upload_6a7f3d9e572a4.gif [effects output image]">
            <a:extLst>
              <a:ext uri="{FF2B5EF4-FFF2-40B4-BE49-F238E27FC236}">
                <a16:creationId xmlns:a16="http://schemas.microsoft.com/office/drawing/2014/main" id="{1F63E1F1-0756-EF0C-E6AF-968433CAC62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51" name="Picture 50" descr="url_upload_6a7f3d9e572a4.gif [effects output image]">
            <a:extLst>
              <a:ext uri="{FF2B5EF4-FFF2-40B4-BE49-F238E27FC236}">
                <a16:creationId xmlns:a16="http://schemas.microsoft.com/office/drawing/2014/main" id="{8A9E958D-CAB4-E31F-D274-C5DC23B9AAB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53" name="Picture 52" descr="url_upload_6a7f3d9e572a4.gif [effects output image]">
            <a:extLst>
              <a:ext uri="{FF2B5EF4-FFF2-40B4-BE49-F238E27FC236}">
                <a16:creationId xmlns:a16="http://schemas.microsoft.com/office/drawing/2014/main" id="{EFA8071E-ECE9-5E87-EBC1-9406172589E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55" name="Picture 54" descr="url_upload_6a7f3d9e572a4.gif [effects output image]">
            <a:extLst>
              <a:ext uri="{FF2B5EF4-FFF2-40B4-BE49-F238E27FC236}">
                <a16:creationId xmlns:a16="http://schemas.microsoft.com/office/drawing/2014/main" id="{535DAD8F-0FF6-7295-4492-667763D062E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57" name="Picture 56" descr="url_upload_6a7f3d9e572a4.gif [effects output image]">
            <a:extLst>
              <a:ext uri="{FF2B5EF4-FFF2-40B4-BE49-F238E27FC236}">
                <a16:creationId xmlns:a16="http://schemas.microsoft.com/office/drawing/2014/main" id="{B0551EF5-1990-2D5E-C471-94E2AF03B5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59" name="Picture 58" descr="url_upload_6a7f3d9e572a4.gif [effects output image]">
            <a:extLst>
              <a:ext uri="{FF2B5EF4-FFF2-40B4-BE49-F238E27FC236}">
                <a16:creationId xmlns:a16="http://schemas.microsoft.com/office/drawing/2014/main" id="{F6F5A0E4-4228-1D5B-57AD-F5A99AEDE57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61" name="Picture 60" descr="url_upload_6a7f3d9e572a4.gif [effects output image]">
            <a:extLst>
              <a:ext uri="{FF2B5EF4-FFF2-40B4-BE49-F238E27FC236}">
                <a16:creationId xmlns:a16="http://schemas.microsoft.com/office/drawing/2014/main" id="{42DA75FB-0429-60F7-5515-8B7E611343C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63" name="Picture 62" descr="url_upload_6a7f3d9e572a4.gif [effects output image]">
            <a:extLst>
              <a:ext uri="{FF2B5EF4-FFF2-40B4-BE49-F238E27FC236}">
                <a16:creationId xmlns:a16="http://schemas.microsoft.com/office/drawing/2014/main" id="{02320BBC-A140-08D8-5B51-6950E8894A3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755918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decision tree</a:t>
            </a:r>
            <a:r>
              <a:rPr lang="en-US" sz="2400" dirty="0">
                <a:latin typeface="Bahnschrift" panose="020B0502040204020203" pitchFamily="34" charset="0"/>
              </a:rPr>
              <a:t> is a chain of yes-or-no questions ending in an answer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These are very similar to flowcharts, or the tree abstract data structure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Programmers aren’t particularly creative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root node</a:t>
            </a:r>
            <a:r>
              <a:rPr lang="en-US" sz="2400" dirty="0">
                <a:latin typeface="Bahnschrift" panose="020B0502040204020203" pitchFamily="34" charset="0"/>
              </a:rPr>
              <a:t> is the first question, at the top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Each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branch</a:t>
            </a:r>
            <a:r>
              <a:rPr lang="en-US" sz="2400" dirty="0">
                <a:latin typeface="Bahnschrift" panose="020B0502040204020203" pitchFamily="34" charset="0"/>
              </a:rPr>
              <a:t> is one answer to a question, and leads either to another question or to the end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leaf node</a:t>
            </a:r>
            <a:r>
              <a:rPr lang="en-US" sz="2400" dirty="0">
                <a:latin typeface="Bahnschrift" panose="020B0502040204020203" pitchFamily="34" charset="0"/>
              </a:rPr>
              <a:t> is where the categories are, there is no question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tree becomes the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719040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WHAT A DECISION TREE IS</a:t>
            </a:r>
          </a:p>
        </p:txBody>
      </p:sp>
      <p:pic>
        <p:nvPicPr>
          <p:cNvPr id="2" name="Picture 1" descr="Whispy Woods - WiKirby: it's a wiki, about Kirby!">
            <a:extLst>
              <a:ext uri="{FF2B5EF4-FFF2-40B4-BE49-F238E27FC236}">
                <a16:creationId xmlns:a16="http://schemas.microsoft.com/office/drawing/2014/main" id="{7B4136AE-7E2D-CD87-8774-D6B7CC78B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424" y="3922722"/>
            <a:ext cx="2939310" cy="32607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642375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Like k-NN, a tree does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classification</a:t>
            </a:r>
            <a:r>
              <a:rPr lang="en-US" sz="2400" dirty="0">
                <a:latin typeface="Bahnschrift" panose="020B0502040204020203" pitchFamily="34" charset="0"/>
              </a:rPr>
              <a:t>, where the answer is a category, not a number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Unlike k-NN, we discard the training data when the tree model is complete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Inference happens by beginning at the root, and getting to a leaf, going down one question at a time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Three questions deep is three comparisons, regardless of how much was in the training dataset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Q2 (a), (b) and (c)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719040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WHAT A DECISION TREE IS</a:t>
            </a:r>
          </a:p>
        </p:txBody>
      </p:sp>
      <p:pic>
        <p:nvPicPr>
          <p:cNvPr id="6" name="Picture 5" descr="How To Use Decision Tree In Machine Learning at Anthony Griggs blog">
            <a:extLst>
              <a:ext uri="{FF2B5EF4-FFF2-40B4-BE49-F238E27FC236}">
                <a16:creationId xmlns:a16="http://schemas.microsoft.com/office/drawing/2014/main" id="{E31759D4-2727-F1B0-7330-CB8C3EC54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724" y="2003934"/>
            <a:ext cx="5083276" cy="35709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755918" cy="22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Here is a tree in table format built from eight patients, either having the flu or a cold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To classify somebody, start at the top and follow the answers down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If you’re a bio (or ESS!) nerd, this is a LOT like a dichotomous key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60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READING A TREE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96000" y="3700000"/>
          <a:ext cx="9000000" cy="15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Question / leaf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If no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If yes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Body aches?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Cold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go to the next question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High fever?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Cold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Flu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755918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Assume that a patient arrives with no body aches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answers our first question, and leads us to the leaf node of Cold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second patient has body aches and a high fever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Follow the body aches to the high fever question, leading you to flu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third has body aches but no fever. Follow the first question to the high fever question, which evaluates to cold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Q3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528361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READING A TREE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E153F9A-B443-5940-6CB8-5E676F9E2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351272"/>
              </p:ext>
            </p:extLst>
          </p:nvPr>
        </p:nvGraphicFramePr>
        <p:xfrm>
          <a:off x="1596000" y="5194552"/>
          <a:ext cx="9000000" cy="15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Question / leaf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If no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If yes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Body aches?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Cold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go to the next question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High fever?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Cold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Flu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755918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That tree was, of course, not written by a doctor, but made from training data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algorithm is greedy: it picks the top question it can ask right now, and does the same for each of the two sides of the tree that makes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top question is the one that separates the categories most cleanly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group with only one category left in it is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pure</a:t>
            </a:r>
            <a:r>
              <a:rPr lang="en-US" sz="2400" dirty="0">
                <a:latin typeface="Bahnschrift" panose="020B0502040204020203" pitchFamily="34" charset="0"/>
              </a:rPr>
              <a:t>, and becomes a leaf immediately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guide does not ask you to calculate the measure of purity, so we’ll just count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528361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BUILDING A TREE</a:t>
            </a:r>
          </a:p>
        </p:txBody>
      </p:sp>
      <p:pic>
        <p:nvPicPr>
          <p:cNvPr id="3" name="Picture 2" descr="90+ Possessive Ly Stock Photos, Pictures &amp; Royalty-Free Images - iStock">
            <a:extLst>
              <a:ext uri="{FF2B5EF4-FFF2-40B4-BE49-F238E27FC236}">
                <a16:creationId xmlns:a16="http://schemas.microsoft.com/office/drawing/2014/main" id="{C4543FD8-910C-3B75-3A9B-F7E5FEA1D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67" y="4922984"/>
            <a:ext cx="2520351" cy="1779071"/>
          </a:xfrm>
          <a:prstGeom prst="rect">
            <a:avLst/>
          </a:prstGeom>
        </p:spPr>
      </p:pic>
      <p:pic>
        <p:nvPicPr>
          <p:cNvPr id="10" name="Picture 9" descr="How To Use Decision Tree In Machine Learning at Anthony Griggs blog">
            <a:extLst>
              <a:ext uri="{FF2B5EF4-FFF2-40B4-BE49-F238E27FC236}">
                <a16:creationId xmlns:a16="http://schemas.microsoft.com/office/drawing/2014/main" id="{DBB8877C-7A56-144E-B994-167CE11A4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0293" y="4922984"/>
            <a:ext cx="2643506" cy="18570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755918" cy="14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Here’s the training data with three flu cases and five cold cases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484335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BUILDING A TREE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346000" y="2900000"/>
          <a:ext cx="7500000" cy="36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Patient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Fever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Aches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Sore throat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Diagnosis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P1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Yes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Yes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No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Flu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P2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Yes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Yes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Yes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Flu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P3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Yes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No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Yes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Cold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P4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No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No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Yes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Cold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P5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No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No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No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Cold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P6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Yes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Yes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No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Flu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P7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No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Yes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Yes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Cold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P8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Yes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No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No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Cold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755918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Three possible first questions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Try each one and count how well that divides the data set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Fever splits them 5 and 3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‘No’ side is three colds and nothing else, so that side is pure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Yes side is still 3 flu against 2 colds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Sore throat splits them 4 and 4, but neither side is pure — 1 against 3, and 2 against 2, which makes the information hard to use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Aches splits them 4 and 4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No side is four colds and nothing else, and the Yes side is 3 flu against 1 cold.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836548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CHOOSING THE FIRST QUESTION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755918" cy="18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For each choice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855175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CHOOSING THE FIRST QUESTION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46000" y="3300000"/>
          <a:ext cx="8700000" cy="17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First question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If no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If yes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High fever?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0 flu, 3 cold  (pure)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3 flu, 2 cold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Body aches?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0 flu, 4 cold  (pure)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3 flu, 1 cold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Sore throat?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2 flu, 2 cold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 flu, 3 cold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755918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Aches is the best first choice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Its pure side is bigger, and the data is a tad less messy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No branch is completed already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 Those four colds become a leaf saying Cold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Yes branch still holds P1, P2, P6 and P7, which is 3 flu against 1 cold, we still need to ask a second question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At this point, splitting on fever comes out pure: P1, P2 and P6 all have a fever and all have flu, and P7 has neither a fever nor flu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There is nothing impure here, so we can put categories as the result of this question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Q4 and Q5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838241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CHOOSING THE FIRST QUESTION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755918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Note that we never asked about sore throat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tree automatically removed that column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That is the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embedded method</a:t>
            </a:r>
            <a:r>
              <a:rPr lang="en-US" sz="2400" dirty="0">
                <a:latin typeface="Bahnschrift" panose="020B0502040204020203" pitchFamily="34" charset="0"/>
              </a:rPr>
              <a:t> from lesson A4-4, – we automatically selected a feature while training! Woo!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filter method would have scored sore throat on its own and may have ended up keeping it unnecessarily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867028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CHOOSING THE FIRST QUESTION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BE58CA-EA42-F130-5529-2B78B9ED5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525" y="4226244"/>
            <a:ext cx="2319867" cy="2319867"/>
          </a:xfrm>
          <a:prstGeom prst="rect">
            <a:avLst/>
          </a:prstGeom>
        </p:spPr>
      </p:pic>
      <p:pic>
        <p:nvPicPr>
          <p:cNvPr id="6" name="Picture 5" descr="Fever Clipart | Free download on ClipArtMag">
            <a:extLst>
              <a:ext uri="{FF2B5EF4-FFF2-40B4-BE49-F238E27FC236}">
                <a16:creationId xmlns:a16="http://schemas.microsoft.com/office/drawing/2014/main" id="{D28F04B2-F0A8-0CEB-DC10-97D6F99F4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268" y="4415631"/>
            <a:ext cx="2167887" cy="1941092"/>
          </a:xfrm>
          <a:prstGeom prst="rect">
            <a:avLst/>
          </a:prstGeom>
        </p:spPr>
      </p:pic>
      <p:pic>
        <p:nvPicPr>
          <p:cNvPr id="10" name="Picture 9" descr="My Whole Body Aches : Body Aches, Chills, and No Fever: 11 Causes and ...">
            <a:extLst>
              <a:ext uri="{FF2B5EF4-FFF2-40B4-BE49-F238E27FC236}">
                <a16:creationId xmlns:a16="http://schemas.microsoft.com/office/drawing/2014/main" id="{4E8D4786-3CB1-C623-9064-6649A735C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4975" y="4274274"/>
            <a:ext cx="1685150" cy="2223805"/>
          </a:xfrm>
          <a:prstGeom prst="rect">
            <a:avLst/>
          </a:prstGeom>
        </p:spPr>
      </p:pic>
      <p:pic>
        <p:nvPicPr>
          <p:cNvPr id="11" name="Picture 10" descr="NUKE PERFORMANCE Fuel Rail Kraftstoffverteiler passend für Opel C30SE ...">
            <a:extLst>
              <a:ext uri="{FF2B5EF4-FFF2-40B4-BE49-F238E27FC236}">
                <a16:creationId xmlns:a16="http://schemas.microsoft.com/office/drawing/2014/main" id="{EFD7D555-B661-1CB7-DA50-6ACDD5622B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8879" y="3548571"/>
            <a:ext cx="3418417" cy="34184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755918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Our tree got all eight patients right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In its default state, a tree keeps splitting until every leaf is pure, even if that means one patient per leaf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tree like that scores perfectly on the data it from its training set, but will be spectacularly bad on any new data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is an example of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overfitting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We have to tell the training algorithm when to stop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662135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WHEN THE TREE STOPS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755918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Maximum depth - stop training once a set number of questions have been established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Minimum samples per leaf – refuse to split on a group that is already too small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Pruning</a:t>
            </a:r>
            <a:r>
              <a:rPr lang="en-US" sz="2400" dirty="0">
                <a:latin typeface="Bahnschrift" panose="020B0502040204020203" pitchFamily="34" charset="0"/>
              </a:rPr>
              <a:t> – grow the tree fully, but shorten branches that won’t be helpful on new data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All of these are steps that we have to choose, and are not automatically done in the training process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setting chosen by you and NOT trained is called 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hyperparameter</a:t>
            </a:r>
            <a:r>
              <a:rPr lang="en-US" sz="2400" dirty="0">
                <a:latin typeface="Bahnschrift" panose="020B0502040204020203" pitchFamily="34" charset="0"/>
              </a:rPr>
              <a:t>, like the k from k-NN on the last lesson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Q6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623188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WHEN THE TREE STOPS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755918" cy="16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They work very differently, even though they ‘solve the same problem’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579161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TREES AGAINST K-NN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359448"/>
              </p:ext>
            </p:extLst>
          </p:nvPr>
        </p:nvGraphicFramePr>
        <p:xfrm>
          <a:off x="1446000" y="3100000"/>
          <a:ext cx="9300000" cy="2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k-NN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Decision tree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At training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Stores every example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Builds the tree, drops the data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At prediction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Distance to all of them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A few yes or no questions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1A3C40"/>
                          </a:solidFill>
                          <a:latin typeface="Bahnschrift"/>
                        </a:rPr>
                        <a:t>Needs </a:t>
                      </a:r>
                      <a:r>
                        <a:rPr lang="en-US" sz="1700" b="1" dirty="0">
                          <a:solidFill>
                            <a:srgbClr val="1A3C40"/>
                          </a:solidFill>
                          <a:latin typeface="Bahnschrift"/>
                        </a:rPr>
                        <a:t>normalization</a:t>
                      </a:r>
                      <a:r>
                        <a:rPr sz="1700" b="1" dirty="0">
                          <a:solidFill>
                            <a:srgbClr val="1A3C40"/>
                          </a:solidFill>
                          <a:latin typeface="Bahnschrift"/>
                        </a:rPr>
                        <a:t>?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Yes, badly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No, one column at a time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Can you read it?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Not really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Yes, follow the path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755918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Pay extra close attention to the necessity of normalization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k-NN compares columns against each other using the distance formula, so the units have to be similar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tree only ever asks about one column at a time, so it never compares two things like shoe size and height at the same time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Now, if you do normalize - the tree builds the same shape either way, so it’s not like a bad thing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623188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TREES AGAINST K-NN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755918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guide names medical diagnosis from a patient's symptoms as one application of decision trees, so that is the example to give if asked on an IB exam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reason is that the path is readable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tree can show a doctor the process that it followed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“No aches, so cold” makes sense logically, but saying “These three patients were nearest using k-NN” is not particularly helpful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In medicine, law and lending, being able to show the reasoning is often worth more than being slightly more accurate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623188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MEDICAL DIAGNOSIS</a:t>
            </a:r>
          </a:p>
        </p:txBody>
      </p:sp>
      <p:pic>
        <p:nvPicPr>
          <p:cNvPr id="2" name="Picture 1" descr="Nerd Dog Meme | Nerd Dog | Know Your Meme">
            <a:extLst>
              <a:ext uri="{FF2B5EF4-FFF2-40B4-BE49-F238E27FC236}">
                <a16:creationId xmlns:a16="http://schemas.microsoft.com/office/drawing/2014/main" id="{56A29D72-1DCE-F86D-2193-BC76D6254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094" y="4947544"/>
            <a:ext cx="2027899" cy="20194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0AEC8-23B7-27D2-600B-3661D346E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28C3349-1C47-7F83-A663-A81E3D73F59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083985-433C-BFAC-9F7F-8B1B4EF4B9E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CFD3940-F318-9F7A-597A-A7287B52976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C17377-5A0C-B275-091E-4B5EEFF802A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C328A5-E085-AECA-2A30-E5900DEA9BD2}"/>
              </a:ext>
            </a:extLst>
          </p:cNvPr>
          <p:cNvSpPr/>
          <p:nvPr/>
        </p:nvSpPr>
        <p:spPr>
          <a:xfrm>
            <a:off x="630768" y="1299334"/>
            <a:ext cx="10755918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6002B0-F2FD-4FD3-5E68-43041B6F8D85}"/>
              </a:ext>
            </a:extLst>
          </p:cNvPr>
          <p:cNvSpPr/>
          <p:nvPr/>
        </p:nvSpPr>
        <p:spPr>
          <a:xfrm>
            <a:off x="-135885" y="155968"/>
            <a:ext cx="623188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MEDICAL DIAGNOSIS</a:t>
            </a:r>
          </a:p>
        </p:txBody>
      </p:sp>
      <p:pic>
        <p:nvPicPr>
          <p:cNvPr id="2" name="Picture 1" descr="CAS Differential Diagnostic Checklist - Communication Station ...">
            <a:extLst>
              <a:ext uri="{FF2B5EF4-FFF2-40B4-BE49-F238E27FC236}">
                <a16:creationId xmlns:a16="http://schemas.microsoft.com/office/drawing/2014/main" id="{6829932E-DFD8-D5A1-71DC-6F9A3ED96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960" y="1315664"/>
            <a:ext cx="7144747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253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755918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Q9 and Q10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Q9 A table of six students is given. Work out which of two columns makes the better first split, showing your counts, then draw the tree. [5]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Q10 Explain one advantage of a decision tree over k-NN, and one advantage of k-NN over a decision tree. [3]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16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LAB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2897663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Decision tree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Root node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Branch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Leaf node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Classification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Pure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Greedy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F6C99-7DA9-E963-361C-ABB7A467AD11}"/>
              </a:ext>
            </a:extLst>
          </p:cNvPr>
          <p:cNvSpPr/>
          <p:nvPr/>
        </p:nvSpPr>
        <p:spPr>
          <a:xfrm>
            <a:off x="3714308" y="1299334"/>
            <a:ext cx="360637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Overfitting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Maximum depth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Minimum samples per leaf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Pruning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Hyperparameter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Embedded method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Explainability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2C1F0-BFEA-FF64-C8D1-26451E9CF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C00000"/>
      </a:accent1>
      <a:accent2>
        <a:srgbClr val="C00000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48258</TotalTime>
  <Words>1545</Words>
  <Application>Microsoft Office PowerPoint</Application>
  <PresentationFormat>Widescreen</PresentationFormat>
  <Paragraphs>224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52</cp:revision>
  <dcterms:created xsi:type="dcterms:W3CDTF">2025-08-11T14:07:39Z</dcterms:created>
  <dcterms:modified xsi:type="dcterms:W3CDTF">2026-10-28T17:18:05Z</dcterms:modified>
</cp:coreProperties>
</file>