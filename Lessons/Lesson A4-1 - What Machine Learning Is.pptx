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78" r:id="rId7"/>
    <p:sldId id="261" r:id="rId8"/>
    <p:sldId id="279" r:id="rId9"/>
    <p:sldId id="280" r:id="rId10"/>
    <p:sldId id="281" r:id="rId11"/>
    <p:sldId id="262" r:id="rId12"/>
    <p:sldId id="263" r:id="rId13"/>
    <p:sldId id="264" r:id="rId14"/>
    <p:sldId id="265" r:id="rId15"/>
    <p:sldId id="266" r:id="rId16"/>
    <p:sldId id="282" r:id="rId17"/>
    <p:sldId id="267" r:id="rId18"/>
    <p:sldId id="268" r:id="rId19"/>
    <p:sldId id="283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84" r:id="rId28"/>
    <p:sldId id="277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CC"/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B88676-9CF1-40E8-8C94-FCEADEF07F29}" v="1" dt="2026-09-25T18:47:52.2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84" autoAdjust="0"/>
    <p:restoredTop sz="89467" autoAdjust="0"/>
  </p:normalViewPr>
  <p:slideViewPr>
    <p:cSldViewPr snapToGrid="0">
      <p:cViewPr varScale="1">
        <p:scale>
          <a:sx n="57" d="100"/>
          <a:sy n="57" d="100"/>
        </p:scale>
        <p:origin x="42" y="9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modSld">
      <pc:chgData name="Michael Hill" userId="41dba03d-e58d-4389-9894-554c10310ba4" providerId="ADAL" clId="{EF23FE1D-A042-481E-AFD7-2A9FB0847F54}" dt="2026-09-25T18:47:52.238" v="0"/>
      <pc:docMkLst>
        <pc:docMk/>
      </pc:docMkLst>
      <pc:sldChg chg="addSp modSp modAnim">
        <pc:chgData name="Michael Hill" userId="41dba03d-e58d-4389-9894-554c10310ba4" providerId="ADAL" clId="{EF23FE1D-A042-481E-AFD7-2A9FB0847F54}" dt="2026-09-25T18:47:52.238" v="0"/>
        <pc:sldMkLst>
          <pc:docMk/>
          <pc:sldMk cId="3763834446" sldId="284"/>
        </pc:sldMkLst>
        <pc:picChg chg="add mod">
          <ac:chgData name="Michael Hill" userId="41dba03d-e58d-4389-9894-554c10310ba4" providerId="ADAL" clId="{EF23FE1D-A042-481E-AFD7-2A9FB0847F54}" dt="2026-09-25T18:47:52.238" v="0"/>
          <ac:picMkLst>
            <pc:docMk/>
            <pc:sldMk cId="3763834446" sldId="284"/>
            <ac:picMk id="2" creationId="{260B4522-B4E6-28D6-12A0-0F50EF71F89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6672B-D6B1-085F-5118-888A42B8C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38A0BA-0F95-1F23-C877-F3B55209F4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F3FAAB-EA17-7E54-A864-A3604967BF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7CF89-E8F0-58D7-9D70-02083FEE90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642534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96447-FB79-7EFA-D76A-2C5F4182E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302955-4ADA-3C9E-356E-EAAE8AB728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7E93B4-DF37-5C9A-E6F2-571D6FD752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D57E5-11D5-4C97-0892-FD22A350D3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63732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ABE8C-6EEC-FE9B-DD1F-2D4C3E232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8C5267-F6DF-1964-75A3-6F37814A83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3ECFFF-F765-E28D-C5CB-871B6DAF45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639B96-BAB7-BCBC-8F1B-AA294BC32E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195653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6C8B5-6D9C-D7C4-BAA7-0EBC58538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E7D8A8-65F2-5333-9C2D-25E5B994C4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304B5B-6039-7C6F-0EA9-85013B1EE1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683A9-1E49-1D23-2679-55464BF51F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19813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y9B75hH26yU?feature=oembed" TargetMode="Externa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qv6UVOQ0F44?feature=oembed" TargetMode="External"/><Relationship Id="rId4" Type="http://schemas.openxmlformats.org/officeDocument/2006/relationships/image" Target="../media/image9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800" dirty="0">
                <a:latin typeface="Bahnschrift SemiBold" panose="020B0502040204020203" pitchFamily="34" charset="0"/>
              </a:rPr>
              <a:t>TOPIC A4:</a:t>
            </a:r>
          </a:p>
          <a:p>
            <a:pPr marL="0" indent="0" algn="ctr">
              <a:buNone/>
            </a:pPr>
            <a:r>
              <a:rPr lang="en-US" sz="4800" dirty="0">
                <a:latin typeface="Bahnschrift SemiBold" panose="020B0502040204020203" pitchFamily="34" charset="0"/>
              </a:rPr>
              <a:t>MACHINE LEARNING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719147" y="2724998"/>
            <a:ext cx="4008656" cy="116091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800" dirty="0">
                <a:latin typeface="Bahnschrift SemiBold" panose="020B0502040204020203" pitchFamily="34" charset="0"/>
              </a:rPr>
              <a:t>LESSON A4-1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3335867" y="3728134"/>
            <a:ext cx="6655158" cy="76226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3600" dirty="0">
                <a:latin typeface="Bahnschrift SemiBold" panose="020B0502040204020203" pitchFamily="34" charset="0"/>
              </a:rPr>
              <a:t>WHAT MACHINE LEARNING IS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7095753" y="1908368"/>
            <a:ext cx="4516539" cy="225568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Guided Notes</a:t>
            </a:r>
          </a:p>
          <a:p>
            <a:pPr algn="ctr">
              <a:buFont typeface="Arial"/>
              <a:buChar char="•"/>
            </a:pPr>
            <a:r>
              <a:rPr lang="en-US" sz="2000" dirty="0" err="1">
                <a:latin typeface="Bahnschrift" panose="020B0502040204020203" pitchFamily="34" charset="0"/>
              </a:rPr>
              <a:t>ur</a:t>
            </a:r>
            <a:r>
              <a:rPr lang="en-US" sz="2000" dirty="0">
                <a:latin typeface="Bahnschrift" panose="020B0502040204020203" pitchFamily="34" charset="0"/>
              </a:rPr>
              <a:t> </a:t>
            </a:r>
            <a:r>
              <a:rPr lang="en-US" sz="2000" dirty="0" err="1">
                <a:latin typeface="Bahnschrift" panose="020B0502040204020203" pitchFamily="34" charset="0"/>
              </a:rPr>
              <a:t>hedz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109714" y="1181477"/>
            <a:ext cx="5413224" cy="539167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Warm up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What machine learning is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Training data and labels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Supervised learning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Unsupervised learning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Reinforcement learning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Choosing the type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Deep learning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Transfer learning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Real-world applications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Lab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Close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825600" y="1466923"/>
            <a:ext cx="5014261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WHAT U NEED 4 LESSON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D8CA8B0B-29B4-4F45-A9BE-88F49F9B442F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6D1CAEE-B319-A780-9B96-038987577C8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6E9AA4A-F120-DD17-0CB0-2E85BDEF169E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F514AF8-7688-1CAF-271C-812A3A4CA6FC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0311B9-8000-00E2-EA2F-52B51C9C4A41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(a) State the role of a GPU in a computer [1]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(b) State one task a GPU is better suited to than a CPU [1]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(c) State what is meant by an algorithm [1]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Q1 (a), (b), (c)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D908BF-3440-E0DF-2F0E-30B56B6F8098}"/>
              </a:ext>
            </a:extLst>
          </p:cNvPr>
          <p:cNvSpPr/>
          <p:nvPr/>
        </p:nvSpPr>
        <p:spPr>
          <a:xfrm>
            <a:off x="1989751" y="65791"/>
            <a:ext cx="6800000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WARM UP QUESTION</a:t>
            </a:r>
          </a:p>
        </p:txBody>
      </p:sp>
      <p:pic>
        <p:nvPicPr>
          <p:cNvPr id="22" name="Picture 21" descr="url_upload_6a7f3d9e572a4.gif [effects output image]">
            <a:extLst>
              <a:ext uri="{FF2B5EF4-FFF2-40B4-BE49-F238E27FC236}">
                <a16:creationId xmlns:a16="http://schemas.microsoft.com/office/drawing/2014/main" id="{D9271AD9-D578-11DF-7DA1-51581A51B57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-169085" y="4388056"/>
            <a:ext cx="2786643" cy="2667000"/>
          </a:xfrm>
          <a:prstGeom prst="rect">
            <a:avLst/>
          </a:prstGeom>
        </p:spPr>
      </p:pic>
      <p:pic>
        <p:nvPicPr>
          <p:cNvPr id="24" name="Picture 23" descr="url_upload_6a7f3d9e572a4.gif [effects output image]">
            <a:extLst>
              <a:ext uri="{FF2B5EF4-FFF2-40B4-BE49-F238E27FC236}">
                <a16:creationId xmlns:a16="http://schemas.microsoft.com/office/drawing/2014/main" id="{B30C67D8-C8AA-F1F8-B373-1AECB05C01A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2617558" y="4388056"/>
            <a:ext cx="2786643" cy="2667000"/>
          </a:xfrm>
          <a:prstGeom prst="rect">
            <a:avLst/>
          </a:prstGeom>
        </p:spPr>
      </p:pic>
      <p:pic>
        <p:nvPicPr>
          <p:cNvPr id="26" name="Picture 25" descr="url_upload_6a7f3d9e572a4.gif [effects output image]">
            <a:extLst>
              <a:ext uri="{FF2B5EF4-FFF2-40B4-BE49-F238E27FC236}">
                <a16:creationId xmlns:a16="http://schemas.microsoft.com/office/drawing/2014/main" id="{BFEBAE74-AEA2-B3C2-EF07-F84EA1B7D41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5404201" y="4388056"/>
            <a:ext cx="2786643" cy="2667000"/>
          </a:xfrm>
          <a:prstGeom prst="rect">
            <a:avLst/>
          </a:prstGeom>
        </p:spPr>
      </p:pic>
      <p:pic>
        <p:nvPicPr>
          <p:cNvPr id="28" name="Picture 27" descr="url_upload_6a7f3d9e572a4.gif [effects output image]">
            <a:extLst>
              <a:ext uri="{FF2B5EF4-FFF2-40B4-BE49-F238E27FC236}">
                <a16:creationId xmlns:a16="http://schemas.microsoft.com/office/drawing/2014/main" id="{BD5F3A05-97A3-AEB7-0085-9F08A9DC8C5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8190844" y="4388056"/>
            <a:ext cx="2786643" cy="2667000"/>
          </a:xfrm>
          <a:prstGeom prst="rect">
            <a:avLst/>
          </a:prstGeom>
        </p:spPr>
      </p:pic>
      <p:pic>
        <p:nvPicPr>
          <p:cNvPr id="30" name="Picture 29" descr="url_upload_6a7f3d9e572a4.gif [effects output image]">
            <a:extLst>
              <a:ext uri="{FF2B5EF4-FFF2-40B4-BE49-F238E27FC236}">
                <a16:creationId xmlns:a16="http://schemas.microsoft.com/office/drawing/2014/main" id="{A17A3B87-5760-271D-2622-96C0BC318E5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10977487" y="4388056"/>
            <a:ext cx="2786643" cy="2667000"/>
          </a:xfrm>
          <a:prstGeom prst="rect">
            <a:avLst/>
          </a:prstGeom>
        </p:spPr>
      </p:pic>
      <p:pic>
        <p:nvPicPr>
          <p:cNvPr id="32" name="Picture 31" descr="url_upload_6a7f3d9e572a4.gif [effects output image]">
            <a:extLst>
              <a:ext uri="{FF2B5EF4-FFF2-40B4-BE49-F238E27FC236}">
                <a16:creationId xmlns:a16="http://schemas.microsoft.com/office/drawing/2014/main" id="{D6465FBC-B66B-79FB-ACEB-2DCDCF85F1E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684191" y="-2330208"/>
            <a:ext cx="2786643" cy="2667000"/>
          </a:xfrm>
          <a:prstGeom prst="rect">
            <a:avLst/>
          </a:prstGeom>
        </p:spPr>
      </p:pic>
      <p:pic>
        <p:nvPicPr>
          <p:cNvPr id="34" name="Picture 33" descr="url_upload_6a7f3d9e572a4.gif [effects output image]">
            <a:extLst>
              <a:ext uri="{FF2B5EF4-FFF2-40B4-BE49-F238E27FC236}">
                <a16:creationId xmlns:a16="http://schemas.microsoft.com/office/drawing/2014/main" id="{E2180E99-6E7F-D0AD-5B11-3A8AD8CC719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3897548" y="-2330208"/>
            <a:ext cx="2786643" cy="2667000"/>
          </a:xfrm>
          <a:prstGeom prst="rect">
            <a:avLst/>
          </a:prstGeom>
        </p:spPr>
      </p:pic>
      <p:pic>
        <p:nvPicPr>
          <p:cNvPr id="36" name="Picture 35" descr="url_upload_6a7f3d9e572a4.gif [effects output image]">
            <a:extLst>
              <a:ext uri="{FF2B5EF4-FFF2-40B4-BE49-F238E27FC236}">
                <a16:creationId xmlns:a16="http://schemas.microsoft.com/office/drawing/2014/main" id="{0130BB2A-2F5C-C6D8-B500-A2A8AC710F8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20738" r="41253"/>
          <a:stretch>
            <a:fillRect/>
          </a:stretch>
        </p:blipFill>
        <p:spPr>
          <a:xfrm>
            <a:off x="2094614" y="-2330208"/>
            <a:ext cx="1802934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val 36">
            <a:extLst>
              <a:ext uri="{FF2B5EF4-FFF2-40B4-BE49-F238E27FC236}">
                <a16:creationId xmlns:a16="http://schemas.microsoft.com/office/drawing/2014/main" id="{7D341957-430A-EF60-D3EA-CD511D2CA7D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D7D693E-B573-D0BC-DFB1-6C79697387BD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F25AC2E-0D02-E810-9216-42CF152FB28F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0793B20-5976-9D4C-5A7B-1C85E4E6D59A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B3F6CA5-D24F-822D-5553-1951788E1282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(a) It performs many simple calculations in parallel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(b) Anything with thousands of identical sums, such as shading pixels, or training a model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(c) A finite sequence of steps that solves a problem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0C41D60-D405-256A-C157-C77194A788CD}"/>
              </a:ext>
            </a:extLst>
          </p:cNvPr>
          <p:cNvSpPr/>
          <p:nvPr/>
        </p:nvSpPr>
        <p:spPr>
          <a:xfrm>
            <a:off x="1989751" y="65791"/>
            <a:ext cx="6000000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WARM UP ANSWER</a:t>
            </a:r>
          </a:p>
        </p:txBody>
      </p:sp>
      <p:pic>
        <p:nvPicPr>
          <p:cNvPr id="49" name="Picture 48" descr="url_upload_6a7f3d9e572a4.gif [effects output image]">
            <a:extLst>
              <a:ext uri="{FF2B5EF4-FFF2-40B4-BE49-F238E27FC236}">
                <a16:creationId xmlns:a16="http://schemas.microsoft.com/office/drawing/2014/main" id="{1F63E1F1-0756-EF0C-E6AF-968433CAC62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-169085" y="4388056"/>
            <a:ext cx="2786643" cy="2667000"/>
          </a:xfrm>
          <a:prstGeom prst="rect">
            <a:avLst/>
          </a:prstGeom>
        </p:spPr>
      </p:pic>
      <p:pic>
        <p:nvPicPr>
          <p:cNvPr id="51" name="Picture 50" descr="url_upload_6a7f3d9e572a4.gif [effects output image]">
            <a:extLst>
              <a:ext uri="{FF2B5EF4-FFF2-40B4-BE49-F238E27FC236}">
                <a16:creationId xmlns:a16="http://schemas.microsoft.com/office/drawing/2014/main" id="{8A9E958D-CAB4-E31F-D274-C5DC23B9AAB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2617558" y="4388056"/>
            <a:ext cx="2786643" cy="2667000"/>
          </a:xfrm>
          <a:prstGeom prst="rect">
            <a:avLst/>
          </a:prstGeom>
        </p:spPr>
      </p:pic>
      <p:pic>
        <p:nvPicPr>
          <p:cNvPr id="53" name="Picture 52" descr="url_upload_6a7f3d9e572a4.gif [effects output image]">
            <a:extLst>
              <a:ext uri="{FF2B5EF4-FFF2-40B4-BE49-F238E27FC236}">
                <a16:creationId xmlns:a16="http://schemas.microsoft.com/office/drawing/2014/main" id="{EFA8071E-ECE9-5E87-EBC1-9406172589E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5404201" y="4388056"/>
            <a:ext cx="2786643" cy="2667000"/>
          </a:xfrm>
          <a:prstGeom prst="rect">
            <a:avLst/>
          </a:prstGeom>
        </p:spPr>
      </p:pic>
      <p:pic>
        <p:nvPicPr>
          <p:cNvPr id="55" name="Picture 54" descr="url_upload_6a7f3d9e572a4.gif [effects output image]">
            <a:extLst>
              <a:ext uri="{FF2B5EF4-FFF2-40B4-BE49-F238E27FC236}">
                <a16:creationId xmlns:a16="http://schemas.microsoft.com/office/drawing/2014/main" id="{535DAD8F-0FF6-7295-4492-667763D062E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8190844" y="4388056"/>
            <a:ext cx="2786643" cy="2667000"/>
          </a:xfrm>
          <a:prstGeom prst="rect">
            <a:avLst/>
          </a:prstGeom>
        </p:spPr>
      </p:pic>
      <p:pic>
        <p:nvPicPr>
          <p:cNvPr id="57" name="Picture 56" descr="url_upload_6a7f3d9e572a4.gif [effects output image]">
            <a:extLst>
              <a:ext uri="{FF2B5EF4-FFF2-40B4-BE49-F238E27FC236}">
                <a16:creationId xmlns:a16="http://schemas.microsoft.com/office/drawing/2014/main" id="{B0551EF5-1990-2D5E-C471-94E2AF03B51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10977487" y="4388056"/>
            <a:ext cx="2786643" cy="2667000"/>
          </a:xfrm>
          <a:prstGeom prst="rect">
            <a:avLst/>
          </a:prstGeom>
        </p:spPr>
      </p:pic>
      <p:pic>
        <p:nvPicPr>
          <p:cNvPr id="59" name="Picture 58" descr="url_upload_6a7f3d9e572a4.gif [effects output image]">
            <a:extLst>
              <a:ext uri="{FF2B5EF4-FFF2-40B4-BE49-F238E27FC236}">
                <a16:creationId xmlns:a16="http://schemas.microsoft.com/office/drawing/2014/main" id="{F6F5A0E4-4228-1D5B-57AD-F5A99AEDE57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684191" y="-2330208"/>
            <a:ext cx="2786643" cy="2667000"/>
          </a:xfrm>
          <a:prstGeom prst="rect">
            <a:avLst/>
          </a:prstGeom>
        </p:spPr>
      </p:pic>
      <p:pic>
        <p:nvPicPr>
          <p:cNvPr id="61" name="Picture 60" descr="url_upload_6a7f3d9e572a4.gif [effects output image]">
            <a:extLst>
              <a:ext uri="{FF2B5EF4-FFF2-40B4-BE49-F238E27FC236}">
                <a16:creationId xmlns:a16="http://schemas.microsoft.com/office/drawing/2014/main" id="{42DA75FB-0429-60F7-5515-8B7E611343C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3897548" y="-2330208"/>
            <a:ext cx="2786643" cy="2667000"/>
          </a:xfrm>
          <a:prstGeom prst="rect">
            <a:avLst/>
          </a:prstGeom>
        </p:spPr>
      </p:pic>
      <p:pic>
        <p:nvPicPr>
          <p:cNvPr id="63" name="Picture 62" descr="url_upload_6a7f3d9e572a4.gif [effects output image]">
            <a:extLst>
              <a:ext uri="{FF2B5EF4-FFF2-40B4-BE49-F238E27FC236}">
                <a16:creationId xmlns:a16="http://schemas.microsoft.com/office/drawing/2014/main" id="{02320BBC-A140-08D8-5B51-6950E8894A3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20738" r="41253"/>
          <a:stretch>
            <a:fillRect/>
          </a:stretch>
        </p:blipFill>
        <p:spPr>
          <a:xfrm>
            <a:off x="2094614" y="-2330208"/>
            <a:ext cx="1802934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7910117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Normally you write every step yourself and the computer follows them exactly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This is an algorithm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That works whenever you can describe the rule, such as “sort a list”, “count the pages in my fanfic”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Some jobs have a rule you cannot write down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“Is this photo a cat?” has no sequence of steps you could type out</a:t>
            </a:r>
          </a:p>
          <a:p>
            <a:pPr marL="1371600" lvl="2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Yes, I know about dichotomous keys but a computer doesn’t know how to use those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86144" y="155968"/>
            <a:ext cx="781933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WHAT MACHINE LEARNING 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D811CE-4F46-68DF-F1FB-E1C6B573F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3995" y="1541265"/>
            <a:ext cx="2442250" cy="36633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E11D41-4846-D961-E400-A0FFB1496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9C8AA2F-8BAF-01A1-9854-CDDAD77D194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FC5DA62-ED50-C43D-43D4-11954056130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9E5E31-52F5-C852-6B77-25107E381B3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40E4FFA-A7FA-F1A4-5EF6-229727228DC6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AE8908-4B27-D1C0-F05B-C4C36528AC92}"/>
              </a:ext>
            </a:extLst>
          </p:cNvPr>
          <p:cNvSpPr/>
          <p:nvPr/>
        </p:nvSpPr>
        <p:spPr>
          <a:xfrm>
            <a:off x="630768" y="1299334"/>
            <a:ext cx="7910117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Machine learning</a:t>
            </a:r>
            <a:r>
              <a:rPr lang="en-US" sz="2400" dirty="0">
                <a:latin typeface="Bahnschrift" panose="020B0502040204020203" pitchFamily="34" charset="0"/>
              </a:rPr>
              <a:t> is a program that works the rule out for itself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 program that improves at a task by finding patterns in data, rather than following rules a programmer wrote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080871-1442-2AF5-AE3E-1B88233CE45C}"/>
              </a:ext>
            </a:extLst>
          </p:cNvPr>
          <p:cNvSpPr/>
          <p:nvPr/>
        </p:nvSpPr>
        <p:spPr>
          <a:xfrm>
            <a:off x="-386144" y="155968"/>
            <a:ext cx="781933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WHAT MACHINE LEARNING 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CAB9B5-7206-41AC-A802-A41212ED1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730" y="1541265"/>
            <a:ext cx="2830515" cy="4245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031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 have a challenge for you: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Come up with a set of rules to block scam emails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86144" y="155968"/>
            <a:ext cx="8057479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WHAT MACHINE LEARNING 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52983B-EF39-2BE1-9646-77BF8A0B4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BD0A2C1-70B0-65F2-C397-F5E68AD0BB99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9EC2E48-08AF-A8BE-E497-8B8D1B3162CC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19545FA-655B-E78A-C942-7041D06BCCE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E39E20C-B145-E29C-F5AA-E57FB12F5E8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1B95B4-90AD-DD58-F1B2-5445D6059E2C}"/>
              </a:ext>
            </a:extLst>
          </p:cNvPr>
          <p:cNvSpPr/>
          <p:nvPr/>
        </p:nvSpPr>
        <p:spPr>
          <a:xfrm>
            <a:off x="630768" y="1299334"/>
            <a:ext cx="906187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Let’s say we block anything containing “free money” or “Nigerian prince”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If the scammer writes “fr33 m0ney” and your rule is already dead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You add a rule, they change a word, you add a rule, they change a word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It becomes unsustainable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real way that we can know something is spam is too complicated and changes too often to write by hand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So instead, you can give a machine learning program 10,000 emails already marked spam or not spam, and it finds the pattern itself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AE1BBD-B77C-A108-E5E0-6E166AC46E7B}"/>
              </a:ext>
            </a:extLst>
          </p:cNvPr>
          <p:cNvSpPr/>
          <p:nvPr/>
        </p:nvSpPr>
        <p:spPr>
          <a:xfrm>
            <a:off x="-386144" y="155968"/>
            <a:ext cx="8057479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WHAT MACHINE LEARNING IS</a:t>
            </a:r>
          </a:p>
        </p:txBody>
      </p:sp>
      <p:pic>
        <p:nvPicPr>
          <p:cNvPr id="2" name="Picture 1" descr="SPAM attack: The secrets behind America's iconic canned meat">
            <a:extLst>
              <a:ext uri="{FF2B5EF4-FFF2-40B4-BE49-F238E27FC236}">
                <a16:creationId xmlns:a16="http://schemas.microsoft.com/office/drawing/2014/main" id="{13C3C3BD-8F43-7588-9834-4BB3121CF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4359" y="562321"/>
            <a:ext cx="2376851" cy="2183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513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02A5E7-FBE7-3B83-BA10-6C030B782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B9E72C4-AA04-ACC7-D8E3-4136C5458C7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C1F3B96-03DD-B489-9582-3B1A403A593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7575617-2D8E-F5B9-478E-4E11BCF716C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B86A4D8-0A61-D0FF-9A46-0592E1C209E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12CF35-4192-FB4C-AC09-FA0BB853A5F9}"/>
              </a:ext>
            </a:extLst>
          </p:cNvPr>
          <p:cNvSpPr/>
          <p:nvPr/>
        </p:nvSpPr>
        <p:spPr>
          <a:xfrm>
            <a:off x="630768" y="1299334"/>
            <a:ext cx="906187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for bonus (not actually) points, can anybody tell me why spam emails are called spam?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D09026-3024-B1F5-9FDC-23EFB96ED67E}"/>
              </a:ext>
            </a:extLst>
          </p:cNvPr>
          <p:cNvSpPr/>
          <p:nvPr/>
        </p:nvSpPr>
        <p:spPr>
          <a:xfrm>
            <a:off x="-386144" y="155968"/>
            <a:ext cx="8057479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WHAT MACHINE LEARNING IS</a:t>
            </a:r>
          </a:p>
        </p:txBody>
      </p:sp>
      <p:pic>
        <p:nvPicPr>
          <p:cNvPr id="2" name="Picture 1" descr="SPAM attack: The secrets behind America's iconic canned meat">
            <a:extLst>
              <a:ext uri="{FF2B5EF4-FFF2-40B4-BE49-F238E27FC236}">
                <a16:creationId xmlns:a16="http://schemas.microsoft.com/office/drawing/2014/main" id="{C07D8BC9-E81D-ECC5-8944-3F383B07A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4359" y="562321"/>
            <a:ext cx="2376851" cy="2183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601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DA771E-A228-9ED1-2E9B-B5595D0AE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1A16581-A835-6225-0F50-32301732E58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8846C75-FB02-6DD0-1042-45A9B8A357D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1526EE8-9705-BD10-5352-6A2EA76FB7C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4BCFE2D-CE5F-B83F-DB53-F2A9A4222B2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F1F903-BECA-5973-B98D-7D64097A0AB2}"/>
              </a:ext>
            </a:extLst>
          </p:cNvPr>
          <p:cNvSpPr/>
          <p:nvPr/>
        </p:nvSpPr>
        <p:spPr>
          <a:xfrm>
            <a:off x="630768" y="1299334"/>
            <a:ext cx="906187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endParaRPr lang="en-US" sz="2400" dirty="0"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F22B73-C720-414F-AECE-25516E7720CE}"/>
              </a:ext>
            </a:extLst>
          </p:cNvPr>
          <p:cNvSpPr/>
          <p:nvPr/>
        </p:nvSpPr>
        <p:spPr>
          <a:xfrm>
            <a:off x="-386144" y="155968"/>
            <a:ext cx="8057479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WHAT MACHINE LEARNING IS</a:t>
            </a:r>
          </a:p>
        </p:txBody>
      </p:sp>
      <p:pic>
        <p:nvPicPr>
          <p:cNvPr id="2" name="Picture 1" descr="SPAM attack: The secrets behind America's iconic canned meat">
            <a:extLst>
              <a:ext uri="{FF2B5EF4-FFF2-40B4-BE49-F238E27FC236}">
                <a16:creationId xmlns:a16="http://schemas.microsoft.com/office/drawing/2014/main" id="{66509B84-C034-79E9-05F7-C5C60289DA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4359" y="562321"/>
            <a:ext cx="2376851" cy="2183732"/>
          </a:xfrm>
          <a:prstGeom prst="rect">
            <a:avLst/>
          </a:prstGeom>
        </p:spPr>
      </p:pic>
      <p:pic>
        <p:nvPicPr>
          <p:cNvPr id="3" name="Online Media 2" title="Spam! | Monty Python (Official Sketch)">
            <a:hlinkClick r:id="" action="ppaction://media"/>
            <a:extLst>
              <a:ext uri="{FF2B5EF4-FFF2-40B4-BE49-F238E27FC236}">
                <a16:creationId xmlns:a16="http://schemas.microsoft.com/office/drawing/2014/main" id="{84C9067A-CE76-B3C9-14FD-8F3F11BB21C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1016000" y="1667127"/>
            <a:ext cx="8198359" cy="463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332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1800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same job, done two different ways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7268" y="155968"/>
            <a:ext cx="770134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WHAT MACHINE LEARNING IS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252833"/>
              </p:ext>
            </p:extLst>
          </p:nvPr>
        </p:nvGraphicFramePr>
        <p:xfrm>
          <a:off x="896000" y="3300000"/>
          <a:ext cx="10400000" cy="22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1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583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1A3C40"/>
                          </a:solidFill>
                          <a:latin typeface="Bahnschrift"/>
                        </a:rPr>
                        <a:t>Creating Rules Ourselves</a:t>
                      </a:r>
                      <a:endParaRPr sz="1700" b="1" dirty="0">
                        <a:solidFill>
                          <a:srgbClr val="1A3C40"/>
                        </a:solidFill>
                        <a:latin typeface="Bahnschrift"/>
                      </a:endParaRP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1A3C40"/>
                          </a:solidFill>
                          <a:latin typeface="Bahnschrift"/>
                        </a:rPr>
                        <a:t>Creating a Machine Learning Model</a:t>
                      </a:r>
                      <a:endParaRPr sz="1700" b="1" dirty="0">
                        <a:solidFill>
                          <a:srgbClr val="1A3C40"/>
                        </a:solidFill>
                        <a:latin typeface="Bahnschrift"/>
                      </a:endParaRP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Who finds the pattern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You do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The program does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What you supply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Logic you wrote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Examples you collected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When things change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You rewrite the code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You retrain it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What you end up with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A program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dirty="0">
                          <a:solidFill>
                            <a:srgbClr val="1A3C40"/>
                          </a:solidFill>
                          <a:latin typeface="Bahnschrift"/>
                        </a:rPr>
                        <a:t>A model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Training data</a:t>
            </a:r>
            <a:r>
              <a:rPr lang="en-US" sz="2400" dirty="0">
                <a:latin typeface="Bahnschrift" panose="020B0502040204020203" pitchFamily="34" charset="0"/>
              </a:rPr>
              <a:t> is the set of examples you give the program to learn from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Each example is described by its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features</a:t>
            </a:r>
            <a:r>
              <a:rPr lang="en-US" sz="2400" dirty="0">
                <a:latin typeface="Bahnschrift" panose="020B0502040204020203" pitchFamily="34" charset="0"/>
              </a:rPr>
              <a:t> - the measurements you chose to record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 piece of fruit might have two: weight and redness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label</a:t>
            </a:r>
            <a:r>
              <a:rPr lang="en-US" sz="2400" dirty="0">
                <a:latin typeface="Bahnschrift" panose="020B0502040204020203" pitchFamily="34" charset="0"/>
              </a:rPr>
              <a:t> is the correct answer for that example, written on it in advance by a person, typically in the form of metadata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label is NOT worked out by the computer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It was attached before training started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So one training example is: weight 150 g, redness 8, and a human has already tagged it APPLE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86144" y="155968"/>
            <a:ext cx="7807222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TRAINING DATA AND LABELS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1800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In this training data table, the first two columns are features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last column is the label, added ahead of time by a person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47643" y="155968"/>
            <a:ext cx="7595466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TRAINING DATA AND LABELS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3233690"/>
              </p:ext>
            </p:extLst>
          </p:nvPr>
        </p:nvGraphicFramePr>
        <p:xfrm>
          <a:off x="896000" y="3300000"/>
          <a:ext cx="10400000" cy="17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Example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Weight (g)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Redness (0–10)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Label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1A3C40"/>
                          </a:solidFill>
                          <a:latin typeface="Bahnschrift"/>
                        </a:rPr>
                        <a:t>Example</a:t>
                      </a:r>
                      <a:r>
                        <a:rPr sz="1700" b="1" dirty="0">
                          <a:solidFill>
                            <a:srgbClr val="1A3C40"/>
                          </a:solidFill>
                          <a:latin typeface="Bahnschrift"/>
                        </a:rPr>
                        <a:t> 1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150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8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APPLE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1A3C40"/>
                          </a:solidFill>
                          <a:latin typeface="Bahnschrift"/>
                        </a:rPr>
                        <a:t>Example</a:t>
                      </a:r>
                      <a:r>
                        <a:rPr sz="1700" b="1" dirty="0">
                          <a:solidFill>
                            <a:srgbClr val="1A3C40"/>
                          </a:solidFill>
                          <a:latin typeface="Bahnschrift"/>
                        </a:rPr>
                        <a:t> 2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95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9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TOMATO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1A3C40"/>
                          </a:solidFill>
                          <a:latin typeface="Bahnschrift"/>
                        </a:rPr>
                        <a:t>Example</a:t>
                      </a:r>
                      <a:r>
                        <a:rPr sz="1700" b="1" dirty="0">
                          <a:solidFill>
                            <a:srgbClr val="1A3C40"/>
                          </a:solidFill>
                          <a:latin typeface="Bahnschrift"/>
                        </a:rPr>
                        <a:t> 3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180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9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dirty="0">
                          <a:solidFill>
                            <a:srgbClr val="1A3C40"/>
                          </a:solidFill>
                          <a:latin typeface="Bahnschrift"/>
                        </a:rPr>
                        <a:t>APPLE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Tagging data is slow, expensive human work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Somebody, probably in a third world country, underpaid, sits and marked ten thousand X-rays one at a time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limit for training an AI model like this is typically labelled data, rather than raw computing power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What comes out of training is a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model</a:t>
            </a:r>
            <a:r>
              <a:rPr lang="en-US" sz="2400" dirty="0">
                <a:latin typeface="Bahnschrift" panose="020B0502040204020203" pitchFamily="34" charset="0"/>
              </a:rPr>
              <a:t>: the program that makes predictions on data it has never seen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whole process: collect training data → train → get a model → give it new data → it predicts based on those results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Q2 and Q3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86144" y="155968"/>
            <a:ext cx="1000000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TRAINING DATA AND LABELS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642375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Supervised learning</a:t>
            </a:r>
            <a:r>
              <a:rPr lang="en-US" sz="2400" dirty="0">
                <a:latin typeface="Bahnschrift" panose="020B0502040204020203" pitchFamily="34" charset="0"/>
              </a:rPr>
              <a:t> - every training example given is already tagged with the right answer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program makes a prediction, compares it to the tag, sees how wrong it was, and adjusts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It is called supervised because those tags act like a teacher, grading the program’s attempts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For our purposes, supervised learning will be represented by this strict teacher lady and this scared kid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72686" y="185784"/>
            <a:ext cx="660067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SUPERVISED LEARNING</a:t>
            </a:r>
          </a:p>
        </p:txBody>
      </p:sp>
      <p:pic>
        <p:nvPicPr>
          <p:cNvPr id="2" name="Picture 1" descr="63+ Strict teacher Free Stock Photos - StockFreeImages">
            <a:extLst>
              <a:ext uri="{FF2B5EF4-FFF2-40B4-BE49-F238E27FC236}">
                <a16:creationId xmlns:a16="http://schemas.microsoft.com/office/drawing/2014/main" id="{2EDD6B6E-0137-039B-71F8-DBD487DA5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811" y="1858706"/>
            <a:ext cx="4170042" cy="3028493"/>
          </a:xfrm>
          <a:prstGeom prst="rect">
            <a:avLst/>
          </a:prstGeom>
        </p:spPr>
      </p:pic>
      <p:pic>
        <p:nvPicPr>
          <p:cNvPr id="3" name="Picture 2" descr="Premium Photo | Scared student boy looking at pile of books">
            <a:extLst>
              <a:ext uri="{FF2B5EF4-FFF2-40B4-BE49-F238E27FC236}">
                <a16:creationId xmlns:a16="http://schemas.microsoft.com/office/drawing/2014/main" id="{07378E13-8152-52DA-C88A-14C101511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576768" y="4887199"/>
            <a:ext cx="2898719" cy="181558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5349AA-9712-DB21-921C-F7979F2AC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1865932-B4DE-E221-66DD-45200F88207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2E39E0-49B8-5CAD-AD99-3BF4CE35852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53C32F8-8C76-19F4-3553-A2A77351290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645A672-2F41-2F04-70B2-6ABA51A9C14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A862BB-5F21-EEEA-BA18-BC18BE9F8641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Supervised learning involves two tasks: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Classification</a:t>
            </a:r>
            <a:r>
              <a:rPr lang="en-US" sz="2400" dirty="0">
                <a:latin typeface="Bahnschrift" panose="020B0502040204020203" pitchFamily="34" charset="0"/>
              </a:rPr>
              <a:t>, predicting a category such as spam or not spam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Regression</a:t>
            </a:r>
            <a:r>
              <a:rPr lang="en-US" sz="2400" dirty="0">
                <a:latin typeface="Bahnschrift" panose="020B0502040204020203" pitchFamily="34" charset="0"/>
              </a:rPr>
              <a:t>, predicting a number, such as tomorrow’s temperature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Supervised learning CANNOT begin without labeled data, making it costly to get up and running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BEDBE5-C887-B3D0-0E9F-4C745E9AD44D}"/>
              </a:ext>
            </a:extLst>
          </p:cNvPr>
          <p:cNvSpPr/>
          <p:nvPr/>
        </p:nvSpPr>
        <p:spPr>
          <a:xfrm>
            <a:off x="-172686" y="185784"/>
            <a:ext cx="660067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SUPERVISED LEARNING</a:t>
            </a:r>
          </a:p>
        </p:txBody>
      </p:sp>
    </p:spTree>
    <p:extLst>
      <p:ext uri="{BB962C8B-B14F-4D97-AF65-F5344CB8AC3E}">
        <p14:creationId xmlns:p14="http://schemas.microsoft.com/office/powerpoint/2010/main" val="2344772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1600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Given five tagged examples with two types of labels, the program looks for what separates the two labels.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250677" y="155968"/>
            <a:ext cx="634667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SUPERVISED LEARNING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46000" y="3100000"/>
          <a:ext cx="10300000" cy="24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Weight (g)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Redness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Label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150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8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APPLE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120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7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APPLE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95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9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TOMATO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dirty="0">
                          <a:solidFill>
                            <a:srgbClr val="1A3C40"/>
                          </a:solidFill>
                          <a:latin typeface="Bahnschrift"/>
                        </a:rPr>
                        <a:t>Pattern found: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85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8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TOMATO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dirty="0">
                          <a:solidFill>
                            <a:srgbClr val="1A3C40"/>
                          </a:solidFill>
                          <a:latin typeface="Bahnschrift"/>
                        </a:rPr>
                        <a:t>over about 115 g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180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9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APPLE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dirty="0">
                          <a:solidFill>
                            <a:srgbClr val="1A3C40"/>
                          </a:solidFill>
                          <a:latin typeface="Bahnschrift"/>
                        </a:rPr>
                        <a:t>means APPLE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9156699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Unsupervised learning</a:t>
            </a:r>
            <a:r>
              <a:rPr lang="en-US" sz="2400" dirty="0">
                <a:latin typeface="Bahnschrift" panose="020B0502040204020203" pitchFamily="34" charset="0"/>
              </a:rPr>
              <a:t> - the training data arrives with no tags at all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Because there isn’t any data given by humans, the program has no way of knowing if it’s correct or not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All it can do is work out which examples resemble each other, and put those together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This is called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Clustering</a:t>
            </a:r>
            <a:endParaRPr lang="en-US" sz="2400" dirty="0"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86144" y="155968"/>
            <a:ext cx="744066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UNSUPERVISED LEARNING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58F5B0-A4F8-538E-0490-D56DEE720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6C61723-DA07-6578-FDED-356BD02DEBC9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E8452D5-2A2F-54EF-E5BE-DCFE915073D0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339EFD-2134-51D6-5C3E-8DD5FECE03E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34DB649-CCA0-ED33-7EC7-80AD737C015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373DC3-5583-808A-54C3-9D0A1F19F5BD}"/>
              </a:ext>
            </a:extLst>
          </p:cNvPr>
          <p:cNvSpPr/>
          <p:nvPr/>
        </p:nvSpPr>
        <p:spPr>
          <a:xfrm>
            <a:off x="630768" y="1299334"/>
            <a:ext cx="9156699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Even though it can find groupings of similar data, it still has zero clue what any of it is, when a person could intuit it easily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This is used when tagging would be impossible: such as going through millions of supermarket receipts to categorize them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For our purposes, this will be the friendly alien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He just doesn’t ‘get’ us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B21E5E-7236-4D7B-BD4F-1729E0826A23}"/>
              </a:ext>
            </a:extLst>
          </p:cNvPr>
          <p:cNvSpPr/>
          <p:nvPr/>
        </p:nvSpPr>
        <p:spPr>
          <a:xfrm>
            <a:off x="-386144" y="155968"/>
            <a:ext cx="744066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UNSUPERVISED LEARNING</a:t>
            </a:r>
          </a:p>
        </p:txBody>
      </p:sp>
      <p:pic>
        <p:nvPicPr>
          <p:cNvPr id="2" name="Picture 1" descr="Aliens Cartoon Cute - ClipArt Best">
            <a:extLst>
              <a:ext uri="{FF2B5EF4-FFF2-40B4-BE49-F238E27FC236}">
                <a16:creationId xmlns:a16="http://schemas.microsoft.com/office/drawing/2014/main" id="{341057B6-7D0B-9317-2A0A-660C23840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1627" y="3302247"/>
            <a:ext cx="2111680" cy="324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6366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Reinforcement learning</a:t>
            </a:r>
            <a:r>
              <a:rPr lang="en-US" sz="2400" dirty="0">
                <a:latin typeface="Bahnschrift" panose="020B0502040204020203" pitchFamily="34" charset="0"/>
              </a:rPr>
              <a:t> - there is no data set to start with at all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An 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‘agent’ takes an action inside an environment, and gets a reward</a:t>
            </a:r>
            <a:r>
              <a:rPr lang="en-US" sz="2400" dirty="0">
                <a:latin typeface="Bahnschrift" panose="020B0502040204020203" pitchFamily="34" charset="0"/>
              </a:rPr>
              <a:t>, which is just a score, after each one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It isn’t told what to do, but is simply given feedback on its results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Over thousands of attempts it builds a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policy</a:t>
            </a:r>
            <a:r>
              <a:rPr lang="en-US" sz="2400" dirty="0">
                <a:latin typeface="Bahnschrift" panose="020B0502040204020203" pitchFamily="34" charset="0"/>
              </a:rPr>
              <a:t> - a strategy for choosing the next action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This is used where nobody knows the right answer but success can be measured: playing a game, steering a robot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For us, this will be a human baby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86144" y="155968"/>
            <a:ext cx="771827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REINFORCEMENT LEARNING</a:t>
            </a:r>
          </a:p>
        </p:txBody>
      </p:sp>
      <p:pic>
        <p:nvPicPr>
          <p:cNvPr id="2" name="Picture 1" descr="Baby Girl Sitting On The Grass Smiling And Dancing Whilst Expressing ...">
            <a:extLst>
              <a:ext uri="{FF2B5EF4-FFF2-40B4-BE49-F238E27FC236}">
                <a16:creationId xmlns:a16="http://schemas.microsoft.com/office/drawing/2014/main" id="{0B42EB0C-559A-97A5-3CDA-CC87FD7B9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925" y="4696405"/>
            <a:ext cx="3121152" cy="208178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1500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type is decided by what comes attached to the data, not by how clever the program is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Q4 (a), (b), (c) and (d)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0" y="155968"/>
            <a:ext cx="556774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CHOOSING THE TYPE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46000" y="3000000"/>
          <a:ext cx="10300000" cy="236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Supervised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Unsupervised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Reinforcement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Data arrives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Tagged in advance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With no tags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There is no data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It learns from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The tags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Similarity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A score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The job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Predict the tag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Find the groups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Raise the score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Example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Is this spam?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Which shoppers are alike?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Win the game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1800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Four scenarios. Say the type, then say what gave it away.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6733" y="155968"/>
            <a:ext cx="558467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CHOOSING THE TYPE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96000" y="3300000"/>
          <a:ext cx="10200000" cy="192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The scenario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What comes with the data?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10,000 X-rays, each marked by a doctor as clear or not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A year of purchases with no categories; find the shopper types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A robot arm that scores points for stacking a block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Deep learning</a:t>
            </a:r>
            <a:r>
              <a:rPr lang="en-US" sz="2400" dirty="0">
                <a:latin typeface="Bahnschrift" panose="020B0502040204020203" pitchFamily="34" charset="0"/>
              </a:rPr>
              <a:t> is NOT another type of scenario that we can train a machine on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Our last three describe the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problem</a:t>
            </a:r>
            <a:r>
              <a:rPr lang="en-US" sz="2400" dirty="0">
                <a:latin typeface="Bahnschrift" panose="020B0502040204020203" pitchFamily="34" charset="0"/>
              </a:rPr>
              <a:t>: what came attached to the data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Deep learning describes the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model itself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: a neural network </a:t>
            </a:r>
            <a:r>
              <a:rPr lang="en-US" sz="2400" dirty="0">
                <a:latin typeface="Bahnschrift" panose="020B0502040204020203" pitchFamily="34" charset="0"/>
              </a:rPr>
              <a:t>built from many layers stacked on top of each other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More layers lets it capture more complicated patterns, but it needs far more data and far more computing power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 deep network can be trained supervised, unsupervised or reinforcement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 question like “is it deep learning or supervised learning?” is flawed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183738" y="155968"/>
            <a:ext cx="4864989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DEEP LEARNING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Transfer learning</a:t>
            </a:r>
            <a:r>
              <a:rPr lang="en-US" sz="2400" dirty="0">
                <a:latin typeface="Bahnschrift" panose="020B0502040204020203" pitchFamily="34" charset="0"/>
              </a:rPr>
              <a:t> also answers a different question: where did training start?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Normally you start from a model that knows nothing whatsoever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Instead, transfer learning takes a model somebody already trained on a gargantuan data set, and retrain only its last part on your own much smaller one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Its early layers already recognise general things such as edges, shapes, textures, meaning you won’t have to train those parts yourself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Far less data, far less time, far less hardware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Q6 (a), (b) and (c)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219990" y="155968"/>
            <a:ext cx="605881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TRANSFER LEARNING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1400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These are some specific use cases noted by the IB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Q7 (a) and (b)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18411" y="155968"/>
            <a:ext cx="763361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REAL-WORLD APPLICATIONS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96000" y="2900000"/>
          <a:ext cx="10200000" cy="28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Application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Type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What it learned from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Medical imaging diagnostics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Supervised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Scans tagged by doctors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Market basket analysis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Unsupervised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Till receipts, no tags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Sentiment analysis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Supervised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Reviews tagged positive or negative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Object detection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Supervised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Photos with boxes drawn on them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Robotics navigation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Reinforcement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A score for not crashing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Q8 and Q9 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Q8 Explain why a task with no tagged examples cannot be solved using supervised learning [3]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Q9 A shop wants to recommend products from what similar customers bought. Identify the type of learning and justify your answer [3]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183738" y="155968"/>
            <a:ext cx="160000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LAB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46FB3B-4F1C-7DE9-3EA7-A0C43A988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EB4586F-1837-457F-9439-6FDE0835576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56C08A8-C98A-57BC-EDEF-ED946F19A64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1FEB7B3-8981-A9DF-C1CA-E9E45AD3195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E2E45E8-C68D-FC23-3030-5057F950A4E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FBC3EB-6B8E-258D-8E72-4E68B6B27CA4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endParaRPr lang="en-US" sz="2400" dirty="0"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419CAC-C4B8-C04D-2B90-36C0D30E28EB}"/>
              </a:ext>
            </a:extLst>
          </p:cNvPr>
          <p:cNvSpPr/>
          <p:nvPr/>
        </p:nvSpPr>
        <p:spPr>
          <a:xfrm>
            <a:off x="183738" y="155968"/>
            <a:ext cx="201944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VIDEO</a:t>
            </a:r>
          </a:p>
        </p:txBody>
      </p:sp>
      <p:pic>
        <p:nvPicPr>
          <p:cNvPr id="2" name="Online Media 1" title="MarI/O - Machine Learning for Video Games">
            <a:hlinkClick r:id="" action="ppaction://media"/>
            <a:extLst>
              <a:ext uri="{FF2B5EF4-FFF2-40B4-BE49-F238E27FC236}">
                <a16:creationId xmlns:a16="http://schemas.microsoft.com/office/drawing/2014/main" id="{260B4522-B4E6-28D6-12A0-0F50EF71F89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667933" y="1451013"/>
            <a:ext cx="8856133" cy="5003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834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2897663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Machine learning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Training data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Feature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Label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Model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Supervised learning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Classification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Unsupervised learning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VOCABULARY TO REMEMBER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8F6C99-7DA9-E963-361C-ABB7A467AD11}"/>
              </a:ext>
            </a:extLst>
          </p:cNvPr>
          <p:cNvSpPr/>
          <p:nvPr/>
        </p:nvSpPr>
        <p:spPr>
          <a:xfrm>
            <a:off x="3714308" y="1299334"/>
            <a:ext cx="3606371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Clustering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Reinforcement learning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Agent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Environment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Reward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Policy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Deep learning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Neural network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Transfer learning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42C1F0-BFEA-FF64-C8D1-26451E9CF3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0" b="640"/>
          <a:stretch>
            <a:fillRect/>
          </a:stretch>
        </p:blipFill>
        <p:spPr>
          <a:xfrm flipH="1">
            <a:off x="8394191" y="3429000"/>
            <a:ext cx="3278463" cy="2982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898 -0.03842 L 0.00898 -0.03842 C 0.01093 -0.07731 0.0164 -0.08657 0.00612 -0.11481 C 0.00442 -0.11991 0.00195 -0.12384 -0.00078 -0.12731 C -0.00287 -0.12986 -0.00547 -0.13055 -0.00769 -0.13217 C -0.01146 -0.13148 -0.01524 -0.13125 -0.01888 -0.12963 C -0.02084 -0.12893 -0.02357 -0.12824 -0.02435 -0.12477 C -0.02618 -0.11713 -0.02487 -0.10833 -0.02578 -0.1 C -0.02722 -0.0868 -0.02956 -0.07384 -0.03138 -0.06065 C -0.02956 -0.04074 -0.02917 -0.02037 -0.02578 -0.00139 C -0.02435 0.00648 -0.02058 0.01227 -0.01745 0.01852 C -0.01185 0.0294 -0.00521 0.02917 0.00338 0.03079 C 0.01172 0.03218 0.02005 0.03241 0.02838 0.03333 C 0.03294 0.03241 0.03776 0.0331 0.04231 0.03079 C 0.05299 0.02523 0.05911 0.00695 0.06445 -0.0088 C 0.08307 -0.06227 0.07968 -0.05393 0.08815 -0.10741 C 0.08711 -0.12407 0.08932 -0.1419 0.08528 -0.15694 C 0.08007 -0.17639 0.07096 -0.19213 0.06172 -0.20625 C 0.04505 -0.23194 0.02005 -0.24699 -0.00078 -0.25555 C -0.01081 -0.25972 -0.02123 -0.26065 -0.03138 -0.26296 C -0.03685 -0.26227 -0.0431 -0.26528 -0.04805 -0.26065 C -0.05534 -0.25393 -0.06029 -0.2412 -0.06602 -0.23102 C -0.10573 -0.16042 -0.09297 -0.18449 -0.12578 -0.09259 C -0.12813 -0.07778 -0.13086 -0.06319 -0.13269 -0.04815 C -0.13854 -0.00092 -0.14349 0.03958 -0.12995 0.0875 C -0.125 0.10533 -0.1142 0.11597 -0.10495 0.12708 C -0.08503 0.15116 -0.07032 0.15995 -0.04805 0.16898 C -0.04206 0.1713 -0.03594 0.17222 -0.02995 0.17408 C -0.00769 0.1706 0.01523 0.175 0.03672 0.16412 C 0.04583 0.15949 0.05104 0.1419 0.05755 0.12963 C 0.14336 -0.03333 0.12044 0.02963 0.15755 -0.09259 C 0.1608 -0.12639 0.16836 -0.15972 0.16731 -0.19398 C 0.1664 -0.22106 0.15963 -0.24699 0.15195 -0.27037 C 0.14362 -0.2963 0.13307 -0.32083 0.12005 -0.33958 C 0.10664 -0.3588 0.09049 -0.37199 0.07422 -0.38148 C 0.02877 -0.40856 -0.00651 -0.40509 -0.05352 -0.4088 C -0.09011 -0.40208 -0.12722 -0.40208 -0.16328 -0.38889 C -0.17787 -0.3838 -0.19128 -0.36944 -0.20352 -0.3544 C -0.22995 -0.32268 -0.24987 -0.27523 -0.26472 -0.22592 C -0.27539 -0.19028 -0.28321 -0.15185 -0.29245 -0.11481 C -0.30482 0.02894 -0.31198 0.04514 -0.28685 0.22083 C -0.28112 0.26181 -0.24519 0.31875 -0.22722 0.3419 C -0.19766 0.37986 -0.16029 0.41019 -0.12578 0.42824 C -0.1 0.4419 -0.05664 0.4463 -0.02995 0.45046 L 0.07148 0.44815 C 0.07617 0.44745 0.07981 0.44005 0.08398 0.43565 C 0.10013 0.41829 0.1138 0.40324 0.12838 0.38148 C 0.13333 0.37384 0.13737 0.36435 0.14231 0.35671 C 0.16979 0.31435 0.18932 0.29815 0.20755 0.24815 C 0.21354 0.23171 0.21862 0.21435 0.22278 0.1963 C 0.24192 0.11343 0.24284 0.09977 0.25338 0.02824 C 0.25429 -0.00717 0.25677 -0.04259 0.25612 -0.07778 C 0.25547 -0.12569 0.24557 -0.18935 0.23815 -0.23333 C 0.23359 -0.26018 0.23007 -0.28773 0.22278 -0.3125 C 0.19935 -0.39167 0.18021 -0.42893 0.14362 -0.48518 C 0.11067 -0.53634 0.08763 -0.56736 0.04505 -0.59143 C -0.0017 -0.61782 -0.03334 -0.61481 -0.08138 -0.61852 C -0.14623 -0.61551 -0.17865 -0.62546 -0.23555 -0.59143 C -0.26823 -0.57176 -0.30925 -0.53657 -0.33828 -0.5 C -0.36511 -0.46667 -0.41302 -0.38935 -0.43412 -0.35185 C -0.45391 -0.3169 -0.48138 -0.2581 -0.49388 -0.21366 C -0.50313 -0.18055 -0.50925 -0.14491 -0.51602 -0.10995 C -0.53151 -0.03194 -0.53203 -0.01875 -0.54245 0.06042 C -0.5444 0.11134 -0.55196 0.24375 -0.54662 0.30486 C -0.54479 0.3257 -0.53972 0.3456 -0.53412 0.36412 C -0.51719 0.41968 -0.49493 0.4757 -0.47019 0.52222 C -0.44401 0.5713 -0.41263 0.6206 -0.38269 0.66296 C -0.36524 0.6875 -0.33724 0.72176 -0.31745 0.73935 C -0.29805 0.75671 -0.27813 0.77292 -0.25769 0.78634 C -0.23776 0.79931 -0.21758 0.81158 -0.19662 0.81852 C -0.16224 0.82963 -0.12722 0.83333 -0.09245 0.84074 C -0.04388 0.83796 0.01575 0.84329 0.06315 0.81111 C 0.09153 0.79167 0.11679 0.75995 0.14362 0.73449 C 0.23047 0.56736 0.28828 0.47801 0.34922 0.27778 C 0.37304 0.19908 0.37838 0.03912 0.38672 -0.03842 C 0.39231 -0.09074 0.40065 -0.14213 0.40755 -0.19398 C 0.40898 -0.24005 0.41757 -0.28727 0.41172 -0.33217 C 0.40325 -0.39653 0.38646 -0.45764 0.36588 -0.5125 C 0.32877 -0.61111 0.23463 -0.73032 0.18398 -0.78866 C 0.14909 -0.82893 0.06888 -0.90532 0.02278 -0.92454 C -0.00482 -0.93611 -0.09506 -0.93611 -0.12019 -0.93704 C -0.22696 -0.92685 -0.24714 -0.93842 -0.34102 -0.8875 C -0.36953 -0.87222 -0.3974 -0.85278 -0.42435 -0.83079 C -0.48685 -0.78032 -0.53282 -0.73333 -0.58412 -0.65324 C -0.60104 -0.62662 -0.61615 -0.59606 -0.62995 -0.56435 C -0.63841 -0.54467 -0.6444 -0.52199 -0.65078 -0.5 C -0.66667 -0.4456 -0.68594 -0.39305 -0.69662 -0.33472 C -0.7069 -0.2787 -0.71966 -0.21134 -0.72722 -0.1544 C -0.73086 -0.12685 -0.73282 -0.09838 -0.73555 -0.07037 C -0.74493 0.13287 -0.74571 0.09954 -0.73698 0.39375 C -0.73646 0.40741 -0.72722 0.48495 -0.72305 0.50972 C -0.7224 0.5132 -0.72175 0.51713 -0.72019 0.51968 C -0.70716 0.53982 -0.70287 0.54259 -0.68972 0.55417 C -0.67253 0.55093 -0.65534 0.54884 -0.63828 0.54445 C -0.62735 0.54144 -0.62618 0.53704 -0.61745 0.53195 C -0.61563 0.53102 -0.61381 0.53056 -0.61185 0.52963 C -0.60912 0.52801 -0.60638 0.52593 -0.60352 0.52454 C -0.59532 0.52037 -0.58685 0.51713 -0.57852 0.51227 C -0.57136 0.50787 -0.55586 0.49861 -0.55078 0.49745 L -0.53972 0.49491 C -0.53229 0.49653 -0.52448 0.49514 -0.51745 0.5 C -0.51472 0.50162 -0.51003 0.51644 -0.50769 0.52222 C -0.50508 0.5287 -0.50274 0.53611 -0.49935 0.5419 C -0.49805 0.54445 -0.49701 0.54769 -0.49519 0.54931 C -0.4931 0.55116 -0.49063 0.55093 -0.48828 0.55185 C -0.48685 0.54931 -0.48464 0.54769 -0.48412 0.54445 C -0.48256 0.5338 -0.48112 0.50903 -0.48555 0.49745 C -0.48672 0.49445 -0.4892 0.49421 -0.49102 0.49259 C -0.49662 0.49421 -0.50326 0.49144 -0.50769 0.49745 C -0.51797 0.51134 -0.51745 0.53449 -0.50495 0.5419 C -0.4961 0.54699 -0.48646 0.54514 -0.47722 0.54676 C -0.46511 0.5419 -0.453 0.53773 -0.44102 0.53195 C -0.43581 0.5294 -0.43125 0.52153 -0.42578 0.52222 C -0.4211 0.52245 -0.41745 0.53033 -0.41328 0.53449 C -0.41003 0.54769 -0.40534 0.55995 -0.40352 0.57408 C -0.40248 0.58195 -0.40052 0.59653 -0.40495 0.59861 C -0.41498 0.60324 -0.42539 0.59213 -0.43555 0.58889 C -0.44519 0.57732 -0.45769 0.57083 -0.46472 0.55417 C -0.46784 0.54699 -0.46706 0.52778 -0.46185 0.52708 C -0.44623 0.52477 -0.43086 0.5375 -0.41602 0.54676 C -0.31068 0.61273 -0.375 0.60116 -0.30495 0.60602 C -0.30131 0.5963 -0.29401 0.5882 -0.29388 0.57639 C -0.29297 0.51898 -0.29545 0.52199 -0.31185 0.51227 C -0.31836 0.51482 -0.32513 0.51551 -0.33138 0.51968 C -0.3405 0.52546 -0.34805 0.53958 -0.35769 0.5419 C -0.36615 0.54398 -0.37435 0.53519 -0.38269 0.53195 C -0.39948 0.50208 -0.40599 0.50486 -0.40222 0.46042 C -0.40183 0.45579 -0.39844 0.4537 -0.39662 0.45046 C -0.37891 0.4662 -0.33828 0.50625 -0.31745 0.50972 C -0.31133 0.51088 -0.30638 0.5 -0.30078 0.49491 C -0.2944 0.46296 -0.28503 0.4382 -0.29805 0.4037 C -0.30287 0.39074 -0.31289 0.38704 -0.32019 0.37894 C -0.32813 0.38472 -0.33594 0.39074 -0.34388 0.3963 C -0.34935 0.39977 -0.35469 0.40741 -0.36055 0.40602 C -0.36615 0.40463 -0.36979 0.39445 -0.37435 0.38889 C -0.37578 0.37963 -0.37839 0.37107 -0.37852 0.36158 C -0.37878 0.35324 -0.37761 0.34468 -0.37578 0.33704 C -0.37474 0.33264 -0.37201 0.33056 -0.37019 0.32708 C -0.36823 0.32315 -0.36628 0.31921 -0.36472 0.31482 C -0.36198 0.30671 -0.36003 0.29815 -0.35769 0.29005 C -0.35821 0.27269 -0.35847 0.25533 -0.35912 0.2382 C -0.35951 0.22917 -0.36055 0.22014 -0.36055 0.21111 C -0.36055 0.16482 -0.3599 0.11875 -0.35912 0.07269 C -0.35899 0.06111 -0.35782 0.04977 -0.35769 0.0382 C -0.35729 -0.02361 -0.35769 -0.08518 -0.35769 -0.14699 " pathEditMode="relative" ptsTypes="AAAAAAAAAAAAAAAAAAAAAAAAAAAAAAAAAAAAAAAAAAAAAAAAAAAAAAAAAAAAAAAAAAAAAAAAAAAAAAAAAAAAAAAAAAAAAAAAAAAAAAAAAAAAAAAAAAAAAAAAAAAAAAAAAAAAAAAAAAAAAAAAA">
                                      <p:cBhvr>
                                        <p:cTn id="6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9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C00000"/>
      </a:accent1>
      <a:accent2>
        <a:srgbClr val="C00000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45810</TotalTime>
  <Words>1625</Words>
  <Application>Microsoft Office PowerPoint</Application>
  <PresentationFormat>Widescreen</PresentationFormat>
  <Paragraphs>240</Paragraphs>
  <Slides>28</Slides>
  <Notes>15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Arial</vt:lpstr>
      <vt:lpstr>Bahnschrift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46</cp:revision>
  <dcterms:created xsi:type="dcterms:W3CDTF">2025-08-11T14:07:39Z</dcterms:created>
  <dcterms:modified xsi:type="dcterms:W3CDTF">2026-09-25T18:48:02Z</dcterms:modified>
</cp:coreProperties>
</file>