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3" r:id="rId10"/>
    <p:sldId id="264" r:id="rId11"/>
    <p:sldId id="265" r:id="rId12"/>
    <p:sldId id="266" r:id="rId13"/>
    <p:sldId id="267" r:id="rId14"/>
    <p:sldId id="268" r:id="rId15"/>
    <p:sldId id="290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75" r:id="rId24"/>
    <p:sldId id="276" r:id="rId25"/>
    <p:sldId id="277" r:id="rId26"/>
    <p:sldId id="278" r:id="rId27"/>
    <p:sldId id="294" r:id="rId28"/>
    <p:sldId id="279" r:id="rId29"/>
    <p:sldId id="295" r:id="rId30"/>
    <p:sldId id="280" r:id="rId31"/>
    <p:sldId id="292" r:id="rId32"/>
    <p:sldId id="281" r:id="rId33"/>
    <p:sldId id="282" r:id="rId34"/>
    <p:sldId id="283" r:id="rId35"/>
    <p:sldId id="2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1D243-6F37-4712-B69C-DFC50A0F28A5}" v="10" dt="2026-08-24T21:06:52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6" autoAdjust="0"/>
    <p:restoredTop sz="89467" autoAdjust="0"/>
  </p:normalViewPr>
  <p:slideViewPr>
    <p:cSldViewPr snapToGrid="0">
      <p:cViewPr>
        <p:scale>
          <a:sx n="60" d="100"/>
          <a:sy n="60" d="100"/>
        </p:scale>
        <p:origin x="30" y="8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 sldOrd">
      <pc:chgData name="Michael Hill" userId="41dba03d-e58d-4389-9894-554c10310ba4" providerId="ADAL" clId="{EF23FE1D-A042-481E-AFD7-2A9FB0847F54}" dt="2026-08-24T21:06:52.408" v="16"/>
      <pc:docMkLst>
        <pc:docMk/>
      </pc:docMkLst>
      <pc:sldChg chg="modSp">
        <pc:chgData name="Michael Hill" userId="41dba03d-e58d-4389-9894-554c10310ba4" providerId="ADAL" clId="{EF23FE1D-A042-481E-AFD7-2A9FB0847F54}" dt="2026-08-24T19:54:36.104" v="0"/>
        <pc:sldMkLst>
          <pc:docMk/>
          <pc:sldMk cId="0" sldId="258"/>
        </pc:sldMkLst>
        <pc:spChg chg="mod">
          <ac:chgData name="Michael Hill" userId="41dba03d-e58d-4389-9894-554c10310ba4" providerId="ADAL" clId="{EF23FE1D-A042-481E-AFD7-2A9FB0847F54}" dt="2026-08-24T19:54:36.104" v="0"/>
          <ac:spMkLst>
            <pc:docMk/>
            <pc:sldMk cId="0" sldId="258"/>
            <ac:spMk id="45" creationId="{4302CFFF-BE5B-47E0-C1A5-5C26101951F2}"/>
          </ac:spMkLst>
        </pc:spChg>
      </pc:sldChg>
      <pc:sldChg chg="modSp">
        <pc:chgData name="Michael Hill" userId="41dba03d-e58d-4389-9894-554c10310ba4" providerId="ADAL" clId="{EF23FE1D-A042-481E-AFD7-2A9FB0847F54}" dt="2026-08-24T19:55:06.983" v="1"/>
        <pc:sldMkLst>
          <pc:docMk/>
          <pc:sldMk cId="0" sldId="259"/>
        </pc:sldMkLst>
        <pc:spChg chg="mod">
          <ac:chgData name="Michael Hill" userId="41dba03d-e58d-4389-9894-554c10310ba4" providerId="ADAL" clId="{EF23FE1D-A042-481E-AFD7-2A9FB0847F54}" dt="2026-08-24T19:55:06.983" v="1"/>
          <ac:spMkLst>
            <pc:docMk/>
            <pc:sldMk cId="0" sldId="259"/>
            <ac:spMk id="17" creationId="{84CAFBB0-211F-BCBA-92B6-12D53A7C4481}"/>
          </ac:spMkLst>
        </pc:spChg>
      </pc:sldChg>
      <pc:sldChg chg="addSp">
        <pc:chgData name="Michael Hill" userId="41dba03d-e58d-4389-9894-554c10310ba4" providerId="ADAL" clId="{EF23FE1D-A042-481E-AFD7-2A9FB0847F54}" dt="2026-08-24T19:57:40.574" v="2"/>
        <pc:sldMkLst>
          <pc:docMk/>
          <pc:sldMk cId="0" sldId="260"/>
        </pc:sldMkLst>
        <pc:picChg chg="add">
          <ac:chgData name="Michael Hill" userId="41dba03d-e58d-4389-9894-554c10310ba4" providerId="ADAL" clId="{EF23FE1D-A042-481E-AFD7-2A9FB0847F54}" dt="2026-08-24T19:57:40.574" v="2"/>
          <ac:picMkLst>
            <pc:docMk/>
            <pc:sldMk cId="0" sldId="260"/>
            <ac:picMk id="2" creationId="{77F2A889-578C-FCAC-143E-230CCAA0A813}"/>
          </ac:picMkLst>
        </pc:picChg>
      </pc:sldChg>
      <pc:sldChg chg="addSp">
        <pc:chgData name="Michael Hill" userId="41dba03d-e58d-4389-9894-554c10310ba4" providerId="ADAL" clId="{EF23FE1D-A042-481E-AFD7-2A9FB0847F54}" dt="2026-08-24T20:24:48.970" v="5"/>
        <pc:sldMkLst>
          <pc:docMk/>
          <pc:sldMk cId="0" sldId="261"/>
        </pc:sldMkLst>
        <pc:picChg chg="add">
          <ac:chgData name="Michael Hill" userId="41dba03d-e58d-4389-9894-554c10310ba4" providerId="ADAL" clId="{EF23FE1D-A042-481E-AFD7-2A9FB0847F54}" dt="2026-08-24T20:24:48.970" v="5"/>
          <ac:picMkLst>
            <pc:docMk/>
            <pc:sldMk cId="0" sldId="261"/>
            <ac:picMk id="2" creationId="{43C78FE2-B83D-6067-4F51-E3F17FF61A1D}"/>
          </ac:picMkLst>
        </pc:picChg>
      </pc:sldChg>
      <pc:sldChg chg="addSp modSp">
        <pc:chgData name="Michael Hill" userId="41dba03d-e58d-4389-9894-554c10310ba4" providerId="ADAL" clId="{EF23FE1D-A042-481E-AFD7-2A9FB0847F54}" dt="2026-08-24T20:14:11.837" v="4"/>
        <pc:sldMkLst>
          <pc:docMk/>
          <pc:sldMk cId="0" sldId="262"/>
        </pc:sldMkLst>
        <pc:graphicFrameChg chg="add mod">
          <ac:chgData name="Michael Hill" userId="41dba03d-e58d-4389-9894-554c10310ba4" providerId="ADAL" clId="{EF23FE1D-A042-481E-AFD7-2A9FB0847F54}" dt="2026-08-24T20:14:11.837" v="4"/>
          <ac:graphicFrameMkLst>
            <pc:docMk/>
            <pc:sldMk cId="0" sldId="262"/>
            <ac:graphicFrameMk id="6" creationId="{7892AB61-272D-F1DF-D056-5E99383D2307}"/>
          </ac:graphicFrameMkLst>
        </pc:graphicFrameChg>
      </pc:sldChg>
      <pc:sldChg chg="ord">
        <pc:chgData name="Michael Hill" userId="41dba03d-e58d-4389-9894-554c10310ba4" providerId="ADAL" clId="{EF23FE1D-A042-481E-AFD7-2A9FB0847F54}" dt="2026-08-24T20:11:22.125" v="3"/>
        <pc:sldMkLst>
          <pc:docMk/>
          <pc:sldMk cId="0" sldId="264"/>
        </pc:sldMkLst>
      </pc:sldChg>
      <pc:sldChg chg="addSp">
        <pc:chgData name="Michael Hill" userId="41dba03d-e58d-4389-9894-554c10310ba4" providerId="ADAL" clId="{EF23FE1D-A042-481E-AFD7-2A9FB0847F54}" dt="2026-08-24T20:31:08.870" v="6"/>
        <pc:sldMkLst>
          <pc:docMk/>
          <pc:sldMk cId="0" sldId="269"/>
        </pc:sldMkLst>
        <pc:picChg chg="add">
          <ac:chgData name="Michael Hill" userId="41dba03d-e58d-4389-9894-554c10310ba4" providerId="ADAL" clId="{EF23FE1D-A042-481E-AFD7-2A9FB0847F54}" dt="2026-08-24T20:31:08.870" v="6"/>
          <ac:picMkLst>
            <pc:docMk/>
            <pc:sldMk cId="0" sldId="269"/>
            <ac:picMk id="2" creationId="{3A3EB976-ACAF-BFCB-FB59-8351B7D09A65}"/>
          </ac:picMkLst>
        </pc:picChg>
      </pc:sldChg>
      <pc:sldChg chg="addSp delSp modSp">
        <pc:chgData name="Michael Hill" userId="41dba03d-e58d-4389-9894-554c10310ba4" providerId="ADAL" clId="{EF23FE1D-A042-481E-AFD7-2A9FB0847F54}" dt="2026-08-24T20:39:21.986" v="12"/>
        <pc:sldMkLst>
          <pc:docMk/>
          <pc:sldMk cId="0" sldId="272"/>
        </pc:sldMkLst>
        <pc:spChg chg="add del mod">
          <ac:chgData name="Michael Hill" userId="41dba03d-e58d-4389-9894-554c10310ba4" providerId="ADAL" clId="{EF23FE1D-A042-481E-AFD7-2A9FB0847F54}" dt="2026-08-24T20:39:21.986" v="12"/>
          <ac:spMkLst>
            <pc:docMk/>
            <pc:sldMk cId="0" sldId="272"/>
            <ac:spMk id="2" creationId="{AF95BB9A-2E01-739B-DB6C-3152CECDEF97}"/>
          </ac:spMkLst>
        </pc:spChg>
        <pc:spChg chg="add mod">
          <ac:chgData name="Michael Hill" userId="41dba03d-e58d-4389-9894-554c10310ba4" providerId="ADAL" clId="{EF23FE1D-A042-481E-AFD7-2A9FB0847F54}" dt="2026-08-24T20:38:52.497" v="9" actId="767"/>
          <ac:spMkLst>
            <pc:docMk/>
            <pc:sldMk cId="0" sldId="272"/>
            <ac:spMk id="6" creationId="{6949BB3B-5A3F-D1AC-E590-0C9E3E11DAFC}"/>
          </ac:spMkLst>
        </pc:spChg>
        <pc:spChg chg="add mod">
          <ac:chgData name="Michael Hill" userId="41dba03d-e58d-4389-9894-554c10310ba4" providerId="ADAL" clId="{EF23FE1D-A042-481E-AFD7-2A9FB0847F54}" dt="2026-08-24T20:38:59.261" v="10"/>
          <ac:spMkLst>
            <pc:docMk/>
            <pc:sldMk cId="0" sldId="272"/>
            <ac:spMk id="10" creationId="{DECA5039-7260-60BB-FA34-9ABCBECF39AB}"/>
          </ac:spMkLst>
        </pc:spChg>
        <pc:spChg chg="add mod">
          <ac:chgData name="Michael Hill" userId="41dba03d-e58d-4389-9894-554c10310ba4" providerId="ADAL" clId="{EF23FE1D-A042-481E-AFD7-2A9FB0847F54}" dt="2026-08-24T20:39:06.627" v="11"/>
          <ac:spMkLst>
            <pc:docMk/>
            <pc:sldMk cId="0" sldId="272"/>
            <ac:spMk id="11" creationId="{1E16A0BB-9079-E4EF-B6C8-EB9C46B3B5C1}"/>
          </ac:spMkLst>
        </pc:spChg>
        <pc:picChg chg="add">
          <ac:chgData name="Michael Hill" userId="41dba03d-e58d-4389-9894-554c10310ba4" providerId="ADAL" clId="{EF23FE1D-A042-481E-AFD7-2A9FB0847F54}" dt="2026-08-24T20:38:40.944" v="8"/>
          <ac:picMkLst>
            <pc:docMk/>
            <pc:sldMk cId="0" sldId="272"/>
            <ac:picMk id="3" creationId="{90C3BA09-CEED-9A56-CB84-F5AB255AA696}"/>
          </ac:picMkLst>
        </pc:picChg>
      </pc:sldChg>
      <pc:sldChg chg="addSp">
        <pc:chgData name="Michael Hill" userId="41dba03d-e58d-4389-9894-554c10310ba4" providerId="ADAL" clId="{EF23FE1D-A042-481E-AFD7-2A9FB0847F54}" dt="2026-08-24T20:51:58.556" v="14"/>
        <pc:sldMkLst>
          <pc:docMk/>
          <pc:sldMk cId="0" sldId="278"/>
        </pc:sldMkLst>
        <pc:picChg chg="add">
          <ac:chgData name="Michael Hill" userId="41dba03d-e58d-4389-9894-554c10310ba4" providerId="ADAL" clId="{EF23FE1D-A042-481E-AFD7-2A9FB0847F54}" dt="2026-08-24T20:51:58.556" v="14"/>
          <ac:picMkLst>
            <pc:docMk/>
            <pc:sldMk cId="0" sldId="278"/>
            <ac:picMk id="2" creationId="{5F01EF58-BCBD-FD05-9702-7CBE6727E31E}"/>
          </ac:picMkLst>
        </pc:picChg>
      </pc:sldChg>
      <pc:sldChg chg="addSp modSp modAnim">
        <pc:chgData name="Michael Hill" userId="41dba03d-e58d-4389-9894-554c10310ba4" providerId="ADAL" clId="{EF23FE1D-A042-481E-AFD7-2A9FB0847F54}" dt="2026-08-24T21:06:52.408" v="16"/>
        <pc:sldMkLst>
          <pc:docMk/>
          <pc:sldMk cId="0" sldId="289"/>
        </pc:sldMkLst>
        <pc:picChg chg="add mod">
          <ac:chgData name="Michael Hill" userId="41dba03d-e58d-4389-9894-554c10310ba4" providerId="ADAL" clId="{EF23FE1D-A042-481E-AFD7-2A9FB0847F54}" dt="2026-08-24T21:06:52.408" v="16"/>
          <ac:picMkLst>
            <pc:docMk/>
            <pc:sldMk cId="0" sldId="289"/>
            <ac:picMk id="3" creationId="{7C647826-E22E-D000-11B9-3370EFBA85A3}"/>
          </ac:picMkLst>
        </pc:picChg>
      </pc:sldChg>
      <pc:sldChg chg="addSp">
        <pc:chgData name="Michael Hill" userId="41dba03d-e58d-4389-9894-554c10310ba4" providerId="ADAL" clId="{EF23FE1D-A042-481E-AFD7-2A9FB0847F54}" dt="2026-08-24T20:45:12.588" v="13"/>
        <pc:sldMkLst>
          <pc:docMk/>
          <pc:sldMk cId="0" sldId="291"/>
        </pc:sldMkLst>
        <pc:picChg chg="add">
          <ac:chgData name="Michael Hill" userId="41dba03d-e58d-4389-9894-554c10310ba4" providerId="ADAL" clId="{EF23FE1D-A042-481E-AFD7-2A9FB0847F54}" dt="2026-08-24T20:45:12.588" v="13"/>
          <ac:picMkLst>
            <pc:docMk/>
            <pc:sldMk cId="0" sldId="291"/>
            <ac:picMk id="2" creationId="{A9943586-E6A4-75BB-AAA1-A5264DA8B57D}"/>
          </ac:picMkLst>
        </pc:picChg>
      </pc:sldChg>
      <pc:sldChg chg="addSp">
        <pc:chgData name="Michael Hill" userId="41dba03d-e58d-4389-9894-554c10310ba4" providerId="ADAL" clId="{EF23FE1D-A042-481E-AFD7-2A9FB0847F54}" dt="2026-08-24T20:56:20.694" v="15"/>
        <pc:sldMkLst>
          <pc:docMk/>
          <pc:sldMk cId="441738810" sldId="295"/>
        </pc:sldMkLst>
        <pc:picChg chg="add">
          <ac:chgData name="Michael Hill" userId="41dba03d-e58d-4389-9894-554c10310ba4" providerId="ADAL" clId="{EF23FE1D-A042-481E-AFD7-2A9FB0847F54}" dt="2026-08-24T20:56:20.694" v="15"/>
          <ac:picMkLst>
            <pc:docMk/>
            <pc:sldMk cId="441738810" sldId="295"/>
            <ac:picMk id="2" creationId="{9CA8A93E-2748-87B5-117D-C344D118B8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8E23-1651-D71B-3B4F-D05A7EC3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705B9-228F-12A6-08A0-3028F8589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64F18-ECB6-7A2E-04A1-4400718CD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D9638-9B13-0A52-A99A-B552F603C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18216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6417-E27C-9628-AEE0-00108437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249BE-C3F2-FDA7-F18E-E1CE75B17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B7562-0766-16B3-3675-5AD90A07C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F36BE-5135-3B92-BD45-0B42A190A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023094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8397-F237-EE67-5C53-EA587C07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1F9B5-B961-38C3-7180-14CDEA4EB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050CA-89F6-6B4E-CBF0-9758DEC0D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E223D-9350-5585-130A-6D9ECEA01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0337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F6AB-BF08-9661-2A31-EE206A0A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650E-4B0D-DCDC-FC54-31BAC049C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3E3CA-CF2C-9C4B-A9D6-C50E0165B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9AE0F-652F-A276-F695-1860762F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8716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585647" y="3728134"/>
            <a:ext cx="5405377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DATA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ur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hedz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Binary and Bytes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Binary to decimal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Hexadecimal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Binary and hex in nibbles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Storing characters: ASCII and Unicode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Storing images, audio and video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WS A1-1: Data Conversions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DA05DA52-53F3-5069-8704-85C6E191112A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727F27D-DE85-5AFC-4248-A71B9019111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6141780-750B-E2BF-33AF-C7559D440BBA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C0331B-0F0A-56C3-278D-0CE284662224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2CFFF-BE5B-47E0-C1A5-5C26101951F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State one difference between lossy and lossless compression.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Your PA A1-2 took the bitmap from 176 characters to 91. Calculate the compression ratio, to two decimal places.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(c) The row WBWBWBWBWBWBWBWB encodes to 32 characters. State what this shows about run-length encoding.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 [3 marks] - do them now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606-FA7F-E7CA-33F4-CB9E22C28FC2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0CC6D5FE-5D4B-94F9-CF32-1A66953F4C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3BDCB5D8-BF89-B04F-6E61-C23403FD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DEB7B033-B3D2-6B02-867A-7AB3245950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B3158074-3A11-36DA-4CA3-80E551F205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7C12208B-36DB-B985-FE59-D5475F0CC67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7DEDF008-6456-5A00-0449-8CB9027AB57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EDEE4746-9AB8-C2FB-8BEC-C4394FC26B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D67F0EE9-4F62-A987-3F18-3C1026CB27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A6EC93C-2B47-070C-E4BD-6853F82CB553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CF5C16-D5A6-E783-DB93-14DF5227455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ED096A-0AD2-C79C-B921-CDC7517F7FCB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12A891-4683-7C61-FF6E-F590018617C1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CAFBB0-211F-BCBA-92B6-12D53A7C448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Lossless rebuilds the original exactly; lossy discards data permanently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176 / 91 = 1.93 :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(c) With short runs it makes the file bigger, so a saving is never guaranteed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A8D4D-7BF0-D4EF-5320-CC46EBBB28A1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296A879A-36EE-A5C6-8824-37713DFCF2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3" name="Picture 22" descr="url_upload_6a7f3d9e572a4.gif [effects output image]">
            <a:extLst>
              <a:ext uri="{FF2B5EF4-FFF2-40B4-BE49-F238E27FC236}">
                <a16:creationId xmlns:a16="http://schemas.microsoft.com/office/drawing/2014/main" id="{4171BACD-5369-E156-7F87-6E13300EC4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5" name="Picture 24" descr="url_upload_6a7f3d9e572a4.gif [effects output image]">
            <a:extLst>
              <a:ext uri="{FF2B5EF4-FFF2-40B4-BE49-F238E27FC236}">
                <a16:creationId xmlns:a16="http://schemas.microsoft.com/office/drawing/2014/main" id="{5F372235-E18B-A049-CAB8-24D34F9B8D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7" name="Picture 26" descr="url_upload_6a7f3d9e572a4.gif [effects output image]">
            <a:extLst>
              <a:ext uri="{FF2B5EF4-FFF2-40B4-BE49-F238E27FC236}">
                <a16:creationId xmlns:a16="http://schemas.microsoft.com/office/drawing/2014/main" id="{56045AFB-1CD8-4BAD-6388-7F97B33CEB2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29" name="Picture 28" descr="url_upload_6a7f3d9e572a4.gif [effects output image]">
            <a:extLst>
              <a:ext uri="{FF2B5EF4-FFF2-40B4-BE49-F238E27FC236}">
                <a16:creationId xmlns:a16="http://schemas.microsoft.com/office/drawing/2014/main" id="{E458C7E7-6912-2131-FEE3-4C5F01709D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1" name="Picture 30" descr="url_upload_6a7f3d9e572a4.gif [effects output image]">
            <a:extLst>
              <a:ext uri="{FF2B5EF4-FFF2-40B4-BE49-F238E27FC236}">
                <a16:creationId xmlns:a16="http://schemas.microsoft.com/office/drawing/2014/main" id="{DCFD7A00-CE56-14F6-5D44-EB46A62D44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3" name="Picture 32" descr="url_upload_6a7f3d9e572a4.gif [effects output image]">
            <a:extLst>
              <a:ext uri="{FF2B5EF4-FFF2-40B4-BE49-F238E27FC236}">
                <a16:creationId xmlns:a16="http://schemas.microsoft.com/office/drawing/2014/main" id="{C5C577E3-5E85-3D43-D654-AE3A587AE5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5" name="Picture 34" descr="url_upload_6a7f3d9e572a4.gif [effects output image]">
            <a:extLst>
              <a:ext uri="{FF2B5EF4-FFF2-40B4-BE49-F238E27FC236}">
                <a16:creationId xmlns:a16="http://schemas.microsoft.com/office/drawing/2014/main" id="{C5FA4E20-EB28-A7BF-9189-89F8AED9814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78546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bit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is one digit that can only be 0 or 1.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 transistor is either conducting or it is not. A capacitor is charged or it is not. A pit on a disc either reflects or it does not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Two states are easy to build, easy to detect, and hard to confuse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Think about how much easier it is to tell the difference between black and white than it is 10 shades of grey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Ten states would need ten reliably distinguishable voltage levels, which takes a lot of overhead to build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Binary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is the thing that makes the hardware possible at all, not a limitation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8225" y="155968"/>
            <a:ext cx="37114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WHY BINARY?</a:t>
            </a:r>
          </a:p>
        </p:txBody>
      </p:sp>
      <p:pic>
        <p:nvPicPr>
          <p:cNvPr id="2" name="Picture 1" descr="Shades Of Grey Color Chart Gray Color Names Fifty Shades Of Grey Color">
            <a:extLst>
              <a:ext uri="{FF2B5EF4-FFF2-40B4-BE49-F238E27FC236}">
                <a16:creationId xmlns:a16="http://schemas.microsoft.com/office/drawing/2014/main" id="{77F2A889-578C-FCAC-143E-230CCAA0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58" y="2186470"/>
            <a:ext cx="4001772" cy="4001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1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bit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a single 0 or one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4 bits  =  1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nibble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(how cute)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8 bits  =  1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byte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the standard unit of storage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One byte has 2^8 = 256 possible patterns, so it can hold 0 to 255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capacity you have ever seen is bytes: KB, MB, GB, TB</a:t>
            </a:r>
          </a:p>
          <a:p>
            <a:pPr>
              <a:spcBef>
                <a:spcPts val="1200"/>
              </a:spcBef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Q2 (a)-(c)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49325" y="155968"/>
            <a:ext cx="69308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BITS, BYTES AND NIBBLES</a:t>
            </a:r>
          </a:p>
        </p:txBody>
      </p:sp>
      <p:pic>
        <p:nvPicPr>
          <p:cNvPr id="2" name="Picture 1" descr="Chain Chomp - Super Mario Wiki, the Mario encyclopedia">
            <a:extLst>
              <a:ext uri="{FF2B5EF4-FFF2-40B4-BE49-F238E27FC236}">
                <a16:creationId xmlns:a16="http://schemas.microsoft.com/office/drawing/2014/main" id="{43C78FE2-B83D-6067-4F51-E3F17FF61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581" y="4608845"/>
            <a:ext cx="3767883" cy="1899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In decimal, 4 0 7 means four hundreds, no tens, seven ones. Each column is ten times the one to its right.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Binary is the same idea with a smaller base. Each column is twice the one to its right (2</a:t>
            </a:r>
            <a:r>
              <a:rPr lang="en-US" sz="22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) with n being the position from the left: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40129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PLACE VALUE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D14C9-AA49-54C3-780E-13904F5E4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145937"/>
              </p:ext>
            </p:extLst>
          </p:nvPr>
        </p:nvGraphicFramePr>
        <p:xfrm>
          <a:off x="1290429" y="438429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92AB61-272D-F1DF-D056-5E99383D2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944552"/>
              </p:ext>
            </p:extLst>
          </p:nvPr>
        </p:nvGraphicFramePr>
        <p:xfrm>
          <a:off x="1474913" y="3221739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10000"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place values above the bits. Add up the columns holding a 1.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0110 1010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128 -&gt; 0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64 -&gt; 1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32 -&gt; 1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16 -&gt;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8 -&gt; 1 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4 -&gt; 0 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2 -&gt; 1      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1 -&gt;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64  +  32  +  8  +  2   =   106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0110 1010 is 106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85799" y="155968"/>
            <a:ext cx="55402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BINARY TO DECIMAL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AD63B1-1B28-A5DE-075A-20D1C2B75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154680"/>
              </p:ext>
            </p:extLst>
          </p:nvPr>
        </p:nvGraphicFramePr>
        <p:xfrm>
          <a:off x="2584315" y="304567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8883A-6785-743A-299D-2B76C532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598C78-45C1-EFEA-3A84-84A5375B2EB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7BAB92-E156-9E4F-9912-E14FCC7E0FF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CD4B90-F64F-3311-3F9C-112FB07EEE3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8FCB4D-04EA-A851-A98C-E6908EE5239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5EDA42-14EA-DB81-70A1-0F42B1659A8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Answer both of these with me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1111 0100    -&gt;  ???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0000 1111    -&gt;   ???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1049F-81CC-45F3-3416-2C0D4888364C}"/>
              </a:ext>
            </a:extLst>
          </p:cNvPr>
          <p:cNvSpPr/>
          <p:nvPr/>
        </p:nvSpPr>
        <p:spPr>
          <a:xfrm>
            <a:off x="-358628" y="155968"/>
            <a:ext cx="693589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TWO MORE, SAME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0CCBE5-51A9-6C4F-FE9D-79A16CC18D6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41649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21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Answer both of these with 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   1111 0100    -&gt;    128 + 64 + 32 + 16 + 4    =   244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   0000 1111    -&gt;    8 + 4 + 2 + 1             =    15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1111 1111 is 128 + 64 + 32 + 16 + 8 + 4 + 2 + 1 = 255 - the largest possible byte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93589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TWO MORE, SAME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5DCC62-F4E6-1BCE-D2DC-EA5596ED6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58836"/>
              </p:ext>
            </p:extLst>
          </p:nvPr>
        </p:nvGraphicFramePr>
        <p:xfrm>
          <a:off x="2032000" y="541649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Q3 (a)-(c) - do them now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Q3 (a)   1011 0010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Q3 (b)   0011 1111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Q3 (c)   1000 0001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26795" y="155968"/>
            <a:ext cx="57773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BINARY TO DECIMAL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Same table, read a different way. Go left to right and decide if the remaining values are smaller or equal than the current value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Value is smaller or equal    -&gt;  write 1, subtract it from the initial number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Value is larger -&gt;  write 0, continue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Stop when nothing is left, then pad the rest with zeros to fill eight bits.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82164" y="185784"/>
            <a:ext cx="584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DECIMAL TO BINARY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4D8E6B-11A2-F5D2-217C-0455848D5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37119"/>
              </p:ext>
            </p:extLst>
          </p:nvPr>
        </p:nvGraphicFramePr>
        <p:xfrm>
          <a:off x="2032000" y="541649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128 fits in 173    -&gt;  1    (45 left)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64 does not fit   -&gt; 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32 fits in  45    -&gt;  1    (13 left)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16 does not fit   -&gt; 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8 fits in  13    -&gt;  1    ( 5 left)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4 fits in   5    -&gt;  1    ( 1 left)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2 does not fit   -&gt; 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1 fits in   1    -&gt;  1    ( 0 left)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Answer: 1010 1101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can check by adding the columns back: 128 + 32 + 8 + 4 + 1 = 173.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66317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DECIMAL TO BINARY: 173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76D120-A735-5ADA-9146-A50E105BF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84745"/>
              </p:ext>
            </p:extLst>
          </p:nvPr>
        </p:nvGraphicFramePr>
        <p:xfrm>
          <a:off x="4828675" y="3372953"/>
          <a:ext cx="65183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79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Q4 (a)-(c) - do them now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Q4 (a)   20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Q4 (b)   100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Q4 (c)   201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Ensure you include eight bits every time, leading zeros included.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If you need to, check by adding the columns back. It costs five seconds and catches everything.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113" y="155968"/>
            <a:ext cx="571305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DECIMAL TO BINARY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Hexadecimal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base 16.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Sixteen digits, so the six after 9 are letters instead of traditional digits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0  1  2  3  4  5  6  7  8  9 A=10    B=11    C=12    D=13    E=14    F=15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Place values are powers of 16: the right-hand column is ones, the next is sixteens, 16</a:t>
            </a:r>
            <a:r>
              <a:rPr lang="en-US" sz="24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r>
              <a:rPr lang="en-US" sz="2400" baseline="-25000" dirty="0">
                <a:solidFill>
                  <a:schemeClr val="bg1"/>
                </a:solidFill>
                <a:latin typeface="Bahnschrift" panose="020B0502040204020203" pitchFamily="34" charset="0"/>
              </a:rPr>
              <a:t>, 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on and so forth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3A is (3 x 16) + 10 = 58,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FF is (15 x 16) + 15 = 255 - the same largest byte as before.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134039" y="129275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HEXADECIMAL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14AE4A-DA95-84B7-C21D-435D86ECB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51629"/>
              </p:ext>
            </p:extLst>
          </p:nvPr>
        </p:nvGraphicFramePr>
        <p:xfrm>
          <a:off x="2836840" y="5196008"/>
          <a:ext cx="65183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790">
                  <a:extLst>
                    <a:ext uri="{9D8B030D-6E8A-4147-A177-3AD203B41FA5}">
                      <a16:colId xmlns:a16="http://schemas.microsoft.com/office/drawing/2014/main" val="1555529726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226208560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417559472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610605035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1227137841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254115528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3585068788"/>
                    </a:ext>
                  </a:extLst>
                </a:gridCol>
                <a:gridCol w="814790">
                  <a:extLst>
                    <a:ext uri="{9D8B030D-6E8A-4147-A177-3AD203B41FA5}">
                      <a16:colId xmlns:a16="http://schemas.microsoft.com/office/drawing/2014/main" val="1259888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01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5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Because 1101011010110110 is nearly impossible to read compared to D6B6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Two hex digits describe exactly one byte, making it convenient to map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may even already be familiar with hexadecimal in colors: #FF0000 is a colour in hex - red FF, green 00, blue 00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MAC addresses, memory addresses, error codes, and hex dumps are also in hexadecimal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99353" y="155968"/>
            <a:ext cx="67273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WHY BOTHER WITH HEX?</a:t>
            </a:r>
          </a:p>
        </p:txBody>
      </p:sp>
      <p:pic>
        <p:nvPicPr>
          <p:cNvPr id="2" name="Picture 1" descr="Color Picker: red | #FF0000">
            <a:extLst>
              <a:ext uri="{FF2B5EF4-FFF2-40B4-BE49-F238E27FC236}">
                <a16:creationId xmlns:a16="http://schemas.microsoft.com/office/drawing/2014/main" id="{3A3EB976-ACAF-BFCB-FB59-8351B7D09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48" t="25985" r="22539" b="29932"/>
          <a:stretch>
            <a:fillRect/>
          </a:stretch>
        </p:blipFill>
        <p:spPr>
          <a:xfrm>
            <a:off x="3845212" y="4012902"/>
            <a:ext cx="5165558" cy="21496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Hex to decimal: multiply the left digit by 16, add the right digit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8B   -&gt;   (8 x 16) + 11   =   139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Decimal to hex: divide by 16. The whole number is the left digit; the remainder is the right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150   -&gt;   150 / 16 = 9 remainder 6   -&gt;   96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These only work for values that are a byte or less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How would it work if I needed to convert a 3 digit hexadecimal number?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47374" y="155968"/>
            <a:ext cx="502688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HEX AND DECIMAL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Q5 (a)-(e) - do them now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(a)  State why hexadecimal is used rather than long strings of binary.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(b)  Convert 2F to decimal.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(c)  Convert BD to decimal.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(d)  Convert 76 to hexadecimal.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(e)  Convert 250 to hexadecimal.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85784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HEXADECIMAL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One hex digit is exactly four bits, or one </a:t>
            </a: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nibble</a:t>
            </a:r>
            <a:endParaRPr lang="en-US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To go from binary to hex: split the byte down the middle and convert each half.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     1010 1110      -&gt;      A   E      -&gt;      AE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To go the other way, expand each hex digit into four bits.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This is much easier than using decimal as an intermediary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87663" y="185784"/>
            <a:ext cx="680755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NIBBLES: THE SHORTCUT</a:t>
            </a:r>
          </a:p>
        </p:txBody>
      </p:sp>
      <p:pic>
        <p:nvPicPr>
          <p:cNvPr id="3" name="Picture 2" descr="Premium Photo | Couple in therapy or marriage counseling">
            <a:extLst>
              <a:ext uri="{FF2B5EF4-FFF2-40B4-BE49-F238E27FC236}">
                <a16:creationId xmlns:a16="http://schemas.microsoft.com/office/drawing/2014/main" id="{90C3BA09-CEED-9A56-CB84-F5AB255A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04" y="2032997"/>
            <a:ext cx="5993273" cy="3369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49BB3B-5A3F-D1AC-E590-0C9E3E11DAFC}"/>
              </a:ext>
            </a:extLst>
          </p:cNvPr>
          <p:cNvSpPr txBox="1"/>
          <p:nvPr/>
        </p:nvSpPr>
        <p:spPr>
          <a:xfrm>
            <a:off x="6352674" y="4299284"/>
            <a:ext cx="1716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decimal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A5039-7260-60BB-FA34-9ABCBECF39AB}"/>
              </a:ext>
            </a:extLst>
          </p:cNvPr>
          <p:cNvSpPr txBox="1"/>
          <p:nvPr/>
        </p:nvSpPr>
        <p:spPr>
          <a:xfrm>
            <a:off x="10475495" y="4327535"/>
            <a:ext cx="1716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16A0BB-9079-E4EF-B6C8-EB9C46B3B5C1}"/>
              </a:ext>
            </a:extLst>
          </p:cNvPr>
          <p:cNvSpPr txBox="1"/>
          <p:nvPr/>
        </p:nvSpPr>
        <p:spPr>
          <a:xfrm>
            <a:off x="8646696" y="4167359"/>
            <a:ext cx="1716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hexadecimal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0 = 0000        8 = 1000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1 = 0001        9 = 1001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2 = 0010        A = 1010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3 = 0011        B = 1011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4 = 0100        C = 1100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5 = 0101        D = 1101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6 = 0110        E = 1110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7 = 0111        F = 1111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992541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ALL SIXTEEN NIBBLES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Q6 (a)-(d) [4 marks] - do them now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(a)  Convert 1101 0110 to hexadecimal.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(b)  Convert 0010 1011 to hexadecimal.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(c)  Convert A7 to binary.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(d)  Convert 3E to binary.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100827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BINARY AND HEX: YOUR NOTES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12295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Everything so far has been integers, but images don’t come in integers, nor do songs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We agree on a standard of what the numbers mean, then store the numbers.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That agreement is called a </a:t>
            </a: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character set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when the data is text.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ASCII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– a text encoding scheme with 7 bits, 128 characters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Includes letters, digits, punctuation, and some control codes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 = 65,  B = 66,  a = 97,  0 = 48,  space = 32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03008" y="185784"/>
            <a:ext cx="894115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SO WHAT IS ACTUALLY IN A FILE?</a:t>
            </a:r>
          </a:p>
        </p:txBody>
      </p:sp>
      <p:pic>
        <p:nvPicPr>
          <p:cNvPr id="2" name="Picture 1" descr="Ascii Table Binary Decimal | Cabinets Matttroy">
            <a:extLst>
              <a:ext uri="{FF2B5EF4-FFF2-40B4-BE49-F238E27FC236}">
                <a16:creationId xmlns:a16="http://schemas.microsoft.com/office/drawing/2014/main" id="{A9943586-E6A4-75BB-AAA1-A5264DA8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23" y="908273"/>
            <a:ext cx="414478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ASCII has 128 slots, which is great if you only speak English, but that wouldn’t be very IB of us.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Unicode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gives every character in every script its own number - over 150,000 of them, and it has room for far more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UTF-8 is the common encoding of it: one byte for anything in ASCII, up to four for everything else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first 128 Unicode characters are the ASCII ones, with the same numbers, making it backwards compatible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 emoji is a Unicode character. It is a number, like every other character.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53337" y="215932"/>
            <a:ext cx="2925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UNICODE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Three characters, three bytes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character is exactly two hex digits, because every one of them is exactly one byte.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Changing any data changes the message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why we can’t use lossy encoding on text, generally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WORD "PIG", THREE WAYS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EAFD-1DE4-94EC-A447-4D447F9FA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286229"/>
              </p:ext>
            </p:extLst>
          </p:nvPr>
        </p:nvGraphicFramePr>
        <p:xfrm>
          <a:off x="2363991" y="434604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319519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993299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63070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1919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ASCII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34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2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04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Q7 (a)-(c) [3 marks] - do them now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(a)  The ASCII code for A is 65. State the ASCII code for D.  [1]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(b)  State one reason Unicode was needed when ASCII already existed.  [1]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(c)  A string of 12 characters is stored in ASCII, one byte per character. Calculate the number of bits used.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29275"/>
            <a:ext cx="40129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CHARACTERS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pixel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one dot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Its color is a number, so a picture is a grid of numbers.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Resolution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how many pixels: 1920 x 1080 is about two million of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Bit depth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how many bits each pixel gets. 1 bit gives two colours, 8 bits gives 256, 24 bits gives about 16.7 million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63416" y="155968"/>
            <a:ext cx="50589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IMAGES IN BINARY</a:t>
            </a:r>
          </a:p>
        </p:txBody>
      </p:sp>
      <p:pic>
        <p:nvPicPr>
          <p:cNvPr id="2" name="Picture 1" descr="Color Pixel Values">
            <a:extLst>
              <a:ext uri="{FF2B5EF4-FFF2-40B4-BE49-F238E27FC236}">
                <a16:creationId xmlns:a16="http://schemas.microsoft.com/office/drawing/2014/main" id="{5F01EF58-BCBD-FD05-9702-7CBE6727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910" y="3922722"/>
            <a:ext cx="4967038" cy="28272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BAA6B-D244-B19D-A567-0533F097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DCF86E-FEFA-7B1D-609C-BFE8937C865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A82C9D-DAB3-71A1-655D-0E3AEBDDC2F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09D3D1-B30C-BB6A-B7DE-17BBFFE4352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4BFB0A-2A39-5E81-F4B2-4314AE49B89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99F382-F213-0D92-454D-2565701AAF4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A1-3 bitmap was 1 bit per pixel: W became 0, B became 1, and 176 pixels fit in 22 bytes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same 176 pixels at  8 bits each  =  176 bytes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same 176 pixels at 24 bits each  =  528 bytes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It’s worth noting that real image files also carry metadata - dimensions, color model, camera, 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BE65E0-4ECF-7C77-6F12-C4F897A9E547}"/>
              </a:ext>
            </a:extLst>
          </p:cNvPr>
          <p:cNvSpPr/>
          <p:nvPr/>
        </p:nvSpPr>
        <p:spPr>
          <a:xfrm>
            <a:off x="-251647" y="155968"/>
            <a:ext cx="52354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IMAGES IN BINARY</a:t>
            </a:r>
          </a:p>
        </p:txBody>
      </p:sp>
    </p:spTree>
    <p:extLst>
      <p:ext uri="{BB962C8B-B14F-4D97-AF65-F5344CB8AC3E}">
        <p14:creationId xmlns:p14="http://schemas.microsoft.com/office/powerpoint/2010/main" val="3004965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Sound is a continuous wave. Binary is not continuous, so we measure the wave thousands of times a second and store the measurements.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Sample rate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how many measurements per second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CD uses 44,100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Bit depth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again - how precisely each measurement is stored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CD uses 16 bits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More of either means a closer match to the original wave, and a bigger file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the raw data that MP3's transform coding, from the last lesson, goes to work 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0510" y="155968"/>
            <a:ext cx="488250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AUDIO IN BINARY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61893-305F-6548-4052-971E83FB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68CE9CA-70D5-9392-CCA3-96E1AE74A5C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F6DEFB-D519-4A39-2390-30FF46D76B1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0B694-B272-7F1F-7A9C-8E948D80163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57AA68-1E06-B3C5-5E36-D930B570106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EF9F79-E8EC-6342-028C-175A8E683CE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CF91DE-E735-E060-C05A-A782219A2A63}"/>
              </a:ext>
            </a:extLst>
          </p:cNvPr>
          <p:cNvSpPr/>
          <p:nvPr/>
        </p:nvSpPr>
        <p:spPr>
          <a:xfrm>
            <a:off x="-10510" y="155968"/>
            <a:ext cx="488250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AUDIO IN BINARY</a:t>
            </a:r>
          </a:p>
        </p:txBody>
      </p:sp>
      <p:pic>
        <p:nvPicPr>
          <p:cNvPr id="2" name="Picture 1" descr="Sine Waveform In Matlab">
            <a:extLst>
              <a:ext uri="{FF2B5EF4-FFF2-40B4-BE49-F238E27FC236}">
                <a16:creationId xmlns:a16="http://schemas.microsoft.com/office/drawing/2014/main" id="{9CA8A93E-2748-87B5-117D-C344D118B8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21" t="12810" r="27369" b="21637"/>
          <a:stretch>
            <a:fillRect/>
          </a:stretch>
        </p:blipFill>
        <p:spPr>
          <a:xfrm>
            <a:off x="1887185" y="1770277"/>
            <a:ext cx="7828547" cy="449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38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Video is images plus audio plus a frame rate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One second of 1080p at 30 fps is thirty full images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One 1080p frame at 24 bpp    =   6,220,800 bytes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Ten seconds at 30 fps        =   about 1.87 GB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Obviously, this doesn’t work for streaming, so we effectively have to use lossy compression on video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VIDEO, AND THE SIZE PROBLEM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3DC8-54BC-25AF-D0F0-8206AB34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B18368-96B9-B5F9-7AB4-7B0E8F2CAA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FF08F2-5075-C0EF-E554-A00833F7D8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1754F0-8C1C-E1D7-995E-CCEE430273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48865E-B2DE-BF4A-3397-D882A82A95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9FA7A-3395-0222-5ABF-824301ECC1C0}"/>
              </a:ext>
            </a:extLst>
          </p:cNvPr>
          <p:cNvSpPr/>
          <p:nvPr/>
        </p:nvSpPr>
        <p:spPr>
          <a:xfrm>
            <a:off x="74788" y="129275"/>
            <a:ext cx="268473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STORAGE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Q8 (a)-(c)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(a)  Your A1-3 bitmap used one bit per pixel. State how many colours that allows.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(b)  An image is 100 x 200 pixels at 3 bytes per pixel. Calculate the file size in kilobytes, ignoring metadata.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(c)  Audio is sampled 44,100 times per second at 16 bits per sample, in mono. Calculate the number of bits stored for one second.  [1]</a:t>
            </a:r>
          </a:p>
        </p:txBody>
      </p:sp>
    </p:spTree>
    <p:extLst>
      <p:ext uri="{BB962C8B-B14F-4D97-AF65-F5344CB8AC3E}">
        <p14:creationId xmlns:p14="http://schemas.microsoft.com/office/powerpoint/2010/main" val="3306715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Q9, Q10 and Q11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Q9   Explain why computers use binary rather than decimal to store data.  [3]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Q10  Explain how a black-and-white bitmap image, like the one in PA A1-2, is stored in binary. Refer to pixels, bit depth and resolution.  [3]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Q11  A 3-byte file contains the hexadecimal values 48 69 21. Using ASCII (H = 72, i = 105, ! = 33), determine the text stored in the file. 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62954" y="126768"/>
            <a:ext cx="12530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Q9   Two states are cheap and reliable to build and detect; more states would need many distinguishable voltage levels; every value can be encoded in 0s and 1s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Q10  One bit per pixel, so two colors; the resolution gives the number of pixels; the bits are stored in reading order and the dimensions come from the metadata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Q11  48 = 72 = H, 69 = 105 = i, 21 = 33 = !   -&gt;   "Hi!"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422477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 ANSWERS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Five sections, 30 marks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Try NOT to use a calculator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Sections A to D  [22] - binary, decimal and hex conversions, both directions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Section E  [8] - four applied questions on how real files are sized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WS A1-1: DATA CONVERSIONS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Nibble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Byte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Binary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Hexadecimal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Place value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Character 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ASCII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Unicode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UTF-8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Pixel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Resolution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Bit depth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Sample rate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Metadata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Frame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47826-E22E-D000-11B9-3370EFBA8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553848" y="3717853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45533</TotalTime>
  <Words>2462</Words>
  <Application>Microsoft Office PowerPoint</Application>
  <PresentationFormat>Widescreen</PresentationFormat>
  <Paragraphs>341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2026-08-24T21:10:48Z</dcterms:modified>
</cp:coreProperties>
</file>