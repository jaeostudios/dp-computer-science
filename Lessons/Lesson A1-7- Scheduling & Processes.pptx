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9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0" r:id="rId15"/>
    <p:sldId id="293" r:id="rId16"/>
    <p:sldId id="269" r:id="rId17"/>
    <p:sldId id="270" r:id="rId18"/>
    <p:sldId id="271" r:id="rId19"/>
    <p:sldId id="272" r:id="rId20"/>
    <p:sldId id="273" r:id="rId21"/>
    <p:sldId id="274" r:id="rId22"/>
    <p:sldId id="291" r:id="rId23"/>
    <p:sldId id="275" r:id="rId24"/>
    <p:sldId id="276" r:id="rId25"/>
    <p:sldId id="294" r:id="rId26"/>
    <p:sldId id="295" r:id="rId27"/>
    <p:sldId id="277" r:id="rId28"/>
    <p:sldId id="278" r:id="rId29"/>
    <p:sldId id="28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7" autoAdjust="0"/>
    <p:restoredTop sz="89467" autoAdjust="0"/>
  </p:normalViewPr>
  <p:slideViewPr>
    <p:cSldViewPr snapToGrid="0">
      <p:cViewPr varScale="1">
        <p:scale>
          <a:sx n="91" d="100"/>
          <a:sy n="91" d="100"/>
        </p:scale>
        <p:origin x="4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09-10T17:26:10.086" v="1" actId="20577"/>
      <pc:docMkLst>
        <pc:docMk/>
      </pc:docMkLst>
      <pc:sldChg chg="modSp mod">
        <pc:chgData name="Michael Hill" userId="41dba03d-e58d-4389-9894-554c10310ba4" providerId="ADAL" clId="{EF23FE1D-A042-481E-AFD7-2A9FB0847F54}" dt="2026-09-10T17:23:08.861" v="0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9-10T17:23:08.861" v="0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9-10T17:26:10.086" v="1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9-10T17:26:10.086" v="1" actId="20577"/>
          <ac:spMkLst>
            <pc:docMk/>
            <pc:sldMk cId="854122100" sldId="257"/>
            <ac:spMk id="11" creationId="{B2D4645F-350F-77B1-036C-D01223EB80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38372-80E8-9CB8-95FF-5AEFAB6E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8713A-148A-93F3-E914-2D632A8CE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B49A1-3E14-531C-BA57-13F52A4573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ABC6F-406A-164C-520D-A79D24E92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65114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7086-4C6E-8DF5-AC6E-C4A5EB0F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16CF9-5126-01A0-D651-8DED19BF0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860BA-EA55-68B5-33EC-20B0FA47D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735CD-BD7B-54CC-0451-661215D83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48765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A15E9-34AC-2B5E-7063-7B3687F06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02866-47F6-C2D7-F7CD-14B1907C45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5D804-AD28-9936-4E7C-BA896593C7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CBF24-EAE1-6DEF-4579-E65E99ACF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5312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B9FC-3BF1-100F-7CA3-3911AF11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D3704-B1DA-F2C4-30C5-6D4675E7F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3C868-ECE8-B144-884E-05F13BF15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432A3-F7F9-5FBC-1C09-B79AD475C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74485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3487-D36A-7CB9-7459-2D16D8F54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54045-934D-76A7-3E3A-3BFD50838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3C2AC-305D-5E8B-8B0B-665A4348A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94247-9C75-4DFA-7CB8-5B45F87C7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751776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TOPIC A1:</a:t>
            </a:r>
          </a:p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COMPUTER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LESSON A1-7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908885" y="3728134"/>
            <a:ext cx="6082140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SCHEDULING &amp; PROCESSES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Guided Notes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Processes and the ready queue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First-come first-served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Round robin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Priority and multilevel queue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Comparing the four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Polling and interrupts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Multitasking and deadlock [HL]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Lab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Close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A270F0-8F50-92DA-DB22-F543DA25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730A0A08-5C4D-C697-1647-15D7368C25C3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A9A2BE-3154-5699-87B1-BDA4E28533A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C47B1D-CEFD-56A1-A40C-FFC710F17E2D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2E3790-7556-4AE7-CC39-77EBD0251154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E300A6-11D8-EFF0-56D0-8770B2E1826C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Q1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(a) State the function that decides which process gets the CPU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(b) State what is meant by system integrity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Q1 (a)-(c) [3 marks]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ED4224-E2D9-11D7-E95A-4BCAFD6EC2FF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1945FA5A-8460-D84F-7D9A-79D3E5B3F4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3" name="Picture 22" descr="url_upload_6a7f3d9e572a4.gif [effects output image]">
            <a:extLst>
              <a:ext uri="{FF2B5EF4-FFF2-40B4-BE49-F238E27FC236}">
                <a16:creationId xmlns:a16="http://schemas.microsoft.com/office/drawing/2014/main" id="{718BF9A7-8E5E-B5C3-C262-B1047A692FB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5" name="Picture 24" descr="url_upload_6a7f3d9e572a4.gif [effects output image]">
            <a:extLst>
              <a:ext uri="{FF2B5EF4-FFF2-40B4-BE49-F238E27FC236}">
                <a16:creationId xmlns:a16="http://schemas.microsoft.com/office/drawing/2014/main" id="{3A652D8E-2B77-8700-8F5D-4479DB7897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7" name="Picture 26" descr="url_upload_6a7f3d9e572a4.gif [effects output image]">
            <a:extLst>
              <a:ext uri="{FF2B5EF4-FFF2-40B4-BE49-F238E27FC236}">
                <a16:creationId xmlns:a16="http://schemas.microsoft.com/office/drawing/2014/main" id="{6775DF3F-BD6A-F7F5-6C93-57ECAED2DBD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29" name="Picture 28" descr="url_upload_6a7f3d9e572a4.gif [effects output image]">
            <a:extLst>
              <a:ext uri="{FF2B5EF4-FFF2-40B4-BE49-F238E27FC236}">
                <a16:creationId xmlns:a16="http://schemas.microsoft.com/office/drawing/2014/main" id="{88FFDD1F-5F55-1CCB-635F-81D47B6CE0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1" name="Picture 30" descr="url_upload_6a7f3d9e572a4.gif [effects output image]">
            <a:extLst>
              <a:ext uri="{FF2B5EF4-FFF2-40B4-BE49-F238E27FC236}">
                <a16:creationId xmlns:a16="http://schemas.microsoft.com/office/drawing/2014/main" id="{F00B0443-25C3-4B0E-BA35-4D93FED603B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3" name="Picture 32" descr="url_upload_6a7f3d9e572a4.gif [effects output image]">
            <a:extLst>
              <a:ext uri="{FF2B5EF4-FFF2-40B4-BE49-F238E27FC236}">
                <a16:creationId xmlns:a16="http://schemas.microsoft.com/office/drawing/2014/main" id="{2BDD2A8B-8AD2-BB57-8D0A-02BB15FA8C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5" name="Picture 34" descr="url_upload_6a7f3d9e572a4.gif [effects output image]">
            <a:extLst>
              <a:ext uri="{FF2B5EF4-FFF2-40B4-BE49-F238E27FC236}">
                <a16:creationId xmlns:a16="http://schemas.microsoft.com/office/drawing/2014/main" id="{A989800E-110B-7DCD-02CA-28F0EF02EC9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7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917FEE29-802E-2475-F056-ABF6147D6F5E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3637471-545C-3BED-E303-32B9B55E477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2A9DF5B-F8E1-A619-2F56-D2285584F87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2716FBC-551E-EED4-1370-8BD39B4366EB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3BA2EE-B2BF-80F9-58A8-7F8A533AB479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(a) Scheduling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(b) The machine staying in a correct, consistent, working state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37BBECE-BE53-A831-0C11-07A928BC521E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A96B253E-4867-9FF6-E27B-1A807CAD28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52B5D663-46A4-F04B-3CD9-4738F8D231D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F58D4498-B115-EEF3-106E-496867DFFC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A245DDF0-87B5-5298-C401-4234F39A7D6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18BCD019-A1A0-7BCC-0295-31B7D6ABEC5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F35DCC52-4503-B1E8-4E8C-5CBF10DA2B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C9EAE10D-744C-786C-2D8D-8AE1F05457D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9E3D91BB-29BC-49D2-6073-565BB764489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process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a program that is currently running on your computer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 has its own memory, its own files and its own place in the queue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thread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one sequence of instructions inside a process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One process can hold many threads, which is why we saw that ~200 processes had ~3,000 threads in Task Manager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519049" y="185784"/>
            <a:ext cx="95407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PROCESSES AND THE READY QUEUE</a:t>
            </a:r>
          </a:p>
        </p:txBody>
      </p:sp>
      <p:pic>
        <p:nvPicPr>
          <p:cNvPr id="2" name="Picture 1" descr="Tasque (deltarune) — Pixel Art by ashplays154 — DinoPIXEL">
            <a:extLst>
              <a:ext uri="{FF2B5EF4-FFF2-40B4-BE49-F238E27FC236}">
                <a16:creationId xmlns:a16="http://schemas.microsoft.com/office/drawing/2014/main" id="{39A7FCD0-391E-342B-AE83-AB2113E8F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47" y="2747449"/>
            <a:ext cx="7654011" cy="5979696"/>
          </a:xfrm>
          <a:prstGeom prst="rect">
            <a:avLst/>
          </a:prstGeom>
        </p:spPr>
      </p:pic>
      <p:pic>
        <p:nvPicPr>
          <p:cNvPr id="3" name="Picture 2" descr="Tasque Manager - The Deltarune Wiki">
            <a:extLst>
              <a:ext uri="{FF2B5EF4-FFF2-40B4-BE49-F238E27FC236}">
                <a16:creationId xmlns:a16="http://schemas.microsoft.com/office/drawing/2014/main" id="{C1B0C286-00DC-FCBE-96DE-CDB4CB11C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645" y="3669706"/>
            <a:ext cx="2810267" cy="29912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010664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Ready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– a process is waiting for a turn on the CPU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Running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– a process is on the CPU right now, one per core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Blocked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– a process is waiting on something slower, usually input or a disk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blocked process does not sit on the CPU doing nothing, which frees up time for other processes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ready queue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the line of processes waiting their turn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583217" y="215932"/>
            <a:ext cx="983951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PROCESSES AND THE READY QUEUE</a:t>
            </a:r>
          </a:p>
        </p:txBody>
      </p:sp>
      <p:pic>
        <p:nvPicPr>
          <p:cNvPr id="2" name="Picture 1" descr="harmony 鸿蒙Task">
            <a:extLst>
              <a:ext uri="{FF2B5EF4-FFF2-40B4-BE49-F238E27FC236}">
                <a16:creationId xmlns:a16="http://schemas.microsoft.com/office/drawing/2014/main" id="{3E0A1FAF-8316-4EB5-DA44-15C6B7C72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991" y="1940199"/>
            <a:ext cx="5343934" cy="3555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7" y="1299334"/>
            <a:ext cx="10743085" cy="24383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Burst time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how long a process needs on the CPU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how long that task needs to complete its goal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All four arrive at roughly the same time, 0, but they have different stated priorities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Q2 (a)-(c) [3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706502" y="155968"/>
            <a:ext cx="959888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PROCESSES AND THE READY QUEUE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715614"/>
              </p:ext>
            </p:extLst>
          </p:nvPr>
        </p:nvGraphicFramePr>
        <p:xfrm>
          <a:off x="2050677" y="3943042"/>
          <a:ext cx="7903263" cy="26184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4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4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4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682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Process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Burst (ms)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Priority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682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8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3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682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P2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682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P3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2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682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P4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6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2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First-come first-served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runs each process to completion, in arrival order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 interruptions, no reordering, no cuts no buts no coconuts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P1 arrived first, so P1 gets all 8 ms before anyone else moves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Waiting time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how long a process sits in the queue before it starts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very much like the queue data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757757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FIRST-COME FIRST-SERVED</a:t>
            </a:r>
          </a:p>
        </p:txBody>
      </p:sp>
      <p:pic>
        <p:nvPicPr>
          <p:cNvPr id="2" name="Picture 1" descr="Stacks and Queues">
            <a:extLst>
              <a:ext uri="{FF2B5EF4-FFF2-40B4-BE49-F238E27FC236}">
                <a16:creationId xmlns:a16="http://schemas.microsoft.com/office/drawing/2014/main" id="{309202F8-36BE-733E-6A23-8FAAEA173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514" y="4369990"/>
            <a:ext cx="5934394" cy="24180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3"/>
            <a:ext cx="10341382" cy="27248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response times are 0, 8, 12 and 14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, average of 8.5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ms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Response time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how long it takes for the CPU to run a process for the first time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Average exit/completion time is 34 ÷ 4 = 13.5 ms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P3 only needs 2 ms of CPU but has to wait 12 ms to get access to the 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772195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FIRST-COME FIRST-SERVED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650745"/>
              </p:ext>
            </p:extLst>
          </p:nvPr>
        </p:nvGraphicFramePr>
        <p:xfrm>
          <a:off x="4690637" y="5058666"/>
          <a:ext cx="6800000" cy="10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0 – 8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8 – 12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12 – 14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14 – 20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P2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P3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P4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Picture 1" descr="spongebob squarepants spongebob gif | WiffleGif">
            <a:extLst>
              <a:ext uri="{FF2B5EF4-FFF2-40B4-BE49-F238E27FC236}">
                <a16:creationId xmlns:a16="http://schemas.microsoft.com/office/drawing/2014/main" id="{E1FEBAC5-E012-D146-BC7E-ED1396180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06" y="4266405"/>
            <a:ext cx="3823259" cy="25845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04680C-79AC-45ED-A8EB-8EBA7ED96FBB}"/>
              </a:ext>
            </a:extLst>
          </p:cNvPr>
          <p:cNvSpPr txBox="1"/>
          <p:nvPr/>
        </p:nvSpPr>
        <p:spPr>
          <a:xfrm>
            <a:off x="1845953" y="5979542"/>
            <a:ext cx="170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Task P4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simple to build and no task is ever skipped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But one long process at the front delays everything behind it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Q3 (a)-(b) [4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FIRST-COME FIRST-SERVED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Round robin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gives every process a fixed amount of time with the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CPU,a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slice of its time, called 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time quantum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Although I tend to call it a time slice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a task does not complete in its slice, it gets kicked to the back of the queue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Let’s assume a quantum of 2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using the same four processes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22043" y="155968"/>
            <a:ext cx="385580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ROUND ROBIN</a:t>
            </a:r>
          </a:p>
        </p:txBody>
      </p:sp>
      <p:pic>
        <p:nvPicPr>
          <p:cNvPr id="2" name="Picture 1" descr="Steps Of Roundrobin _ Round Robin Scheduling Program in C – VAGL">
            <a:extLst>
              <a:ext uri="{FF2B5EF4-FFF2-40B4-BE49-F238E27FC236}">
                <a16:creationId xmlns:a16="http://schemas.microsoft.com/office/drawing/2014/main" id="{23DF00CD-EEC6-FAC8-F8C2-B46685255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003" y="3570831"/>
            <a:ext cx="4918911" cy="31312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3"/>
            <a:ext cx="10341382" cy="462020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 now have ten slices instead of four, because processes keep alternating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Every process gets its first turn inside the first 8 ms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Every time a process changes is called 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context switch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introduces overhead, since the cache will likely be full of addresses from the first process that need to be cleared out for the second, costing time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Our model doesn’t account for this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" y="155968"/>
            <a:ext cx="428324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ROUND ROBIN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30875"/>
              </p:ext>
            </p:extLst>
          </p:nvPr>
        </p:nvGraphicFramePr>
        <p:xfrm>
          <a:off x="1483705" y="5237297"/>
          <a:ext cx="9000000" cy="10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0-2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2-4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4-6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6-8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A3C40"/>
                          </a:solidFill>
                          <a:latin typeface="Bahnschrift"/>
                        </a:rPr>
                        <a:t>8-10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10-12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A3C40"/>
                          </a:solidFill>
                          <a:latin typeface="Bahnschrift"/>
                        </a:rPr>
                        <a:t>12-14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A3C40"/>
                          </a:solidFill>
                          <a:latin typeface="Bahnschrift"/>
                        </a:rPr>
                        <a:t>14-16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16-18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18-20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P2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P3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P2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Average response time drops from 8.5 ms to 3.0 ms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Average exit/completion time rises from 13.5 ms to 14 ms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 round robin is fairer and more responsive, but finishes slightly later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small quantum means better response, but more switching overhead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Q4 (a)-(b) [4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45370" y="185784"/>
            <a:ext cx="405599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ROUND ROBIN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B4EF91-E43A-2E2A-9128-33E6C2396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31727"/>
              </p:ext>
            </p:extLst>
          </p:nvPr>
        </p:nvGraphicFramePr>
        <p:xfrm>
          <a:off x="1596000" y="4558667"/>
          <a:ext cx="9000000" cy="10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0-2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2-4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4-6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6-8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A3C40"/>
                          </a:solidFill>
                          <a:latin typeface="Bahnschrift"/>
                        </a:rPr>
                        <a:t>8-10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10-12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A3C40"/>
                          </a:solidFill>
                          <a:latin typeface="Bahnschrift"/>
                        </a:rPr>
                        <a:t>12-14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14-16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16-18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3C40"/>
                          </a:solidFill>
                          <a:latin typeface="Bahnschrift"/>
                        </a:rPr>
                        <a:t>18-20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P2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P3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P2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3C40"/>
                          </a:solidFill>
                          <a:latin typeface="Bahnschrift"/>
                        </a:rPr>
                        <a:t>P4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537D5-22F1-DBC9-DFBE-47AF1787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60BB94-AF46-1B63-2A71-3B48C858C75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D65635-6A09-A2F3-31DB-5309EB1987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A6F2A1-3A90-3AAA-64FE-E577F2BF62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1FA1B3-BB45-53F9-45B2-7243257AF8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1BFE4-A3E6-FA12-212C-61AA5DC1F7D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Priority scheduling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runs the most important process first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Our table has priority 1 as the highest and 4 as the lowest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 the order becomes P2, then P4, then P1, then P3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Real systems set priority by importance or deadlines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387D4-2E1C-E701-7FD6-1486734E4B7A}"/>
              </a:ext>
            </a:extLst>
          </p:cNvPr>
          <p:cNvSpPr/>
          <p:nvPr/>
        </p:nvSpPr>
        <p:spPr>
          <a:xfrm>
            <a:off x="-481507" y="155968"/>
            <a:ext cx="91657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PRIORITY AND MULTILEVEL QUEUE</a:t>
            </a:r>
          </a:p>
        </p:txBody>
      </p:sp>
    </p:spTree>
    <p:extLst>
      <p:ext uri="{BB962C8B-B14F-4D97-AF65-F5344CB8AC3E}">
        <p14:creationId xmlns:p14="http://schemas.microsoft.com/office/powerpoint/2010/main" val="160159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9179E-54B4-2276-E12A-9B56C388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CAF941C-01E0-C7FC-4F52-586B67CA8B1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1CAFD6-DE23-1105-B85A-C340154D13A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256468-2C48-1834-DBC4-872693405C1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AF60A9-13A8-D8AC-6297-A5B2F95A5AD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AFAA10-0566-1371-E779-D434E6CB189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you’ve ever gotten into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Pokemon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battling, it works pretty much identically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priority tiers, and within a tier whichever shows up first (is fastest) goes first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2C3C36-3336-3972-20C2-D0833BFAE8F0}"/>
              </a:ext>
            </a:extLst>
          </p:cNvPr>
          <p:cNvSpPr/>
          <p:nvPr/>
        </p:nvSpPr>
        <p:spPr>
          <a:xfrm>
            <a:off x="-481507" y="155968"/>
            <a:ext cx="91657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PRIORITY AND MULTILEVEL QUEUE</a:t>
            </a:r>
          </a:p>
        </p:txBody>
      </p:sp>
      <p:pic>
        <p:nvPicPr>
          <p:cNvPr id="3" name="Picture 2" descr="Extreme Speed - PocketMonsters.Net">
            <a:extLst>
              <a:ext uri="{FF2B5EF4-FFF2-40B4-BE49-F238E27FC236}">
                <a16:creationId xmlns:a16="http://schemas.microsoft.com/office/drawing/2014/main" id="{376CE528-63E3-BEA9-8233-474B39B32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583" y="3110307"/>
            <a:ext cx="4307307" cy="323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1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3"/>
            <a:ext cx="10341382" cy="287161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Average response time is 8ms, which is better than FCFS, but worse than RR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Average exit/completion time is 13ms, once again respectable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P3 has the lowest priority and has to wait for 18 of the 20 ms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more important tasks keep rolling in, P3 may never run at all, which is called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starvation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932616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PRIORITY AND MULTILEVEL QUEUE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15371"/>
              </p:ext>
            </p:extLst>
          </p:nvPr>
        </p:nvGraphicFramePr>
        <p:xfrm>
          <a:off x="2696000" y="4727575"/>
          <a:ext cx="6800000" cy="10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0 – 4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4 – 10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10 – 18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18 – 20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P2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P4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P1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P3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Multilevel queue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scheduling uses several ready queues at once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Interactive work sits in a high queue, background work in a low one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Each queue can run its own rule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Usually round robin at the top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scheduler serves the top queue first, then works down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Q5 (a)-(c) [4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503007" y="155968"/>
            <a:ext cx="95828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PRIORITY AND MULTILEVEL QUEUE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3"/>
            <a:ext cx="10341382" cy="22131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Using the same four processes across all three, we get the following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None of these are inherently better than the others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It’s a tradeoff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Multilevel queue is not on this table because it depends on its queues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64546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COMPARING THE FOUR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915957"/>
              </p:ext>
            </p:extLst>
          </p:nvPr>
        </p:nvGraphicFramePr>
        <p:xfrm>
          <a:off x="1401459" y="3717853"/>
          <a:ext cx="8800000" cy="2021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Rule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Avg </a:t>
                      </a:r>
                      <a:r>
                        <a:rPr lang="en-US"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response</a:t>
                      </a:r>
                      <a:endParaRPr sz="2000" b="1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Avg </a:t>
                      </a:r>
                      <a:r>
                        <a:rPr lang="en-US"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exit</a:t>
                      </a:r>
                      <a:endParaRPr sz="2000" b="1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Main flaw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First-come first-served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8.5 ms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13.5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3C40"/>
                          </a:solidFill>
                          <a:latin typeface="Bahnschrift"/>
                        </a:rPr>
                        <a:t>ms</a:t>
                      </a:r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Long jobs block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Round robin (q = 2)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3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.0 </a:t>
                      </a:r>
                      <a:r>
                        <a:rPr sz="2000" b="0" dirty="0" err="1">
                          <a:solidFill>
                            <a:srgbClr val="1A3C40"/>
                          </a:solidFill>
                          <a:latin typeface="Bahnschrift"/>
                        </a:rPr>
                        <a:t>ms</a:t>
                      </a:r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14.0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3C40"/>
                          </a:solidFill>
                          <a:latin typeface="Bahnschrift"/>
                        </a:rPr>
                        <a:t>ms</a:t>
                      </a:r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Switch overhead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Priority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8.0 ms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13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.0 </a:t>
                      </a:r>
                      <a:r>
                        <a:rPr sz="2000" b="0" dirty="0" err="1">
                          <a:solidFill>
                            <a:srgbClr val="1A3C40"/>
                          </a:solidFill>
                          <a:latin typeface="Bahnschrift"/>
                        </a:rPr>
                        <a:t>ms</a:t>
                      </a:r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Starvation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should identify which of these situations you are in before deciding on a scheduling algorithm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 first-come first-served when jobs are similar and order is fair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 round robin when people are waiting for each process to run, like interactive applications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 priority when there is difference in importance levels between the work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 multilevel queue when multiple kinds of work must be done on once computer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Q6 (a)-(c) [3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26794" y="155968"/>
            <a:ext cx="616008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COMPARING THE FOUR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CPU also has to notice when peripheral devices need attention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Polling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means the CPU asks each device, over and over, if it has any updates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Simple to code, and predictable in timing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 wastes CPU cycles asking a device that likely hasn’t changed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741315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POLLING AND INTERRUPTS</a:t>
            </a:r>
          </a:p>
        </p:txBody>
      </p:sp>
      <p:pic>
        <p:nvPicPr>
          <p:cNvPr id="2" name="Picture 1" descr="CPU Processor, Central Processing Unit, Chipset, Clock Speed ...">
            <a:extLst>
              <a:ext uri="{FF2B5EF4-FFF2-40B4-BE49-F238E27FC236}">
                <a16:creationId xmlns:a16="http://schemas.microsoft.com/office/drawing/2014/main" id="{F22E709C-DF40-6522-58CE-379849B55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001" y="4463758"/>
            <a:ext cx="2579764" cy="2356185"/>
          </a:xfrm>
          <a:prstGeom prst="rect">
            <a:avLst/>
          </a:prstGeom>
        </p:spPr>
      </p:pic>
      <p:pic>
        <p:nvPicPr>
          <p:cNvPr id="3" name="Picture 2" descr="LYTiang LED Backlit USB Gaming Keyboard Fashion Mechanical Keyboard ...">
            <a:extLst>
              <a:ext uri="{FF2B5EF4-FFF2-40B4-BE49-F238E27FC236}">
                <a16:creationId xmlns:a16="http://schemas.microsoft.com/office/drawing/2014/main" id="{528F38C6-7AC5-212C-754E-523BCDF54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991" y="5309937"/>
            <a:ext cx="2879861" cy="1655920"/>
          </a:xfrm>
          <a:prstGeom prst="rect">
            <a:avLst/>
          </a:prstGeom>
        </p:spPr>
      </p:pic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41811EC4-8900-6268-C900-BA871F32A0FB}"/>
              </a:ext>
            </a:extLst>
          </p:cNvPr>
          <p:cNvSpPr/>
          <p:nvPr/>
        </p:nvSpPr>
        <p:spPr>
          <a:xfrm flipH="1">
            <a:off x="3859883" y="3789415"/>
            <a:ext cx="2236117" cy="948993"/>
          </a:xfrm>
          <a:prstGeom prst="wedgeEllipseCallout">
            <a:avLst>
              <a:gd name="adj1" fmla="val 30103"/>
              <a:gd name="adj2" fmla="val 946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Anything yet?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1D48AD7B-FD00-6F38-20E9-63558B3C149C}"/>
              </a:ext>
            </a:extLst>
          </p:cNvPr>
          <p:cNvSpPr/>
          <p:nvPr/>
        </p:nvSpPr>
        <p:spPr>
          <a:xfrm flipH="1">
            <a:off x="4587270" y="4738408"/>
            <a:ext cx="2236117" cy="948993"/>
          </a:xfrm>
          <a:prstGeom prst="wedgeEllipseCallout">
            <a:avLst>
              <a:gd name="adj1" fmla="val 55212"/>
              <a:gd name="adj2" fmla="val 6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Anything yet?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4C059736-DC21-60F9-9DEF-BF607C1B6D6E}"/>
              </a:ext>
            </a:extLst>
          </p:cNvPr>
          <p:cNvSpPr/>
          <p:nvPr/>
        </p:nvSpPr>
        <p:spPr>
          <a:xfrm flipH="1">
            <a:off x="4587269" y="5870950"/>
            <a:ext cx="2236117" cy="948993"/>
          </a:xfrm>
          <a:prstGeom prst="wedgeEllipseCallout">
            <a:avLst>
              <a:gd name="adj1" fmla="val 62386"/>
              <a:gd name="adj2" fmla="val -693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Anything yet?</a:t>
            </a:r>
          </a:p>
        </p:txBody>
      </p:sp>
      <p:pic>
        <p:nvPicPr>
          <p:cNvPr id="15" name="Picture 14" descr="Milk spilled milk spongebob squarepants GIF on GIFER - by Kulaghma">
            <a:extLst>
              <a:ext uri="{FF2B5EF4-FFF2-40B4-BE49-F238E27FC236}">
                <a16:creationId xmlns:a16="http://schemas.microsoft.com/office/drawing/2014/main" id="{5BBE96FC-5401-3240-1AB6-47DFE96CC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1647" y="4040043"/>
            <a:ext cx="2416927" cy="1655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An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interrupt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a signal from the device saying it needs the CPU now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CPU stops, saves its place, and runs an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interrupt service routine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Then it restores its place and carries on where it left off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 cycles wasted while the device is idle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Your keyboard has worked this way the whole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759361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POLLING AND INTERRUPTS</a:t>
            </a:r>
          </a:p>
        </p:txBody>
      </p:sp>
      <p:pic>
        <p:nvPicPr>
          <p:cNvPr id="2" name="Picture 1" descr="Download Courtroom Objection Graphic Wallpaper | Wallpapers.com">
            <a:extLst>
              <a:ext uri="{FF2B5EF4-FFF2-40B4-BE49-F238E27FC236}">
                <a16:creationId xmlns:a16="http://schemas.microsoft.com/office/drawing/2014/main" id="{8F29C44A-2EFA-FDC2-9CC1-291A4748A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80" y="3986768"/>
            <a:ext cx="4549943" cy="25593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27432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have to judge which suits a given situation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Events that happen infrequently?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Events that happen constantly?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Limited battery power devices?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Devices that update in fixed intervals?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796258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POLLING AND INTERRUPTS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447407"/>
              </p:ext>
            </p:extLst>
          </p:nvPr>
        </p:nvGraphicFramePr>
        <p:xfrm>
          <a:off x="1501459" y="4346111"/>
          <a:ext cx="8600000" cy="2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Factor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Favours polling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Favours interrupts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Event frequency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Constant events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Rare events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CPU overhead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Predictable cost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No idle cost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Power source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Mains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Battery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Latency control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Tight and known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Varies with load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Keyboards, mice and networking chips (internet) use interrupts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real-time controller reading a sensor 10,000 times a second may poll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An interrupt can also be a security concern if a device can be impersonated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Q7 (a)-(c) [4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741315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POLLING AND INTERRUPTS</a:t>
            </a:r>
          </a:p>
        </p:txBody>
      </p:sp>
      <p:pic>
        <p:nvPicPr>
          <p:cNvPr id="2" name="Picture 1" descr="Malware">
            <a:extLst>
              <a:ext uri="{FF2B5EF4-FFF2-40B4-BE49-F238E27FC236}">
                <a16:creationId xmlns:a16="http://schemas.microsoft.com/office/drawing/2014/main" id="{67A49D22-2895-7B44-EA06-4BF5D077E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678" y="4307659"/>
            <a:ext cx="4255402" cy="239437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Multitasking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the OS keeping many processes alive at once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 has to share the CPU, memory, files and devices between them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Resource contention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two processes wanting the same thing at once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OS decides who waits, and the waiting has to end eventually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MULTITASKING AND DEADLOCK [HL]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29BFAB-F64E-2E08-0EF7-A8404E247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0" y="3582774"/>
            <a:ext cx="451485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3C4C6-9D2C-40C4-0E12-EB27DEB37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CF994AD-B05D-5CE9-8BEC-1F77DC9F597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1540AD-2A6B-6742-F8D9-663ECD3A865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8DB08A-567F-C2CB-29A0-7FE48EC8437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C88232-B5AE-DBD7-DE1A-9AF2C2322BA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6B15EA-B9BF-0AA7-D9CC-369FA5880F7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Have you ever tried to upload a file that you have open in Word to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ManageBac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?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Does it let you upload it?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Why or why not?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12B957-F439-0313-4DA5-269648BC9291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MULTITASKING AND DEADLOCK [HL]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58BBDF-A48B-390F-E994-488BD0476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429" y="3372953"/>
            <a:ext cx="45148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1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212DE-3D74-DA02-D163-3192E5CA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0D66CB7-E21A-0AE7-C054-1B3618EC3E2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186E66-5613-CC7A-2114-85E84E51E76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88E89D-C8CF-2265-D109-52FA11C714C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DC61FD-44C9-9446-7E61-4842B0C4A08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4A27A3-C3AB-6C70-EB77-1B263C2DD168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resource contention PREVENTION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OS makes sure that you aren’t uploading a file you’re currently working on because that could cause the data to conflict and corrupt your file or crash the program(s)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B7C0C6-6F6E-79BE-DDEE-EFCEE431AC56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MULTITASKING AND DEADLOCK [HL]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54E7CB-82DF-0337-115C-DD72FD428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429" y="3330887"/>
            <a:ext cx="45148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01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423755" cy="5558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Deadlock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a scenario when processes are waiting on something from each other, and neither can proceed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Process P1 holds the printer and wants the scanner, process P2 holds the scanner and wants the printer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Neither will release what it has, so both wait forever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Deadlock prevention is commonplace in programs nowadays, and processes will give up their resources after a certain amount of time to try again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Q8 (a)-(c) [3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MULTITASKING AND DEADLOCK [HL]</a:t>
            </a:r>
          </a:p>
        </p:txBody>
      </p:sp>
      <p:pic>
        <p:nvPicPr>
          <p:cNvPr id="2" name="Picture 1" descr="Medium">
            <a:extLst>
              <a:ext uri="{FF2B5EF4-FFF2-40B4-BE49-F238E27FC236}">
                <a16:creationId xmlns:a16="http://schemas.microsoft.com/office/drawing/2014/main" id="{FD5AE376-0679-182E-420C-E11789C97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39" t="-2944" r="7115" b="14764"/>
          <a:stretch>
            <a:fillRect/>
          </a:stretch>
        </p:blipFill>
        <p:spPr>
          <a:xfrm>
            <a:off x="7232316" y="2164915"/>
            <a:ext cx="4568358" cy="32894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Q9, Q10 and Q11 [8 marks]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Q9 Explain why round robin gives a better response time than FCFS [3]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Q10 Evaluate polling rather than interrupts for a sensor read 10,000 times a second [3]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Q11 Describe what is meant by starvation in priority scheduling [2]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45583" y="155968"/>
            <a:ext cx="173824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44927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Process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Thread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Ready queue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Burst time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Waiting time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Response time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First-come first-served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5354429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Round robin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Time quantum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Context switch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Priority scheduling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Starvation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Multilevel queue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Polling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Interrupt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Deadlock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D2E6BF-B2C6-DD45-189D-654304927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553848" y="3717853"/>
            <a:ext cx="3278463" cy="2982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45515</TotalTime>
  <Words>1677</Words>
  <Application>Microsoft Office PowerPoint</Application>
  <PresentationFormat>Widescreen</PresentationFormat>
  <Paragraphs>272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40</cp:revision>
  <dcterms:created xsi:type="dcterms:W3CDTF">2025-08-11T14:07:39Z</dcterms:created>
  <dcterms:modified xsi:type="dcterms:W3CDTF">2026-09-10T17:26:20Z</dcterms:modified>
</cp:coreProperties>
</file>