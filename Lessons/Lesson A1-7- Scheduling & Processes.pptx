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92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90" r:id="rId15"/>
    <p:sldId id="293" r:id="rId16"/>
    <p:sldId id="269" r:id="rId17"/>
    <p:sldId id="270" r:id="rId18"/>
    <p:sldId id="271" r:id="rId19"/>
    <p:sldId id="272" r:id="rId20"/>
    <p:sldId id="273" r:id="rId21"/>
    <p:sldId id="274" r:id="rId22"/>
    <p:sldId id="291" r:id="rId23"/>
    <p:sldId id="275" r:id="rId24"/>
    <p:sldId id="276" r:id="rId25"/>
    <p:sldId id="294" r:id="rId26"/>
    <p:sldId id="295" r:id="rId27"/>
    <p:sldId id="277" r:id="rId28"/>
    <p:sldId id="278" r:id="rId29"/>
    <p:sldId id="28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CC"/>
    <a:srgbClr val="584500"/>
    <a:srgbClr val="2A4C45"/>
    <a:srgbClr val="326648"/>
    <a:srgbClr val="D2A65C"/>
    <a:srgbClr val="A74923"/>
    <a:srgbClr val="388049"/>
    <a:srgbClr val="274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97" autoAdjust="0"/>
    <p:restoredTop sz="89467" autoAdjust="0"/>
  </p:normalViewPr>
  <p:slideViewPr>
    <p:cSldViewPr snapToGrid="0">
      <p:cViewPr>
        <p:scale>
          <a:sx n="60" d="100"/>
          <a:sy n="60" d="100"/>
        </p:scale>
        <p:origin x="42" y="8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0EF95B-9744-42BF-8E95-B5A640A352E6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3B401-C566-4517-ADD4-C67058331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927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38372-80E8-9CB8-95FF-5AEFAB6EE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8713A-148A-93F3-E914-2D632A8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2B49A1-3E14-531C-BA57-13F52A4573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ABC6F-406A-164C-520D-A79D24E924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65114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17086-4C6E-8DF5-AC6E-C4A5EB0FF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16CF9-5126-01A0-D651-8DED19BF0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D860BA-EA55-68B5-33EC-20B0FA47D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9735CD-BD7B-54CC-0451-661215D831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448765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A15E9-34AC-2B5E-7063-7B3687F0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C02866-47F6-C2D7-F7CD-14B1907C45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D5D804-AD28-9936-4E7C-BA896593C7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9CBF24-EAE1-6DEF-4579-E65E99ACF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53120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8B9FC-3BF1-100F-7CA3-3911AF114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1D3704-B1DA-F2C4-30C5-6D4675E7FB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A3C868-ECE8-B144-884E-05F13BF15C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432A3-F7F9-5FBC-1C09-B79AD475C6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574485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3487-D36A-7CB9-7459-2D16D8F54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54045-934D-76A7-3E3A-3BFD50838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93C2AC-305D-5E8B-8B0B-665A4348A7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94247-9C75-4DFA-7CB8-5B45F87C7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751776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6A4B-E724-C642-63ED-9C1381B808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5E653-4903-1005-D15B-66DB874D2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A978-A4B2-A67F-C69F-38ADC7DB4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0B7-42B2-3D3D-3AE4-AC7E6C388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21657-9CFD-95BE-EEE3-E1B47D77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72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00003-439B-FA69-F591-6D66E274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20904-0912-32D7-F6E6-31372E488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3E7E8-F851-BEB7-2C68-8FE1EF674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AE2CA-7781-6E95-12BA-557F775A9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9952B-F381-1189-2020-9A14F470C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39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F060-3D96-5480-3C88-EE775B82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569D8-9209-8B7C-1538-E818415FF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66B1C-5056-EDDF-CD36-E7BFD2F4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F8CB3-3858-3C51-AA38-3F86C097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EA923-CF31-8772-A331-247B9144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5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25B0-376D-3011-4FDF-D4CA713D7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71C86-3E65-FA4B-6F6C-0BB7AA390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E646B-5AE1-A23D-3D1F-474544BF3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279F2-41EE-1489-59DC-32CD90629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EC4E9-67EE-D095-37A7-39EFE82D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7B2442-8F9C-AC5E-9546-BDE753C18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41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8DBA-2489-9EF4-F45E-238BC26E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34AAF-B93F-48B6-1B8B-FD3E959FB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8698B-3528-B8DC-27B8-D49145D60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008AA-A42D-2259-0D36-908024A20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8A62E1-25E1-7552-ABA8-BE7F2A3B1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97670D-8F54-733D-3639-1B7CCE4C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3C6C20-7A45-CC6A-CA55-61F7CCF3B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B7766C-30F5-1A8E-58AF-CDC986CF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5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690D-7611-3967-E6F3-81F032C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4BA6-7CE7-229C-2BD5-FECCA2886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CA691A-621C-6EB1-3EB8-CA9FF47F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257F05-B410-F8DD-455C-490CEB14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66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09F58-5A85-92F4-B06D-21643033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9B9967-5360-F0CB-62AE-C03CEF75E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E68E6-84C0-1723-6611-61380FA1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955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55B2-ECD6-C08F-72AD-183650C66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96BA6-2739-2BD7-969A-4113A5119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86298-57FD-A8A8-D424-73178F2DB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784E3-D576-8AA7-A98D-17AA30F76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948EE1-5288-E1AE-89F1-37B64F23E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75274-EEF3-4830-9978-53BE36B7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70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32C3-BAF4-D846-43C1-525BE354E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2DC9A-2E8B-6C73-166E-961BCED000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E3A54-E42B-7858-93B4-F1A981487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C60C9-5A10-7256-4190-5DE6C1C30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2744C-0DE9-DCDB-4998-7A3221F15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D5596-7365-792E-D0E3-4ED3B5E7D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5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A8605-B3B6-D788-279D-476906E3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D9E01-2C5E-0FD4-BF7C-54659537D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685CA-CEBB-6B85-90D4-1BEF716FC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0A526-A1AA-3BC7-DC9D-B44EBC07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ED0B1-5EB5-A414-75E8-6BA511C0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256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BD8E7E-5301-E447-23C8-B8B5D2932F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336805-717E-9F25-0794-88BD42C6E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3C3FF-BEC2-31C8-6723-85EC31276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A1747-0799-AAD2-1377-F19D1A5E7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F77C4-38FB-B4D4-348D-9D2957422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17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3BEBB-B682-7839-B2B4-500CE17CB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D3092-A078-5BEF-361E-CB3FDD457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4A81F-9B16-8EEC-9FE4-9E9D0C8E87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FA067-BC5A-4095-A3A5-99A1BAFE920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43794-F45F-30BE-BC6F-DDF9A70C2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2708D-8AD6-9D50-70CF-8FFDD3AB7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98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gif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9BBF4B62-D7BF-1C6A-40E3-7B807FA87977}"/>
              </a:ext>
            </a:extLst>
          </p:cNvPr>
          <p:cNvSpPr/>
          <p:nvPr/>
        </p:nvSpPr>
        <p:spPr>
          <a:xfrm>
            <a:off x="4713768" y="2110368"/>
            <a:ext cx="2565990" cy="2565990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B883CE-936E-CB73-2B3E-56A618536A26}"/>
              </a:ext>
            </a:extLst>
          </p:cNvPr>
          <p:cNvSpPr/>
          <p:nvPr/>
        </p:nvSpPr>
        <p:spPr>
          <a:xfrm>
            <a:off x="895936" y="1574232"/>
            <a:ext cx="5652932" cy="230153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541717" lon="20311593" rev="27507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TOPIC A1:</a:t>
            </a:r>
          </a:p>
          <a:p>
            <a:pPr marL="0" indent="0" algn="ctr">
              <a:buNone/>
            </a:pPr>
            <a:r>
              <a:rPr lang="en-US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COMPUTER FUNDAMENTALS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C18ECD-1A29-4735-FBF9-2230E3FED94F}"/>
              </a:ext>
            </a:extLst>
          </p:cNvPr>
          <p:cNvSpPr/>
          <p:nvPr/>
        </p:nvSpPr>
        <p:spPr>
          <a:xfrm>
            <a:off x="6719147" y="2724998"/>
            <a:ext cx="4008656" cy="116091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LESSON A1-7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5BB639-AC69-FE40-4352-5D3077A94591}"/>
              </a:ext>
            </a:extLst>
          </p:cNvPr>
          <p:cNvSpPr/>
          <p:nvPr/>
        </p:nvSpPr>
        <p:spPr>
          <a:xfrm>
            <a:off x="1740569" y="3728134"/>
            <a:ext cx="8250456" cy="76226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chemeClr val="bg1"/>
                </a:solidFill>
                <a:latin typeface="Bahnschrift SemiBold" panose="020B0502040204020203" pitchFamily="34" charset="0"/>
              </a:rPr>
              <a:t>SCHEDULING &amp; PROCESSES</a:t>
            </a:r>
          </a:p>
        </p:txBody>
      </p:sp>
    </p:spTree>
    <p:extLst>
      <p:ext uri="{BB962C8B-B14F-4D97-AF65-F5344CB8AC3E}">
        <p14:creationId xmlns:p14="http://schemas.microsoft.com/office/powerpoint/2010/main" val="1878848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50A9E-999F-1BB1-2C00-779227746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6893419-8B7B-38C3-2D89-D4BB95E0AB27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D4645F-350F-77B1-036C-D01223EB808D}"/>
              </a:ext>
            </a:extLst>
          </p:cNvPr>
          <p:cNvSpPr/>
          <p:nvPr/>
        </p:nvSpPr>
        <p:spPr>
          <a:xfrm>
            <a:off x="7095753" y="1908368"/>
            <a:ext cx="4516539" cy="225568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1072296" lon="587304" rev="21567845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buFont typeface="Arial"/>
              <a:buChar char="•"/>
            </a:pPr>
            <a:r>
              <a:rPr lang="en-US" sz="2000" dirty="0" err="1">
                <a:solidFill>
                  <a:schemeClr val="bg1"/>
                </a:solidFill>
                <a:latin typeface="Bahnschrift" panose="020B0502040204020203" pitchFamily="34" charset="0"/>
              </a:rPr>
              <a:t>Guided Notes</a:t>
            </a:r>
          </a:p>
          <a:p>
            <a:pPr algn="ctr">
              <a:buFont typeface="Arial"/>
              <a:buChar char="•"/>
            </a:pPr>
            <a:r>
              <a:rPr lang="en-US" sz="2000" dirty="0" err="1">
                <a:solidFill>
                  <a:schemeClr val="bg1"/>
                </a:solidFill>
                <a:latin typeface="Bahnschrift" panose="020B0502040204020203" pitchFamily="34" charset="0"/>
              </a:rPr>
              <a:t>Your marked Quiz A1-1</a:t>
            </a:r>
          </a:p>
          <a:p>
            <a:pPr algn="ctr">
              <a:buFont typeface="Arial"/>
              <a:buChar char="•"/>
            </a:pPr>
            <a:r>
              <a:rPr lang="en-US" sz="2000" dirty="0" err="1">
                <a:solidFill>
                  <a:schemeClr val="bg1"/>
                </a:solidFill>
                <a:latin typeface="Bahnschrift" panose="020B0502040204020203" pitchFamily="34" charset="0"/>
              </a:rPr>
              <a:t>A pen</a:t>
            </a:r>
          </a:p>
          <a:p>
            <a:pPr algn="ctr">
              <a:buFont typeface="Arial"/>
              <a:buChar char="•"/>
            </a:pPr>
            <a:r>
              <a:rPr lang="en-US" sz="2000" dirty="0" err="1">
                <a:solidFill>
                  <a:schemeClr val="bg1"/>
                </a:solidFill>
                <a:latin typeface="Bahnschrift" panose="020B0502040204020203" pitchFamily="34" charset="0"/>
              </a:rPr>
              <a:t>No calculator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CF6B3F-1F6D-7800-03EB-3D197914A30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3133FC-E875-8442-9063-C305CC0BFB2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7671A2-401B-58C3-4049-2F9F2E07BD91}"/>
              </a:ext>
            </a:extLst>
          </p:cNvPr>
          <p:cNvSpPr/>
          <p:nvPr/>
        </p:nvSpPr>
        <p:spPr>
          <a:xfrm>
            <a:off x="1109714" y="1181477"/>
            <a:ext cx="5413224" cy="539167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marL="457200" indent="-457200" algn="ctr"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Processes and the ready queue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First-come first-served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Round robin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Priority and multilevel queue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Comparing the four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Polling and interrupts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Multitasking and deadlock [HL]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Lab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Close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468F18-96E8-0BDE-DEDF-19E7735BE1E6}"/>
              </a:ext>
            </a:extLst>
          </p:cNvPr>
          <p:cNvSpPr/>
          <p:nvPr/>
        </p:nvSpPr>
        <p:spPr>
          <a:xfrm>
            <a:off x="6825600" y="1466923"/>
            <a:ext cx="5014261" cy="63244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ahnschrift SemiBold" panose="020B0502040204020203" pitchFamily="34" charset="0"/>
              </a:rPr>
              <a:t>WHAT U NEED 4 LESSON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CD8CB0-8A02-BF4E-6CF1-A22B96E02C67}"/>
              </a:ext>
            </a:extLst>
          </p:cNvPr>
          <p:cNvSpPr/>
          <p:nvPr/>
        </p:nvSpPr>
        <p:spPr>
          <a:xfrm>
            <a:off x="1824466" y="252900"/>
            <a:ext cx="2903431" cy="9285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54122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A270F0-8F50-92DA-DB22-F543DA25D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730A0A08-5C4D-C697-1647-15D7368C25C3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6A9A2BE-3154-5699-87B1-BDA4E28533AF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FC47B1D-CEFD-56A1-A40C-FFC710F17E2D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02E3790-7556-4AE7-CC39-77EBD0251154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E300A6-11D8-EFF0-56D0-8770B2E1826C}"/>
              </a:ext>
            </a:extLst>
          </p:cNvPr>
          <p:cNvSpPr/>
          <p:nvPr/>
        </p:nvSpPr>
        <p:spPr>
          <a:xfrm>
            <a:off x="1089140" y="1246841"/>
            <a:ext cx="9808033" cy="3830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Q1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(a) State the function that decides which process gets the CPU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(b) State what is meant by system integrity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→ Notes Q1 (a)-(c) [3 marks]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ED4224-E2D9-11D7-E95A-4BCAFD6EC2FF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QUESTION</a:t>
            </a:r>
          </a:p>
        </p:txBody>
      </p:sp>
      <p:pic>
        <p:nvPicPr>
          <p:cNvPr id="21" name="Picture 20" descr="url_upload_6a7f3d9e572a4.gif [effects output image]">
            <a:extLst>
              <a:ext uri="{FF2B5EF4-FFF2-40B4-BE49-F238E27FC236}">
                <a16:creationId xmlns:a16="http://schemas.microsoft.com/office/drawing/2014/main" id="{1945FA5A-8460-D84F-7D9A-79D3E5B3F45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-169085" y="4388056"/>
            <a:ext cx="2786643" cy="2667000"/>
          </a:xfrm>
          <a:prstGeom prst="rect">
            <a:avLst/>
          </a:prstGeom>
        </p:spPr>
      </p:pic>
      <p:pic>
        <p:nvPicPr>
          <p:cNvPr id="23" name="Picture 22" descr="url_upload_6a7f3d9e572a4.gif [effects output image]">
            <a:extLst>
              <a:ext uri="{FF2B5EF4-FFF2-40B4-BE49-F238E27FC236}">
                <a16:creationId xmlns:a16="http://schemas.microsoft.com/office/drawing/2014/main" id="{718BF9A7-8E5E-B5C3-C262-B1047A692FB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2617558" y="4388056"/>
            <a:ext cx="2786643" cy="2667000"/>
          </a:xfrm>
          <a:prstGeom prst="rect">
            <a:avLst/>
          </a:prstGeom>
        </p:spPr>
      </p:pic>
      <p:pic>
        <p:nvPicPr>
          <p:cNvPr id="25" name="Picture 24" descr="url_upload_6a7f3d9e572a4.gif [effects output image]">
            <a:extLst>
              <a:ext uri="{FF2B5EF4-FFF2-40B4-BE49-F238E27FC236}">
                <a16:creationId xmlns:a16="http://schemas.microsoft.com/office/drawing/2014/main" id="{3A652D8E-2B77-8700-8F5D-4479DB78975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5404201" y="4388056"/>
            <a:ext cx="2786643" cy="2667000"/>
          </a:xfrm>
          <a:prstGeom prst="rect">
            <a:avLst/>
          </a:prstGeom>
        </p:spPr>
      </p:pic>
      <p:pic>
        <p:nvPicPr>
          <p:cNvPr id="27" name="Picture 26" descr="url_upload_6a7f3d9e572a4.gif [effects output image]">
            <a:extLst>
              <a:ext uri="{FF2B5EF4-FFF2-40B4-BE49-F238E27FC236}">
                <a16:creationId xmlns:a16="http://schemas.microsoft.com/office/drawing/2014/main" id="{6775DF3F-BD6A-F7F5-6C93-57ECAED2DBD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8190844" y="4388056"/>
            <a:ext cx="2786643" cy="2667000"/>
          </a:xfrm>
          <a:prstGeom prst="rect">
            <a:avLst/>
          </a:prstGeom>
        </p:spPr>
      </p:pic>
      <p:pic>
        <p:nvPicPr>
          <p:cNvPr id="29" name="Picture 28" descr="url_upload_6a7f3d9e572a4.gif [effects output image]">
            <a:extLst>
              <a:ext uri="{FF2B5EF4-FFF2-40B4-BE49-F238E27FC236}">
                <a16:creationId xmlns:a16="http://schemas.microsoft.com/office/drawing/2014/main" id="{88FFDD1F-5F55-1CCB-635F-81D47B6CE01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10977487" y="4388056"/>
            <a:ext cx="2786643" cy="2667000"/>
          </a:xfrm>
          <a:prstGeom prst="rect">
            <a:avLst/>
          </a:prstGeom>
        </p:spPr>
      </p:pic>
      <p:pic>
        <p:nvPicPr>
          <p:cNvPr id="31" name="Picture 30" descr="url_upload_6a7f3d9e572a4.gif [effects output image]">
            <a:extLst>
              <a:ext uri="{FF2B5EF4-FFF2-40B4-BE49-F238E27FC236}">
                <a16:creationId xmlns:a16="http://schemas.microsoft.com/office/drawing/2014/main" id="{F00B0443-25C3-4B0E-BA35-4D93FED603B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6684191" y="-2330208"/>
            <a:ext cx="2786643" cy="2667000"/>
          </a:xfrm>
          <a:prstGeom prst="rect">
            <a:avLst/>
          </a:prstGeom>
        </p:spPr>
      </p:pic>
      <p:pic>
        <p:nvPicPr>
          <p:cNvPr id="33" name="Picture 32" descr="url_upload_6a7f3d9e572a4.gif [effects output image]">
            <a:extLst>
              <a:ext uri="{FF2B5EF4-FFF2-40B4-BE49-F238E27FC236}">
                <a16:creationId xmlns:a16="http://schemas.microsoft.com/office/drawing/2014/main" id="{2BDD2A8B-8AD2-BB57-8D0A-02BB15FA8C1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3897548" y="-2330208"/>
            <a:ext cx="2786643" cy="2667000"/>
          </a:xfrm>
          <a:prstGeom prst="rect">
            <a:avLst/>
          </a:prstGeom>
        </p:spPr>
      </p:pic>
      <p:pic>
        <p:nvPicPr>
          <p:cNvPr id="35" name="Picture 34" descr="url_upload_6a7f3d9e572a4.gif [effects output image]">
            <a:extLst>
              <a:ext uri="{FF2B5EF4-FFF2-40B4-BE49-F238E27FC236}">
                <a16:creationId xmlns:a16="http://schemas.microsoft.com/office/drawing/2014/main" id="{A989800E-110B-7DCD-02CA-28F0EF02EC9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l="20738" r="41253"/>
          <a:stretch>
            <a:fillRect/>
          </a:stretch>
        </p:blipFill>
        <p:spPr>
          <a:xfrm>
            <a:off x="2094614" y="-2330208"/>
            <a:ext cx="1802934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575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Oval 36">
            <a:extLst>
              <a:ext uri="{FF2B5EF4-FFF2-40B4-BE49-F238E27FC236}">
                <a16:creationId xmlns:a16="http://schemas.microsoft.com/office/drawing/2014/main" id="{917FEE29-802E-2475-F056-ABF6147D6F5E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3637471-545C-3BED-E303-32B9B55E4779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22A9DF5B-F8E1-A619-2F56-D2285584F87C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716FBC-551E-EED4-1370-8BD39B4366EB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C3BA2EE-B2BF-80F9-58A8-7F8A533AB479}"/>
              </a:ext>
            </a:extLst>
          </p:cNvPr>
          <p:cNvSpPr/>
          <p:nvPr/>
        </p:nvSpPr>
        <p:spPr>
          <a:xfrm>
            <a:off x="1089140" y="1246841"/>
            <a:ext cx="9808033" cy="3830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(a) Scheduling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(b) The machine staying in a correct, consistent, working state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37BBECE-BE53-A831-0C11-07A928BC521E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ANSWER</a:t>
            </a:r>
          </a:p>
        </p:txBody>
      </p:sp>
      <p:pic>
        <p:nvPicPr>
          <p:cNvPr id="49" name="Picture 48" descr="url_upload_6a7f3d9e572a4.gif [effects output image]">
            <a:extLst>
              <a:ext uri="{FF2B5EF4-FFF2-40B4-BE49-F238E27FC236}">
                <a16:creationId xmlns:a16="http://schemas.microsoft.com/office/drawing/2014/main" id="{A96B253E-4867-9FF6-E27B-1A807CAD284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-169085" y="4388056"/>
            <a:ext cx="2786643" cy="2667000"/>
          </a:xfrm>
          <a:prstGeom prst="rect">
            <a:avLst/>
          </a:prstGeom>
        </p:spPr>
      </p:pic>
      <p:pic>
        <p:nvPicPr>
          <p:cNvPr id="51" name="Picture 50" descr="url_upload_6a7f3d9e572a4.gif [effects output image]">
            <a:extLst>
              <a:ext uri="{FF2B5EF4-FFF2-40B4-BE49-F238E27FC236}">
                <a16:creationId xmlns:a16="http://schemas.microsoft.com/office/drawing/2014/main" id="{52B5D663-46A4-F04B-3CD9-4738F8D231D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2617558" y="4388056"/>
            <a:ext cx="2786643" cy="2667000"/>
          </a:xfrm>
          <a:prstGeom prst="rect">
            <a:avLst/>
          </a:prstGeom>
        </p:spPr>
      </p:pic>
      <p:pic>
        <p:nvPicPr>
          <p:cNvPr id="53" name="Picture 52" descr="url_upload_6a7f3d9e572a4.gif [effects output image]">
            <a:extLst>
              <a:ext uri="{FF2B5EF4-FFF2-40B4-BE49-F238E27FC236}">
                <a16:creationId xmlns:a16="http://schemas.microsoft.com/office/drawing/2014/main" id="{F58D4498-B115-EEF3-106E-496867DFFC3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5404201" y="4388056"/>
            <a:ext cx="2786643" cy="2667000"/>
          </a:xfrm>
          <a:prstGeom prst="rect">
            <a:avLst/>
          </a:prstGeom>
        </p:spPr>
      </p:pic>
      <p:pic>
        <p:nvPicPr>
          <p:cNvPr id="55" name="Picture 54" descr="url_upload_6a7f3d9e572a4.gif [effects output image]">
            <a:extLst>
              <a:ext uri="{FF2B5EF4-FFF2-40B4-BE49-F238E27FC236}">
                <a16:creationId xmlns:a16="http://schemas.microsoft.com/office/drawing/2014/main" id="{A245DDF0-87B5-5298-C401-4234F39A7D6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8190844" y="4388056"/>
            <a:ext cx="2786643" cy="2667000"/>
          </a:xfrm>
          <a:prstGeom prst="rect">
            <a:avLst/>
          </a:prstGeom>
        </p:spPr>
      </p:pic>
      <p:pic>
        <p:nvPicPr>
          <p:cNvPr id="57" name="Picture 56" descr="url_upload_6a7f3d9e572a4.gif [effects output image]">
            <a:extLst>
              <a:ext uri="{FF2B5EF4-FFF2-40B4-BE49-F238E27FC236}">
                <a16:creationId xmlns:a16="http://schemas.microsoft.com/office/drawing/2014/main" id="{18BCD019-A1A0-7BCC-0295-31B7D6ABEC5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10977487" y="4388056"/>
            <a:ext cx="2786643" cy="2667000"/>
          </a:xfrm>
          <a:prstGeom prst="rect">
            <a:avLst/>
          </a:prstGeom>
        </p:spPr>
      </p:pic>
      <p:pic>
        <p:nvPicPr>
          <p:cNvPr id="59" name="Picture 58" descr="url_upload_6a7f3d9e572a4.gif [effects output image]">
            <a:extLst>
              <a:ext uri="{FF2B5EF4-FFF2-40B4-BE49-F238E27FC236}">
                <a16:creationId xmlns:a16="http://schemas.microsoft.com/office/drawing/2014/main" id="{F35DCC52-4503-B1E8-4E8C-5CBF10DA2BD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6684191" y="-2330208"/>
            <a:ext cx="2786643" cy="2667000"/>
          </a:xfrm>
          <a:prstGeom prst="rect">
            <a:avLst/>
          </a:prstGeom>
        </p:spPr>
      </p:pic>
      <p:pic>
        <p:nvPicPr>
          <p:cNvPr id="61" name="Picture 60" descr="url_upload_6a7f3d9e572a4.gif [effects output image]">
            <a:extLst>
              <a:ext uri="{FF2B5EF4-FFF2-40B4-BE49-F238E27FC236}">
                <a16:creationId xmlns:a16="http://schemas.microsoft.com/office/drawing/2014/main" id="{C9EAE10D-744C-786C-2D8D-8AE1F05457D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3897548" y="-2330208"/>
            <a:ext cx="2786643" cy="2667000"/>
          </a:xfrm>
          <a:prstGeom prst="rect">
            <a:avLst/>
          </a:prstGeom>
        </p:spPr>
      </p:pic>
      <p:pic>
        <p:nvPicPr>
          <p:cNvPr id="63" name="Picture 62" descr="url_upload_6a7f3d9e572a4.gif [effects output image]">
            <a:extLst>
              <a:ext uri="{FF2B5EF4-FFF2-40B4-BE49-F238E27FC236}">
                <a16:creationId xmlns:a16="http://schemas.microsoft.com/office/drawing/2014/main" id="{9E3D91BB-29BC-49D2-6073-565BB764489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l="20738" r="41253"/>
          <a:stretch>
            <a:fillRect/>
          </a:stretch>
        </p:blipFill>
        <p:spPr>
          <a:xfrm>
            <a:off x="2094614" y="-2330208"/>
            <a:ext cx="1802934" cy="266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process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is a program that is currently running on your computer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It has its own memory, its own files and its own place in the queue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thread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is one sequence of instructions inside a process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One process can hold many threads, which is why we saw that ~200 processes had ~3,000 threads in Task Manager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519049" y="185784"/>
            <a:ext cx="9540728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PROCESSES AND THE READY QUEUE</a:t>
            </a:r>
          </a:p>
        </p:txBody>
      </p:sp>
      <p:pic>
        <p:nvPicPr>
          <p:cNvPr id="2" name="Picture 1" descr="Tasque (deltarune) — Pixel Art by ashplays154 — DinoPIXEL">
            <a:extLst>
              <a:ext uri="{FF2B5EF4-FFF2-40B4-BE49-F238E27FC236}">
                <a16:creationId xmlns:a16="http://schemas.microsoft.com/office/drawing/2014/main" id="{39A7FCD0-391E-342B-AE83-AB2113E8F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47" y="2747449"/>
            <a:ext cx="7654011" cy="5979696"/>
          </a:xfrm>
          <a:prstGeom prst="rect">
            <a:avLst/>
          </a:prstGeom>
        </p:spPr>
      </p:pic>
      <p:pic>
        <p:nvPicPr>
          <p:cNvPr id="3" name="Picture 2" descr="Tasque Manager - The Deltarune Wiki">
            <a:extLst>
              <a:ext uri="{FF2B5EF4-FFF2-40B4-BE49-F238E27FC236}">
                <a16:creationId xmlns:a16="http://schemas.microsoft.com/office/drawing/2014/main" id="{C1B0C286-00DC-FCBE-96DE-CDB4CB11CE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9645" y="3669706"/>
            <a:ext cx="2810267" cy="29912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6010664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Ready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– a process is waiting for a turn on the CPU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Running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– a process is on the CPU right now, one per core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Blocked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– a process is waiting on something slower, usually input or a disk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 blocked process does not sit on the CPU doing nothing, which frees up time for other processes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The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ready queue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is the line of processes waiting their turn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583217" y="215932"/>
            <a:ext cx="9839512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PROCESSES AND THE READY QUEUE</a:t>
            </a:r>
          </a:p>
        </p:txBody>
      </p:sp>
      <p:pic>
        <p:nvPicPr>
          <p:cNvPr id="2" name="Picture 1" descr="harmony 鸿蒙Task">
            <a:extLst>
              <a:ext uri="{FF2B5EF4-FFF2-40B4-BE49-F238E27FC236}">
                <a16:creationId xmlns:a16="http://schemas.microsoft.com/office/drawing/2014/main" id="{3E0A1FAF-8316-4EB5-DA44-15C6B7C72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7991" y="1940199"/>
            <a:ext cx="5343934" cy="35553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7" y="1299334"/>
            <a:ext cx="10743085" cy="24383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Burst time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is how long a process needs on the CPU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This is how long that task needs to complete its goal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All four arrive at roughly the same time, 0, but they have different stated priorities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→ Notes Q2 (a)-(c) [3 marks]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706502" y="155968"/>
            <a:ext cx="9598881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PROCESSES AND THE READY QUEUE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715614"/>
              </p:ext>
            </p:extLst>
          </p:nvPr>
        </p:nvGraphicFramePr>
        <p:xfrm>
          <a:off x="2050677" y="3943042"/>
          <a:ext cx="7903263" cy="26184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34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4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44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682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Process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Burst (ms)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A3C40"/>
                          </a:solidFill>
                          <a:latin typeface="Bahnschrift"/>
                        </a:rPr>
                        <a:t>Priority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682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8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3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682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P2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4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682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P3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2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4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682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P4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6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2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First-come first-served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runs each process to completion, in arrival order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No interruptions, no reordering, no cuts no buts no coconuts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P1 arrived first, so P1 gets all 8 ms before anyone else moves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Waiting time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is how long a process sits in the queue before it starts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This is very much like the queue data structure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7577575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FIRST-COME FIRST-SERVED</a:t>
            </a:r>
          </a:p>
        </p:txBody>
      </p:sp>
      <p:pic>
        <p:nvPicPr>
          <p:cNvPr id="2" name="Picture 1" descr="Stacks and Queues">
            <a:extLst>
              <a:ext uri="{FF2B5EF4-FFF2-40B4-BE49-F238E27FC236}">
                <a16:creationId xmlns:a16="http://schemas.microsoft.com/office/drawing/2014/main" id="{309202F8-36BE-733E-6A23-8FAAEA173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514" y="4369990"/>
            <a:ext cx="5934394" cy="241806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3"/>
            <a:ext cx="10341382" cy="272482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The response times are 0, 8, 12 and 14 </a:t>
            </a:r>
            <a:r>
              <a:rPr lang="en-US" sz="2400" dirty="0" err="1">
                <a:solidFill>
                  <a:schemeClr val="bg1"/>
                </a:solidFill>
                <a:latin typeface="Bahnschrift" panose="020B0502040204020203" pitchFamily="34" charset="0"/>
              </a:rPr>
              <a:t>ms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, average of 8.5 </a:t>
            </a:r>
            <a:r>
              <a:rPr lang="en-US" sz="2400" dirty="0" err="1">
                <a:solidFill>
                  <a:schemeClr val="bg1"/>
                </a:solidFill>
                <a:latin typeface="Bahnschrift" panose="020B0502040204020203" pitchFamily="34" charset="0"/>
              </a:rPr>
              <a:t>ms</a:t>
            </a:r>
            <a:endParaRPr lang="en-US" sz="24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Response time 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– how long it takes for the CPU to run a process for the first time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Average exit/completion time is 34 ÷ 4 = 13.5 ms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P3 only needs 2 ms of CPU but has to wait 12 ms to get access to the CPU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7721954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FIRST-COME FIRST-SERVED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650745"/>
              </p:ext>
            </p:extLst>
          </p:nvPr>
        </p:nvGraphicFramePr>
        <p:xfrm>
          <a:off x="4690637" y="5058666"/>
          <a:ext cx="6800000" cy="1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0 – 8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8 – 12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12 – 14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A3C40"/>
                          </a:solidFill>
                          <a:latin typeface="Bahnschrift"/>
                        </a:rPr>
                        <a:t>14 – 20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P2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P3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P4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" name="Picture 1" descr="spongebob squarepants spongebob gif | WiffleGif">
            <a:extLst>
              <a:ext uri="{FF2B5EF4-FFF2-40B4-BE49-F238E27FC236}">
                <a16:creationId xmlns:a16="http://schemas.microsoft.com/office/drawing/2014/main" id="{E1FEBAC5-E012-D146-BC7E-ED1396180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06" y="4266405"/>
            <a:ext cx="3823259" cy="25845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04680C-79AC-45ED-A8EB-8EBA7ED96FBB}"/>
              </a:ext>
            </a:extLst>
          </p:cNvPr>
          <p:cNvSpPr txBox="1"/>
          <p:nvPr/>
        </p:nvSpPr>
        <p:spPr>
          <a:xfrm>
            <a:off x="1845953" y="5979542"/>
            <a:ext cx="1700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Task 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This is simple to build and no task is ever skipped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But one long process at the front delays everything behind it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→ Notes Q3 (a)-(b) [4 marks]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8385028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FIRST-COME FIRST-SERVED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Round robin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gives every process a fixed amount of time with the </a:t>
            </a:r>
            <a:r>
              <a:rPr lang="en-US" sz="2400" dirty="0" err="1">
                <a:solidFill>
                  <a:schemeClr val="bg1"/>
                </a:solidFill>
                <a:latin typeface="Bahnschrift" panose="020B0502040204020203" pitchFamily="34" charset="0"/>
              </a:rPr>
              <a:t>CPU,a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slice of its time, called a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time quantum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Although I tend to call it a time slice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If a task does not complete in its slice, it gets kicked to the back of the queue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Let’s assume a quantum of 2 </a:t>
            </a:r>
            <a:r>
              <a:rPr lang="en-US" sz="2400" dirty="0" err="1">
                <a:solidFill>
                  <a:schemeClr val="bg1"/>
                </a:solidFill>
                <a:latin typeface="Bahnschrift" panose="020B0502040204020203" pitchFamily="34" charset="0"/>
              </a:rPr>
              <a:t>ms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using the same four processes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22043" y="155968"/>
            <a:ext cx="385580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ROUND ROBIN</a:t>
            </a:r>
          </a:p>
        </p:txBody>
      </p:sp>
      <p:pic>
        <p:nvPicPr>
          <p:cNvPr id="2" name="Picture 1" descr="Steps Of Roundrobin _ Round Robin Scheduling Program in C – VAGL">
            <a:extLst>
              <a:ext uri="{FF2B5EF4-FFF2-40B4-BE49-F238E27FC236}">
                <a16:creationId xmlns:a16="http://schemas.microsoft.com/office/drawing/2014/main" id="{23DF00CD-EEC6-FAC8-F8C2-B46685255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2003" y="3570831"/>
            <a:ext cx="4918911" cy="31312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3"/>
            <a:ext cx="10341382" cy="462020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We now have ten slices instead of four, because processes keep alternating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Every process gets its first turn inside the first 8 ms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Every time a process changes is called a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context switch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This introduces overhead, since the cache will likely be full of addresses from the first process that need to be cleared out for the second, costing time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Our model doesn’t account for this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1" y="155968"/>
            <a:ext cx="4283242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ROUND ROBIN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430875"/>
              </p:ext>
            </p:extLst>
          </p:nvPr>
        </p:nvGraphicFramePr>
        <p:xfrm>
          <a:off x="1483705" y="5237297"/>
          <a:ext cx="9000000" cy="1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0-2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2-4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4-6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6-8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A3C40"/>
                          </a:solidFill>
                          <a:latin typeface="Bahnschrift"/>
                        </a:rPr>
                        <a:t>8-10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10-12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A3C40"/>
                          </a:solidFill>
                          <a:latin typeface="Bahnschrift"/>
                        </a:rPr>
                        <a:t>12-14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A3C40"/>
                          </a:solidFill>
                          <a:latin typeface="Bahnschrift"/>
                        </a:rPr>
                        <a:t>14-16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16-18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18-20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P2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P3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P4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P2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P4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P4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Average response time drops from 8.5 ms to 3.0 ms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Average exit/completion time rises from 13.5 ms to 14 ms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So round robin is fairer and more responsive, but finishes slightly later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 small quantum means better response, but more switching overhead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→ Notes Q4 (a)-(b) [4 marks]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45370" y="185784"/>
            <a:ext cx="4055995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ROUND ROBIN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2B4EF91-E43A-2E2A-9128-33E6C2396C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31727"/>
              </p:ext>
            </p:extLst>
          </p:nvPr>
        </p:nvGraphicFramePr>
        <p:xfrm>
          <a:off x="1596000" y="4558667"/>
          <a:ext cx="9000000" cy="1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0-2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2-4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4-6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6-8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A3C40"/>
                          </a:solidFill>
                          <a:latin typeface="Bahnschrift"/>
                        </a:rPr>
                        <a:t>8-10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10-12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A3C40"/>
                          </a:solidFill>
                          <a:latin typeface="Bahnschrift"/>
                        </a:rPr>
                        <a:t>12-14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14-16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16-18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3C40"/>
                          </a:solidFill>
                          <a:latin typeface="Bahnschrift"/>
                        </a:rPr>
                        <a:t>18-20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P2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P3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P4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P2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P4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3C40"/>
                          </a:solidFill>
                          <a:latin typeface="Bahnschrift"/>
                        </a:rPr>
                        <a:t>P4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0537D5-22F1-DBC9-DFBE-47AF1787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B60BB94-AF46-1B63-2A71-3B48C858C75B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0D65635-6A09-A2F3-31DB-5309EB1987B3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4A6F2A1-3A90-3AAA-64FE-E577F2BF62D4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C1FA1B3-BB45-53F9-45B2-7243257AF84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A1BFE4-A3E6-FA12-212C-61AA5DC1F7D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Priority scheduling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runs the most important process first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Our table has priority 1 as the highest and 4 as the lowest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So the order becomes P2, then P4, then P1, then P3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Real systems set priority by importance or deadlines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C387D4-2E1C-E701-7FD6-1486734E4B7A}"/>
              </a:ext>
            </a:extLst>
          </p:cNvPr>
          <p:cNvSpPr/>
          <p:nvPr/>
        </p:nvSpPr>
        <p:spPr>
          <a:xfrm>
            <a:off x="-481507" y="155968"/>
            <a:ext cx="9165744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PRIORITY AND MULTILEVEL QUEUE</a:t>
            </a:r>
          </a:p>
        </p:txBody>
      </p:sp>
    </p:spTree>
    <p:extLst>
      <p:ext uri="{BB962C8B-B14F-4D97-AF65-F5344CB8AC3E}">
        <p14:creationId xmlns:p14="http://schemas.microsoft.com/office/powerpoint/2010/main" val="160159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99179E-54B4-2276-E12A-9B56C388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CAF941C-01E0-C7FC-4F52-586B67CA8B1F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1CAFD6-DE23-1105-B85A-C340154D13A3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256468-2C48-1834-DBC4-872693405C12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5AF60A9-13A8-D8AC-6297-A5B2F95A5AD5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AFAA10-0566-1371-E779-D434E6CB189F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If you’ve ever gotten into </a:t>
            </a:r>
            <a:r>
              <a:rPr lang="en-US" sz="2400" dirty="0" err="1">
                <a:solidFill>
                  <a:schemeClr val="bg1"/>
                </a:solidFill>
                <a:latin typeface="Bahnschrift" panose="020B0502040204020203" pitchFamily="34" charset="0"/>
              </a:rPr>
              <a:t>Pokemon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battling, it works pretty much identically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There are priority tiers, and within a tier whichever shows up first (is fastest) goes first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endParaRPr lang="en-US" sz="24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2C3C36-3336-3972-20C2-D0833BFAE8F0}"/>
              </a:ext>
            </a:extLst>
          </p:cNvPr>
          <p:cNvSpPr/>
          <p:nvPr/>
        </p:nvSpPr>
        <p:spPr>
          <a:xfrm>
            <a:off x="-481507" y="155968"/>
            <a:ext cx="9165744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PRIORITY AND MULTILEVEL QUEUE</a:t>
            </a:r>
          </a:p>
        </p:txBody>
      </p:sp>
      <p:pic>
        <p:nvPicPr>
          <p:cNvPr id="3" name="Picture 2" descr="Extreme Speed - PocketMonsters.Net">
            <a:extLst>
              <a:ext uri="{FF2B5EF4-FFF2-40B4-BE49-F238E27FC236}">
                <a16:creationId xmlns:a16="http://schemas.microsoft.com/office/drawing/2014/main" id="{376CE528-63E3-BEA9-8233-474B39B32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583" y="3110307"/>
            <a:ext cx="4307307" cy="323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1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3"/>
            <a:ext cx="10341382" cy="287161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Average response time is 8ms, which is better than FCFS, but worse than RR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Average exit/completion time is 13ms, once again respectable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P3 has the lowest priority and has to wait for 18 of the 20 ms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If more important tasks keep rolling in, P3 may never run at all, which is called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starvation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9" y="155968"/>
            <a:ext cx="9326165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PRIORITY AND MULTILEVEL QUEUE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215371"/>
              </p:ext>
            </p:extLst>
          </p:nvPr>
        </p:nvGraphicFramePr>
        <p:xfrm>
          <a:off x="2696000" y="4727575"/>
          <a:ext cx="6800000" cy="1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0 – 4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4 – 10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10 – 18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A3C40"/>
                          </a:solidFill>
                          <a:latin typeface="Bahnschrift"/>
                        </a:rPr>
                        <a:t>18 – 20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P2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P4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P1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P3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Multilevel queue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scheduling uses several ready queues at once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Interactive work sits in a high queue, background work in a low one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Each queue can run its own rule 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Usually round robin at the top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The scheduler serves the top queue first, then works down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→ Notes Q5 (a)-(c) [4 marks]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503007" y="155968"/>
            <a:ext cx="9582840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PRIORITY AND MULTILEVEL QUEUE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3"/>
            <a:ext cx="10341382" cy="221319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Using the same four processes across all three, we get the following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None of these are inherently better than the others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It’s a tradeoff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Multilevel queue is not on this table because it depends on its queues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6454628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COMPARING THE FOUR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4915957"/>
              </p:ext>
            </p:extLst>
          </p:nvPr>
        </p:nvGraphicFramePr>
        <p:xfrm>
          <a:off x="1401459" y="3717853"/>
          <a:ext cx="8800000" cy="2021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Rule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A3C40"/>
                          </a:solidFill>
                          <a:latin typeface="Bahnschrift"/>
                        </a:rPr>
                        <a:t>Avg </a:t>
                      </a:r>
                      <a:r>
                        <a:rPr lang="en-US" sz="2000" b="1" dirty="0">
                          <a:solidFill>
                            <a:srgbClr val="1A3C40"/>
                          </a:solidFill>
                          <a:latin typeface="Bahnschrift"/>
                        </a:rPr>
                        <a:t>response</a:t>
                      </a:r>
                      <a:endParaRPr sz="2000" b="1" dirty="0">
                        <a:solidFill>
                          <a:srgbClr val="1A3C40"/>
                        </a:solidFill>
                        <a:latin typeface="Bahnschrift"/>
                      </a:endParaRP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A3C40"/>
                          </a:solidFill>
                          <a:latin typeface="Bahnschrift"/>
                        </a:rPr>
                        <a:t>Avg </a:t>
                      </a:r>
                      <a:r>
                        <a:rPr lang="en-US" sz="2000" b="1" dirty="0">
                          <a:solidFill>
                            <a:srgbClr val="1A3C40"/>
                          </a:solidFill>
                          <a:latin typeface="Bahnschrift"/>
                        </a:rPr>
                        <a:t>exit</a:t>
                      </a:r>
                      <a:endParaRPr sz="2000" b="1" dirty="0">
                        <a:solidFill>
                          <a:srgbClr val="1A3C40"/>
                        </a:solidFill>
                        <a:latin typeface="Bahnschrift"/>
                      </a:endParaRP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A3C40"/>
                          </a:solidFill>
                          <a:latin typeface="Bahnschrift"/>
                        </a:rPr>
                        <a:t>Main flaw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First-come first-served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8.5 ms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13.5</a:t>
                      </a:r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A3C40"/>
                          </a:solidFill>
                          <a:latin typeface="Bahnschrift"/>
                        </a:rPr>
                        <a:t>ms</a:t>
                      </a:r>
                      <a:endParaRPr sz="2000" b="0" dirty="0">
                        <a:solidFill>
                          <a:srgbClr val="1A3C40"/>
                        </a:solidFill>
                        <a:latin typeface="Bahnschrift"/>
                      </a:endParaRP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Long jobs block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Round robin (q = 2)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3</a:t>
                      </a:r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.0 </a:t>
                      </a:r>
                      <a:r>
                        <a:rPr sz="2000" b="0" dirty="0" err="1">
                          <a:solidFill>
                            <a:srgbClr val="1A3C40"/>
                          </a:solidFill>
                          <a:latin typeface="Bahnschrift"/>
                        </a:rPr>
                        <a:t>ms</a:t>
                      </a:r>
                      <a:endParaRPr sz="2000" b="0" dirty="0">
                        <a:solidFill>
                          <a:srgbClr val="1A3C40"/>
                        </a:solidFill>
                        <a:latin typeface="Bahnschrift"/>
                      </a:endParaRP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14.0</a:t>
                      </a:r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A3C40"/>
                          </a:solidFill>
                          <a:latin typeface="Bahnschrift"/>
                        </a:rPr>
                        <a:t>ms</a:t>
                      </a:r>
                      <a:endParaRPr sz="2000" b="0" dirty="0">
                        <a:solidFill>
                          <a:srgbClr val="1A3C40"/>
                        </a:solidFill>
                        <a:latin typeface="Bahnschrift"/>
                      </a:endParaRP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Switch overhead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Priority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8.0 ms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13</a:t>
                      </a:r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.0 </a:t>
                      </a:r>
                      <a:r>
                        <a:rPr sz="2000" b="0" dirty="0" err="1">
                          <a:solidFill>
                            <a:srgbClr val="1A3C40"/>
                          </a:solidFill>
                          <a:latin typeface="Bahnschrift"/>
                        </a:rPr>
                        <a:t>ms</a:t>
                      </a:r>
                      <a:endParaRPr sz="2000" b="0" dirty="0">
                        <a:solidFill>
                          <a:srgbClr val="1A3C40"/>
                        </a:solidFill>
                        <a:latin typeface="Bahnschrift"/>
                      </a:endParaRP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Starvation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You should identify which of these situations you are in before deciding on a scheduling algorithm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Use first-come first-served when jobs are similar and order is fair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Use round robin when people are waiting for each process to run, like interactive applications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Use priority when there is difference in importance levels between the work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Use multilevel queue when multiple kinds of work must be done on once computer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→ Notes Q6 (a)-(c) [3 marks]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226794" y="155968"/>
            <a:ext cx="616008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COMPARING THE FOUR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The CPU also has to notice when peripheral devices need attention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Polling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means the CPU asks each device, over and over, if it has any updates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Simple to code, and predictable in timing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It wastes CPU cycles asking a device that likely hasn’t changed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7413152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POLLING AND INTERRUPTS</a:t>
            </a:r>
          </a:p>
        </p:txBody>
      </p:sp>
      <p:pic>
        <p:nvPicPr>
          <p:cNvPr id="2" name="Picture 1" descr="CPU Processor, Central Processing Unit, Chipset, Clock Speed ...">
            <a:extLst>
              <a:ext uri="{FF2B5EF4-FFF2-40B4-BE49-F238E27FC236}">
                <a16:creationId xmlns:a16="http://schemas.microsoft.com/office/drawing/2014/main" id="{F22E709C-DF40-6522-58CE-379849B5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0001" y="4463758"/>
            <a:ext cx="2579764" cy="2356185"/>
          </a:xfrm>
          <a:prstGeom prst="rect">
            <a:avLst/>
          </a:prstGeom>
        </p:spPr>
      </p:pic>
      <p:pic>
        <p:nvPicPr>
          <p:cNvPr id="3" name="Picture 2" descr="LYTiang LED Backlit USB Gaming Keyboard Fashion Mechanical Keyboard ...">
            <a:extLst>
              <a:ext uri="{FF2B5EF4-FFF2-40B4-BE49-F238E27FC236}">
                <a16:creationId xmlns:a16="http://schemas.microsoft.com/office/drawing/2014/main" id="{528F38C6-7AC5-212C-754E-523BCDF540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7991" y="5309937"/>
            <a:ext cx="2879861" cy="1655920"/>
          </a:xfrm>
          <a:prstGeom prst="rect">
            <a:avLst/>
          </a:prstGeom>
        </p:spPr>
      </p:pic>
      <p:sp>
        <p:nvSpPr>
          <p:cNvPr id="10" name="Speech Bubble: Oval 9">
            <a:extLst>
              <a:ext uri="{FF2B5EF4-FFF2-40B4-BE49-F238E27FC236}">
                <a16:creationId xmlns:a16="http://schemas.microsoft.com/office/drawing/2014/main" id="{41811EC4-8900-6268-C900-BA871F32A0FB}"/>
              </a:ext>
            </a:extLst>
          </p:cNvPr>
          <p:cNvSpPr/>
          <p:nvPr/>
        </p:nvSpPr>
        <p:spPr>
          <a:xfrm flipH="1">
            <a:off x="3859883" y="3789415"/>
            <a:ext cx="2236117" cy="948993"/>
          </a:xfrm>
          <a:prstGeom prst="wedgeEllipseCallout">
            <a:avLst>
              <a:gd name="adj1" fmla="val 30103"/>
              <a:gd name="adj2" fmla="val 9461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Anything yet?</a:t>
            </a:r>
          </a:p>
        </p:txBody>
      </p:sp>
      <p:sp>
        <p:nvSpPr>
          <p:cNvPr id="11" name="Speech Bubble: Oval 10">
            <a:extLst>
              <a:ext uri="{FF2B5EF4-FFF2-40B4-BE49-F238E27FC236}">
                <a16:creationId xmlns:a16="http://schemas.microsoft.com/office/drawing/2014/main" id="{1D48AD7B-FD00-6F38-20E9-63558B3C149C}"/>
              </a:ext>
            </a:extLst>
          </p:cNvPr>
          <p:cNvSpPr/>
          <p:nvPr/>
        </p:nvSpPr>
        <p:spPr>
          <a:xfrm flipH="1">
            <a:off x="4587270" y="4738408"/>
            <a:ext cx="2236117" cy="948993"/>
          </a:xfrm>
          <a:prstGeom prst="wedgeEllipseCallout">
            <a:avLst>
              <a:gd name="adj1" fmla="val 55212"/>
              <a:gd name="adj2" fmla="val 6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Anything yet?</a:t>
            </a:r>
          </a:p>
        </p:txBody>
      </p:sp>
      <p:sp>
        <p:nvSpPr>
          <p:cNvPr id="13" name="Speech Bubble: Oval 12">
            <a:extLst>
              <a:ext uri="{FF2B5EF4-FFF2-40B4-BE49-F238E27FC236}">
                <a16:creationId xmlns:a16="http://schemas.microsoft.com/office/drawing/2014/main" id="{4C059736-DC21-60F9-9DEF-BF607C1B6D6E}"/>
              </a:ext>
            </a:extLst>
          </p:cNvPr>
          <p:cNvSpPr/>
          <p:nvPr/>
        </p:nvSpPr>
        <p:spPr>
          <a:xfrm flipH="1">
            <a:off x="4587269" y="5870950"/>
            <a:ext cx="2236117" cy="948993"/>
          </a:xfrm>
          <a:prstGeom prst="wedgeEllipseCallout">
            <a:avLst>
              <a:gd name="adj1" fmla="val 62386"/>
              <a:gd name="adj2" fmla="val -6935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Anything yet?</a:t>
            </a:r>
          </a:p>
        </p:txBody>
      </p:sp>
      <p:pic>
        <p:nvPicPr>
          <p:cNvPr id="15" name="Picture 14" descr="Milk spilled milk spongebob squarepants GIF on GIFER - by Kulaghma">
            <a:extLst>
              <a:ext uri="{FF2B5EF4-FFF2-40B4-BE49-F238E27FC236}">
                <a16:creationId xmlns:a16="http://schemas.microsoft.com/office/drawing/2014/main" id="{5BBE96FC-5401-3240-1AB6-47DFE96CCB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1647" y="4040043"/>
            <a:ext cx="2416927" cy="16559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An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interrupt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is a signal from the device saying it needs the CPU now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The CPU stops, saves its place, and runs an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interrupt service routine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Then it restores its place and carries on where it left off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No cycles wasted while the device is idle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Your keyboard has worked this way the whole lesson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759361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POLLING AND INTERRUPTS</a:t>
            </a:r>
          </a:p>
        </p:txBody>
      </p:sp>
      <p:pic>
        <p:nvPicPr>
          <p:cNvPr id="2" name="Picture 1" descr="Download Courtroom Objection Graphic Wallpaper | Wallpapers.com">
            <a:extLst>
              <a:ext uri="{FF2B5EF4-FFF2-40B4-BE49-F238E27FC236}">
                <a16:creationId xmlns:a16="http://schemas.microsoft.com/office/drawing/2014/main" id="{8F29C44A-2EFA-FDC2-9CC1-291A4748A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8180" y="3986768"/>
            <a:ext cx="4549943" cy="255934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27432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You have to judge which suits a given situation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Events that happen infrequently?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Events that happen constantly?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Limited battery power devices?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Devices that update in fixed intervals?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9" y="155968"/>
            <a:ext cx="796258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POLLING AND INTERRUPTS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447407"/>
              </p:ext>
            </p:extLst>
          </p:nvPr>
        </p:nvGraphicFramePr>
        <p:xfrm>
          <a:off x="1501459" y="4346111"/>
          <a:ext cx="8600000" cy="22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Factor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A3C40"/>
                          </a:solidFill>
                          <a:latin typeface="Bahnschrift"/>
                        </a:rPr>
                        <a:t>Favours polling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Favours interrupts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Event frequency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Constant events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Rare events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CPU overhead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Predictable cost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No idle cost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Power source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Mains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Battery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A3C40"/>
                          </a:solidFill>
                          <a:latin typeface="Bahnschrift"/>
                        </a:rPr>
                        <a:t>Latency control</a:t>
                      </a:r>
                    </a:p>
                  </a:txBody>
                  <a:tcPr marL="36000" marR="36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A3C40"/>
                          </a:solidFill>
                          <a:latin typeface="Bahnschrift"/>
                        </a:rPr>
                        <a:t>Tight and known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A3C40"/>
                          </a:solidFill>
                          <a:latin typeface="Bahnschrift"/>
                        </a:rPr>
                        <a:t>Varies with load</a:t>
                      </a:r>
                    </a:p>
                  </a:txBody>
                  <a:tcPr marL="36000" marR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Keyboards, mice and networking chips (internet) use interrupts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 real-time controller reading a sensor 10,000 times a second may poll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An interrupt can also be a security concern if a device can be impersonated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→ Notes Q7 (a)-(c) [4 marks]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7413151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POLLING AND INTERRUPTS</a:t>
            </a:r>
          </a:p>
        </p:txBody>
      </p:sp>
      <p:pic>
        <p:nvPicPr>
          <p:cNvPr id="2" name="Picture 1" descr="Malware">
            <a:extLst>
              <a:ext uri="{FF2B5EF4-FFF2-40B4-BE49-F238E27FC236}">
                <a16:creationId xmlns:a16="http://schemas.microsoft.com/office/drawing/2014/main" id="{67A49D22-2895-7B44-EA06-4BF5D077E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678" y="4307659"/>
            <a:ext cx="4255402" cy="239437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Multitasking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is the OS keeping many processes alive at once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It has to share the CPU, memory, files and devices between them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Resource contention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is two processes wanting the same thing at once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The OS decides who waits, and the waiting has to end eventually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8385028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MULTITASKING AND DEADLOCK [HL]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29BFAB-F64E-2E08-0EF7-A8404E247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3582774"/>
            <a:ext cx="4514850" cy="30099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C3C4C6-9D2C-40C4-0E12-EB27DEB37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CF994AD-B05D-5CE9-8BEC-1F77DC9F5976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D1540AD-2A6B-6742-F8D9-663ECD3A8658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18DB08A-567F-C2CB-29A0-7FE48EC84374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BC88232-B5AE-DBD7-DE1A-9AF2C2322BAD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6B15EA-B9BF-0AA7-D9CC-369FA5880F75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Have you ever tried to upload a file that you have open in Word to </a:t>
            </a:r>
            <a:r>
              <a:rPr lang="en-US" sz="2400" dirty="0" err="1">
                <a:solidFill>
                  <a:schemeClr val="bg1"/>
                </a:solidFill>
                <a:latin typeface="Bahnschrift" panose="020B0502040204020203" pitchFamily="34" charset="0"/>
              </a:rPr>
              <a:t>ManageBac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?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Does it let you upload it?</a:t>
            </a:r>
          </a:p>
          <a:p>
            <a:pPr marL="1371600" lvl="2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Why or why not?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12B957-F439-0313-4DA5-269648BC9291}"/>
              </a:ext>
            </a:extLst>
          </p:cNvPr>
          <p:cNvSpPr/>
          <p:nvPr/>
        </p:nvSpPr>
        <p:spPr>
          <a:xfrm>
            <a:off x="-358628" y="155968"/>
            <a:ext cx="8385028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MULTITASKING AND DEADLOCK [HL]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58BBDF-A48B-390F-E994-488BD0476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429" y="3372953"/>
            <a:ext cx="451485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91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3212DE-3D74-DA02-D163-3192E5CA5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0D66CB7-E21A-0AE7-C054-1B3618EC3E2C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5186E66-5613-CC7A-2114-85E84E51E76B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C88E89D-C8CF-2265-D109-52FA11C714CD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9DC61FD-44C9-9446-7E61-4842B0C4A083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4A27A3-C3AB-6C70-EB77-1B263C2DD168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This is resource contention PREVENTION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The OS makes sure that you aren’t uploading a file you’re currently working on because that could cause the data to conflict and corrupt your file or crash the program(s)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B7C0C6-6F6E-79BE-DDEE-EFCEE431AC56}"/>
              </a:ext>
            </a:extLst>
          </p:cNvPr>
          <p:cNvSpPr/>
          <p:nvPr/>
        </p:nvSpPr>
        <p:spPr>
          <a:xfrm>
            <a:off x="-358628" y="155968"/>
            <a:ext cx="8385028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MULTITASKING AND DEADLOCK [HL]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54E7CB-82DF-0337-115C-DD72FD428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429" y="3330887"/>
            <a:ext cx="451485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9011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6423755" cy="555866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Deadlock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is a scenario when processes are waiting on something from each other, and neither can proceed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Process P1 holds the printer and wants the scanner, process P2 holds the scanner and wants the printer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Neither will release what it has, so both wait forever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Deadlock prevention is commonplace in programs nowadays, and processes will give up their resources after a certain amount of time to try again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→ Notes Q8 (a)-(c) [3 marks]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8385028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MULTITASKING AND DEADLOCK [HL]</a:t>
            </a:r>
          </a:p>
        </p:txBody>
      </p:sp>
      <p:pic>
        <p:nvPicPr>
          <p:cNvPr id="2" name="Picture 1" descr="Medium">
            <a:extLst>
              <a:ext uri="{FF2B5EF4-FFF2-40B4-BE49-F238E27FC236}">
                <a16:creationId xmlns:a16="http://schemas.microsoft.com/office/drawing/2014/main" id="{FD5AE376-0679-182E-420C-E11789C975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39" t="-2944" r="7115" b="14764"/>
          <a:stretch>
            <a:fillRect/>
          </a:stretch>
        </p:blipFill>
        <p:spPr>
          <a:xfrm>
            <a:off x="7232316" y="2164915"/>
            <a:ext cx="4568358" cy="328940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→ Notes Q9, Q10 and Q11 [8 marks]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Q9 Explain why round robin gives a better response time than FCFS [3]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Q10 Evaluate polling rather than interrupts for a sensor read 10,000 times a second [3]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Q11 Describe what is meant by starvation in priority scheduling [2]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145583" y="155968"/>
            <a:ext cx="1738249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LAB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4492775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rm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Process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Thread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Ready queue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Burst time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Waiting time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Response time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First-come first-served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8385028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VOCABULARY TO REMEMBER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8F6C99-7DA9-E963-361C-ABB7A467AD11}"/>
              </a:ext>
            </a:extLst>
          </p:cNvPr>
          <p:cNvSpPr/>
          <p:nvPr/>
        </p:nvSpPr>
        <p:spPr>
          <a:xfrm>
            <a:off x="5354429" y="1299334"/>
            <a:ext cx="3606371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rm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Round robin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Time quantum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Context switch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Priority scheduling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Starvation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Multilevel queue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Polling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Interrupt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Deadlock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D2E6BF-B2C6-DD45-189D-654304927D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30" b="640"/>
          <a:stretch>
            <a:fillRect/>
          </a:stretch>
        </p:blipFill>
        <p:spPr>
          <a:xfrm flipH="1">
            <a:off x="8553848" y="3717853"/>
            <a:ext cx="3278463" cy="2982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95 0.0507 L 0.0095 0.0507 C 0.00833 -0.0368 0.00755 -0.09444 0.00729 -0.19467 C 0.00716 -0.23079 0.00781 -0.26667 0.00794 -0.30278 C 0.00729 -0.32986 0.00794 -0.35717 0.00573 -0.38403 C 0.00442 -0.40116 0.00065 -0.41713 -0.00248 -0.43333 C -0.00625 -0.45301 -0.01211 -0.47708 -0.02045 -0.49213 C -0.02591 -0.50185 -0.05482 -0.53241 -0.06029 -0.53611 C -0.07761 -0.54815 -0.09336 -0.55116 -0.1112 -0.55602 C -0.11602 -0.55463 -0.1211 -0.55532 -0.12552 -0.55208 C -0.13477 -0.54537 -0.14362 -0.53704 -0.1517 -0.52662 C -0.16341 -0.51204 -0.17578 -0.48588 -0.18555 -0.46667 C -0.18776 -0.45648 -0.19024 -0.44653 -0.19219 -0.43611 C -0.1974 -0.40856 -0.2056 -0.35486 -0.20873 -0.32801 C -0.21172 -0.30278 -0.21368 -0.27731 -0.21628 -0.25208 C -0.22071 -0.15972 -0.21966 -0.19884 -0.21771 -0.04815 C -0.21758 -0.03426 -0.21641 -0.02801 -0.21472 -0.01597 C -0.20951 -0.04838 -0.21146 -0.03194 -0.21849 -0.1 C -0.21966 -0.11204 -0.22227 -0.12338 -0.22448 -0.13472 C -0.2362 -0.19375 -0.23464 -0.18796 -0.253 -0.24005 C -0.25365 -0.2419 -0.26771 -0.28032 -0.27175 -0.28796 C -0.2737 -0.29167 -0.27618 -0.29421 -0.27852 -0.29745 C -0.28946 -0.28981 -0.30078 -0.28356 -0.31146 -0.27477 C -0.32591 -0.26296 -0.34375 -0.22292 -0.34974 -0.2081 C -0.35222 -0.20185 -0.35521 -0.19606 -0.35729 -0.18935 C -0.35977 -0.18102 -0.3612 -0.17153 -0.36328 -0.16273 C -0.36446 -0.14838 -0.36576 -0.13472 -0.36628 -0.12014 C -0.36719 -0.08403 -0.36745 -0.04815 -0.36849 -0.01204 C -0.36914 0.01412 -0.36836 0.00857 -0.37071 0.0213 C -0.37344 0.00648 -0.36966 0.02894 -0.36993 -0.01204 C -0.37019 -0.03032 -0.36953 -0.04907 -0.37227 -0.06667 C -0.37396 -0.07755 -0.37878 -0.08611 -0.38269 -0.09467 C -0.39284 -0.11643 -0.40443 -0.13125 -0.41875 -0.14398 C -0.42657 -0.15092 -0.42253 -0.14884 -0.43073 -0.15069 C -0.44427 -0.14977 -0.44584 -0.15393 -0.45469 -0.14398 C -0.45964 -0.13866 -0.46901 -0.12685 -0.46901 -0.12685 C -0.47149 -0.11875 -0.47487 -0.11134 -0.47644 -0.10278 C -0.47696 -0.1 -0.47761 -0.09745 -0.478 -0.09467 C -0.47904 -0.08634 -0.47956 -0.07662 -0.48021 -0.06805 C -0.47943 -0.05301 -0.48008 -0.0375 -0.478 -0.02268 C -0.47748 -0.01921 -0.47696 -0.01574 -0.47644 -0.01204 C -0.47487 0.00139 -0.47448 0.00833 -0.47344 0.02269 C -0.47396 0.0257 -0.47383 0.0294 -0.475 0.03195 C -0.47552 0.0331 -0.47644 0.03102 -0.47722 0.03056 C -0.47852 0.02963 -0.47969 0.0287 -0.48099 0.02801 C -0.48399 0.0213 -0.48828 0.01597 -0.48998 0.00787 C -0.49349 -0.00833 -0.49479 -0.01319 -0.49753 -0.03079 C -0.49857 -0.03819 -0.49948 -0.04583 -0.50052 -0.05347 C -0.49857 -0.07106 -0.49636 -0.10116 -0.49076 -0.11736 C -0.48516 -0.13333 -0.47839 -0.14768 -0.47123 -0.16134 C -0.46654 -0.17037 -0.46159 -0.17963 -0.45547 -0.18542 C -0.45078 -0.18981 -0.44493 -0.18889 -0.43972 -0.19074 C -0.42826 -0.1868 -0.41589 -0.1875 -0.40521 -0.1787 C -0.39987 -0.1743 -0.39714 -0.16296 -0.39466 -0.15347 C -0.38959 -0.13333 -0.38685 -0.09444 -0.38503 -0.07338 C -0.38594 -0.06551 -0.38568 -0.05648 -0.38802 -0.0493 C -0.39453 -0.02963 -0.40313 -0.0338 -0.4142 -0.03217 C -0.44675 -0.0419 -0.45834 -0.03773 -0.48477 -0.07338 C -0.49154 -0.08264 -0.49571 -0.09653 -0.50118 -0.1081 C -0.50378 -0.12222 -0.50808 -0.13588 -0.50873 -0.15069 C -0.51055 -0.19375 -0.50026 -0.21944 -0.4862 -0.25347 C -0.4694 -0.29398 -0.44662 -0.33333 -0.42175 -0.35741 C -0.40795 -0.3706 -0.39271 -0.3794 -0.37748 -0.38542 C -0.36472 -0.39051 -0.35144 -0.38889 -0.33854 -0.39074 C -0.32878 -0.3831 -0.31745 -0.37986 -0.30925 -0.36805 C -0.28464 -0.33287 -0.28425 -0.31458 -0.27552 -0.26944 C -0.27852 -0.24907 -0.27774 -0.22546 -0.28451 -0.2081 C -0.30417 -0.15764 -0.32318 -0.16366 -0.35274 -0.15602 C -0.36823 -0.1662 -0.38711 -0.16667 -0.39922 -0.1868 C -0.41237 -0.20833 -0.42045 -0.24074 -0.42318 -0.27199 C -0.42748 -0.31898 -0.4056 -0.37546 -0.38724 -0.40278 C -0.36602 -0.43426 -0.32552 -0.4588 -0.30026 -0.47083 C -0.28256 -0.47893 -0.2642 -0.4831 -0.24623 -0.48935 L -0.16224 -0.4868 C -0.11055 -0.47731 -0.09909 -0.46319 -0.05573 -0.43079 C -0.04974 -0.41597 -0.04089 -0.40393 -0.03776 -0.3868 C -0.03334 -0.3625 -0.03047 -0.33542 -0.03399 -0.31065 C -0.04466 -0.23518 -0.08073 -0.18565 -0.11875 -0.15602 C -0.13112 -0.1463 -0.14571 -0.15162 -0.15925 -0.1493 C -0.16771 -0.16852 -0.17891 -0.18472 -0.18477 -0.20671 C -0.19375 -0.2412 -0.19961 -0.27847 -0.20274 -0.31597 C -0.20508 -0.34467 -0.20534 -0.37477 -0.20118 -0.40278 C -0.19766 -0.42778 -0.18841 -0.4493 -0.18021 -0.47083 C -0.16302 -0.5162 -0.1487 -0.5375 -0.12019 -0.56134 C -0.11172 -0.56852 -0.07578 -0.58333 -0.06472 -0.58796 C -0.05821 -0.58727 -0.05131 -0.58958 -0.04519 -0.58542 C -0.03555 -0.57893 -0.01407 -0.55185 -0.00326 -0.53866 C 0.00026 -0.52893 0.0039 -0.51921 0.00729 -0.50949 C 0.01041 -0.50023 0.01302 -0.49051 0.01627 -0.48148 C 0.02578 -0.45509 0.01914 -0.48148 0.02669 -0.45347 C 0.02838 -0.44722 0.02968 -0.44097 0.03125 -0.43472 C 0.03242 -0.43032 0.03372 -0.42592 0.03502 -0.4213 C 0.03776 -0.41111 0.03932 -0.39977 0.04323 -0.39074 C 0.04674 -0.38264 0.05039 -0.37477 0.05377 -0.36667 C 0.05638 -0.36065 0.06562 -0.33495 0.06875 -0.33079 C 0.07513 -0.32199 0.08229 -0.31505 0.08971 -0.30949 C 0.09661 -0.30417 0.10416 -0.30185 0.11146 -0.29884 C 0.12304 -0.29398 0.13424 -0.29213 0.14596 -0.28935 C 0.16523 -0.2956 0.18489 -0.29907 0.20377 -0.3081 C 0.24127 -0.32616 0.26302 -0.33217 0.29752 -0.36667 C 0.3289 -0.39838 0.35833 -0.43565 0.38893 -0.46944 C 0.40208 -0.4838 0.41432 -0.50162 0.42877 -0.51065 C 0.44544 -0.5213 0.4625 -0.53102 0.47903 -0.54282 C 0.50494 -0.56111 0.52994 -0.58449 0.55625 -0.60139 C 0.57356 -0.6125 0.57031 -0.6088 0.58476 -0.62407 C 0.58698 -0.62662 0.59153 -0.63194 0.59153 -0.63194 " pathEditMode="relative" ptsTypes="AAAAAAAAAAAAAAAAAAAAAAAAAAAAAAAAAAAAAAAAAAAAAAAAAAAAAAAAAAAAAAAAAAAAAAAAAAAAAAAAAAAAAAAAAAAAAAAAAAAAAAAAAA">
                                      <p:cBhvr>
                                        <p:cTn id="6" dur="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ustom 1">
      <a:majorFont>
        <a:latin typeface="Bahnschrift"/>
        <a:ea typeface=""/>
        <a:cs typeface=""/>
      </a:majorFont>
      <a:minorFont>
        <a:latin typeface="Bahnschrif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45512</TotalTime>
  <Words>1685</Words>
  <Application>Microsoft Office PowerPoint</Application>
  <PresentationFormat>Widescreen</PresentationFormat>
  <Paragraphs>275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Arial</vt:lpstr>
      <vt:lpstr>Bahnschrift</vt:lpstr>
      <vt:lpstr>Bahnschrift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Hill</dc:creator>
  <cp:lastModifiedBy>Michael Hill</cp:lastModifiedBy>
  <cp:revision>40</cp:revision>
  <dcterms:created xsi:type="dcterms:W3CDTF">2025-08-11T14:07:39Z</dcterms:created>
  <dcterms:modified xsi:type="dcterms:W3CDTF">2026-09-09T20:19:12Z</dcterms:modified>
</cp:coreProperties>
</file>