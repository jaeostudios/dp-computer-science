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427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1-15T19:01:58.243" v="4665" actId="20577"/>
      <pc:docMkLst>
        <pc:docMk/>
      </pc:docMkLst>
      <pc:sldChg chg="addSp delSp modSp mod">
        <pc:chgData name="Michael Hill" userId="41dba03d-e58d-4389-9894-554c10310ba4" providerId="ADAL" clId="{EF23FE1D-A042-481E-AFD7-2A9FB0847F54}" dt="2026-01-15T19:01:58.243" v="4665" actId="20577"/>
        <pc:sldMkLst>
          <pc:docMk/>
          <pc:sldMk cId="1878848435" sldId="256"/>
        </pc:sldMkLst>
        <pc:spChg chg="add del">
          <ac:chgData name="Michael Hill" userId="41dba03d-e58d-4389-9894-554c10310ba4" providerId="ADAL" clId="{EF23FE1D-A042-481E-AFD7-2A9FB0847F54}" dt="2026-01-15T19:01:57.993" v="4664" actId="478"/>
          <ac:spMkLst>
            <pc:docMk/>
            <pc:sldMk cId="1878848435" sldId="256"/>
            <ac:spMk id="3" creationId="{7092C056-8544-9BD9-4C2E-525562652EFC}"/>
          </ac:spMkLst>
        </pc:spChg>
        <pc:spChg chg="mod">
          <ac:chgData name="Michael Hill" userId="41dba03d-e58d-4389-9894-554c10310ba4" providerId="ADAL" clId="{EF23FE1D-A042-481E-AFD7-2A9FB0847F54}" dt="2026-01-15T19:01:58.243" v="4665" actId="20577"/>
          <ac:spMkLst>
            <pc:docMk/>
            <pc:sldMk cId="1878848435" sldId="256"/>
            <ac:spMk id="5" creationId="{18C18ECD-1A29-4735-FBF9-2230E3FED9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985855" y="3692233"/>
            <a:ext cx="6220290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OLAP &amp; DATA MINING</a:t>
            </a:r>
          </a:p>
        </p:txBody>
      </p:sp>
      <p:sp>
        <p:nvSpPr>
          <p:cNvPr id="3" name="Star: 16 Points 2">
            <a:extLst>
              <a:ext uri="{FF2B5EF4-FFF2-40B4-BE49-F238E27FC236}">
                <a16:creationId xmlns:a16="http://schemas.microsoft.com/office/drawing/2014/main" id="{7092C056-8544-9BD9-4C2E-525562652EFC}"/>
              </a:ext>
            </a:extLst>
          </p:cNvPr>
          <p:cNvSpPr/>
          <p:nvPr/>
        </p:nvSpPr>
        <p:spPr>
          <a:xfrm>
            <a:off x="221178" y="429768"/>
            <a:ext cx="1920240" cy="1920240"/>
          </a:xfrm>
          <a:prstGeom prst="star16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HL ONLY!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626840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Business Intelligence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Online Analytical Processing (OLAP)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Mining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Role of OLAP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Role of Data Mining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might be a valid reason for an organization to use a NoSQL database for their organizational needs rather than a relational database?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The database may have large volumes of data that needs rapid processing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The structure of the data might not correspond nicely to the relational database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B2ED3-4EF8-6330-1896-93D426F0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3300CD-DA7F-9CB2-C806-2870D51E42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0E4E65-71FC-1931-9D8E-688C9DADA7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4EA5CB-05C5-DAE7-8A42-D443CC3BA9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71ADAC-1916-8360-D79E-4AF2FBD9B9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D10A6-6873-83B9-4A7A-C6B9FA36932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Thank you for applying at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specialists in the emerging world of business intelligence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Business intelligence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technologies, applications, and practices for collecting, integrating, analyzing, and presenting business information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Goal: support data-driven decisions and improve business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05023-B49D-4826-0558-B56B39E7F0C2}"/>
              </a:ext>
            </a:extLst>
          </p:cNvPr>
          <p:cNvSpPr/>
          <p:nvPr/>
        </p:nvSpPr>
        <p:spPr>
          <a:xfrm>
            <a:off x="-224726" y="155968"/>
            <a:ext cx="667201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BUSINESS INTELLIGENCE</a:t>
            </a:r>
          </a:p>
        </p:txBody>
      </p:sp>
      <p:pic>
        <p:nvPicPr>
          <p:cNvPr id="3" name="Picture 2" descr="A group of people holding their thumbs up&#10;&#10;AI-generated content may be incorrect.">
            <a:extLst>
              <a:ext uri="{FF2B5EF4-FFF2-40B4-BE49-F238E27FC236}">
                <a16:creationId xmlns:a16="http://schemas.microsoft.com/office/drawing/2014/main" id="{DFE5FFAF-0D26-02D3-AFE4-B34A94241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527" y="4524654"/>
            <a:ext cx="3249793" cy="207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0729E-2798-5399-2BE0-45F56FF5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DDE8F79-5A20-AEA6-E843-DA1D8F1B7C2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432AEF3-787D-D8F6-B6A6-82DFAF07D6E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7F7A05-6F48-BA3D-4DB5-F1C9A9101E5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2C8A24-B5A3-6374-9526-F4B04A24B06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8CB37-7D9A-6D00-D1B6-C64D9D591F66}"/>
              </a:ext>
            </a:extLst>
          </p:cNvPr>
          <p:cNvSpPr/>
          <p:nvPr/>
        </p:nvSpPr>
        <p:spPr>
          <a:xfrm>
            <a:off x="421106" y="1357745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tools that we at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will apply to your organization include: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Online Analytical Processing (OLAP)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Mining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tools for data analysis and business intelligence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allow us to extract valuable insights and make informed decisions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B3459D-1053-2A29-6C46-68D7ACD25002}"/>
              </a:ext>
            </a:extLst>
          </p:cNvPr>
          <p:cNvSpPr/>
          <p:nvPr/>
        </p:nvSpPr>
        <p:spPr>
          <a:xfrm>
            <a:off x="-224726" y="155968"/>
            <a:ext cx="667201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BUSINESS INTELLIGENCE</a:t>
            </a:r>
          </a:p>
        </p:txBody>
      </p:sp>
      <p:pic>
        <p:nvPicPr>
          <p:cNvPr id="6" name="Picture 5" descr="A person in a suit with his arms raised&#10;&#10;AI-generated content may be incorrect.">
            <a:extLst>
              <a:ext uri="{FF2B5EF4-FFF2-40B4-BE49-F238E27FC236}">
                <a16:creationId xmlns:a16="http://schemas.microsoft.com/office/drawing/2014/main" id="{0BED53FC-8D82-FB05-CFBC-373A883A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227" y="1678302"/>
            <a:ext cx="5252094" cy="350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5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1E150-E64C-A50D-87DE-7E122ABA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F0356FD-DD43-9373-9403-08E5E682BAD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92911B-926F-D3F9-5623-4568375BBE7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10CB98-6B5D-1375-04A0-A2D951CEE28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417C3D-19E0-4706-534A-8196B2A38BB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5A465-8411-1EA6-427C-98EB3585A402}"/>
              </a:ext>
            </a:extLst>
          </p:cNvPr>
          <p:cNvSpPr/>
          <p:nvPr/>
        </p:nvSpPr>
        <p:spPr>
          <a:xfrm>
            <a:off x="5134396" y="1143745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OLAP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facilitates interactive analysis of multidimensional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Dimensions such as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Product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Region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OLAP provides pre-aggregated views of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Optimized for querying and reporting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5E33E-58C8-48AE-6D25-5E8C3919A5EA}"/>
              </a:ext>
            </a:extLst>
          </p:cNvPr>
          <p:cNvSpPr/>
          <p:nvPr/>
        </p:nvSpPr>
        <p:spPr>
          <a:xfrm>
            <a:off x="122746" y="155968"/>
            <a:ext cx="167862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OLAP</a:t>
            </a:r>
          </a:p>
        </p:txBody>
      </p:sp>
      <p:pic>
        <p:nvPicPr>
          <p:cNvPr id="3" name="Picture 2" descr="A person holding a computer and giving a thumbs up&#10;&#10;AI-generated content may be incorrect.">
            <a:extLst>
              <a:ext uri="{FF2B5EF4-FFF2-40B4-BE49-F238E27FC236}">
                <a16:creationId xmlns:a16="http://schemas.microsoft.com/office/drawing/2014/main" id="{8DD3FD28-9A85-42A4-65C6-BCF4FECD9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7" y="2165588"/>
            <a:ext cx="4650981" cy="310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7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9762E-379B-DC65-4BB5-4D4FDC71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E36EC55-A3A6-C9B8-5FF0-B396F0EC8E9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3DC599-F282-E769-89A4-C6D2201D153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7114CF-B282-45A8-3393-E84A72A4CD3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88A7D1-7BED-38C8-BE09-DBBA12038DC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9C142B-2877-C3A3-5D38-71C01711B334}"/>
              </a:ext>
            </a:extLst>
          </p:cNvPr>
          <p:cNvSpPr/>
          <p:nvPr/>
        </p:nvSpPr>
        <p:spPr>
          <a:xfrm>
            <a:off x="513286" y="1166026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quickly retrieve summaries of information to support decision making processes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do complex calculations and analysis on the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Year over year comparisons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D10B7F-AEEF-0C11-3E97-0CDC8F30A267}"/>
              </a:ext>
            </a:extLst>
          </p:cNvPr>
          <p:cNvSpPr/>
          <p:nvPr/>
        </p:nvSpPr>
        <p:spPr>
          <a:xfrm>
            <a:off x="122746" y="155968"/>
            <a:ext cx="167862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OLAP</a:t>
            </a:r>
          </a:p>
        </p:txBody>
      </p:sp>
      <p:pic>
        <p:nvPicPr>
          <p:cNvPr id="6" name="Picture 5" descr="A person drawing a graph&#10;&#10;AI-generated content may be incorrect.">
            <a:extLst>
              <a:ext uri="{FF2B5EF4-FFF2-40B4-BE49-F238E27FC236}">
                <a16:creationId xmlns:a16="http://schemas.microsoft.com/office/drawing/2014/main" id="{BAC6BD49-76DA-8233-E62D-EAF9455C1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529" y="2119884"/>
            <a:ext cx="3962400" cy="29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72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D6D0A-B6E1-B485-25BA-ACADDCAD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E8ABA15-CCD1-9735-412E-F3792923923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5BECDE-5E88-C72C-95CB-14F6DC0A736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E0A61B-E21C-FCC6-4F3E-50ED0D03683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FEE180-DFFB-1470-036A-C836F34D8A5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79B9A-9CA9-879D-3BD4-D808057F4006}"/>
              </a:ext>
            </a:extLst>
          </p:cNvPr>
          <p:cNvSpPr/>
          <p:nvPr/>
        </p:nvSpPr>
        <p:spPr>
          <a:xfrm>
            <a:off x="513286" y="1166026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view data visually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Charts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Graphs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Dashboards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Users can create on the fly queries to explore data dynamically and answer specific business questions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51C43-1FC0-A6FB-08CF-4BD3176C96B5}"/>
              </a:ext>
            </a:extLst>
          </p:cNvPr>
          <p:cNvSpPr/>
          <p:nvPr/>
        </p:nvSpPr>
        <p:spPr>
          <a:xfrm>
            <a:off x="122746" y="155968"/>
            <a:ext cx="167862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OLAP</a:t>
            </a:r>
          </a:p>
        </p:txBody>
      </p:sp>
      <p:pic>
        <p:nvPicPr>
          <p:cNvPr id="11" name="Picture 10" descr="A person in a suit with a cloud exploding his head&#10;&#10;AI-generated content may be incorrect.">
            <a:extLst>
              <a:ext uri="{FF2B5EF4-FFF2-40B4-BE49-F238E27FC236}">
                <a16:creationId xmlns:a16="http://schemas.microsoft.com/office/drawing/2014/main" id="{F2BF7B9E-50B3-A940-512B-3AF03AF97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024" y="2176271"/>
            <a:ext cx="4395134" cy="293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1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E45D1-CBB9-49F5-114B-A9B9794B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2C5EDF7-B824-4360-90AA-C5FB125571D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5AC029-495E-4667-A6C4-98FE6D9702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274F51-ADC4-41BD-7DAA-FDD32E21F2B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96D104-8111-C980-14F2-139ABCF9C71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7A0AC6-A50C-63D8-8D97-CFEF79E50DEE}"/>
              </a:ext>
            </a:extLst>
          </p:cNvPr>
          <p:cNvSpPr/>
          <p:nvPr/>
        </p:nvSpPr>
        <p:spPr>
          <a:xfrm>
            <a:off x="5354429" y="1010578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mining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the process of discovering patterns and relationships within large data sets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Statistical algorithms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Machine learning techniques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Artificial Intelligence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uncover hidden data insights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1FDFC-9B6C-142E-6842-DF9ADA3ABD95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3" name="Picture 2" descr="A video game screen shot&#10;&#10;AI-generated content may be incorrect.">
            <a:extLst>
              <a:ext uri="{FF2B5EF4-FFF2-40B4-BE49-F238E27FC236}">
                <a16:creationId xmlns:a16="http://schemas.microsoft.com/office/drawing/2014/main" id="{7D3C398F-1085-09F3-52BE-96BA19088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23" y="1856484"/>
            <a:ext cx="4867703" cy="274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3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BB397-06B8-9F18-AE4F-E4471847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FCE9E3C-CA9C-E7A7-29F3-485DB79B04E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F15556-1E8B-FACF-4CC6-61FA9238512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AEDC84-E577-7B83-F2B1-C5CFEF5B68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37B459-7636-7347-C934-CE212266B04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03D888-CA2C-1201-EFC0-0916FDAE4846}"/>
              </a:ext>
            </a:extLst>
          </p:cNvPr>
          <p:cNvSpPr/>
          <p:nvPr/>
        </p:nvSpPr>
        <p:spPr>
          <a:xfrm>
            <a:off x="5354429" y="1010578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also do predictive modelling (where we predict what will happen in the future)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Predict: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Customer behavior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Demand forecasts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Risk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F9A3C8-C925-9C43-1672-1E6F466D0794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</p:spTree>
    <p:extLst>
      <p:ext uri="{BB962C8B-B14F-4D97-AF65-F5344CB8AC3E}">
        <p14:creationId xmlns:p14="http://schemas.microsoft.com/office/powerpoint/2010/main" val="2855539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9BDCD-1187-42EF-4588-EC57B4D3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0A4834A-E680-A9A9-0EF5-D1B29861346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EA9098-2BCC-A836-89F5-601108FA45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75D14E-BA9D-C179-A4FD-9AE4284EBB3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92BF67-D666-462E-F69F-2C76646571B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43C402-C8D5-7EA0-D378-643503A8577D}"/>
              </a:ext>
            </a:extLst>
          </p:cNvPr>
          <p:cNvSpPr/>
          <p:nvPr/>
        </p:nvSpPr>
        <p:spPr>
          <a:xfrm>
            <a:off x="5354429" y="1010578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segment customers based on attributes and behaviors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Target marketing campaigns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Personalize consumer experiences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13310A-D3F3-00C0-5C20-7AF564E5BFAF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6" name="Picture 5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49135C0D-601C-209D-5FFE-5E3C2C4E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6" y="1174976"/>
            <a:ext cx="4649521" cy="2822161"/>
          </a:xfrm>
          <a:prstGeom prst="rect">
            <a:avLst/>
          </a:prstGeom>
        </p:spPr>
      </p:pic>
      <p:pic>
        <p:nvPicPr>
          <p:cNvPr id="11" name="Picture 10" descr="A close up of text&#10;&#10;AI-generated content may be incorrect.">
            <a:extLst>
              <a:ext uri="{FF2B5EF4-FFF2-40B4-BE49-F238E27FC236}">
                <a16:creationId xmlns:a16="http://schemas.microsoft.com/office/drawing/2014/main" id="{C87971FB-7777-4272-3D45-EB1AAF658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4" y="4860224"/>
            <a:ext cx="10397775" cy="16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5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C29C9-8A8C-5AFF-BB2B-A301D4D5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E8FBB8C-A02C-DB7F-9315-A382C9A87EF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62A503-2802-0B70-81E8-70C74CD2D5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D66BAE-A1C5-BA2C-6A39-90EEB90767C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5E6597-A507-75BC-A17E-AEEE000FBFE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8E344-C2B3-1219-604E-71D03F8E27EB}"/>
              </a:ext>
            </a:extLst>
          </p:cNvPr>
          <p:cNvSpPr/>
          <p:nvPr/>
        </p:nvSpPr>
        <p:spPr>
          <a:xfrm>
            <a:off x="873661" y="1166026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also detect anomalies in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Potentially indicating fraud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Unusual patterns that require investigation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48FBD-9A75-4A97-2A60-E2B47B01968D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3" name="Picture 2" descr="A person wearing a mask and holding a keyboard&#10;&#10;AI-generated content may be incorrect.">
            <a:extLst>
              <a:ext uri="{FF2B5EF4-FFF2-40B4-BE49-F238E27FC236}">
                <a16:creationId xmlns:a16="http://schemas.microsoft.com/office/drawing/2014/main" id="{D8C61C95-4502-C9DA-9E17-40B2F1DC9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051" y="754806"/>
            <a:ext cx="3482340" cy="52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90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5A352-0C95-CC97-BA2F-E9478617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85B44D-ACBF-427D-A953-3B7D5B7C919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CDD480-CFBD-5522-25E9-0CF3E8330C2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4EC9EB-6D0F-60C8-B0D4-EDA85CC4B62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2BC41D-C173-0379-29B3-1A21B4960EB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5854C-F9C1-9624-44E4-01333407D19E}"/>
              </a:ext>
            </a:extLst>
          </p:cNvPr>
          <p:cNvSpPr/>
          <p:nvPr/>
        </p:nvSpPr>
        <p:spPr>
          <a:xfrm>
            <a:off x="873661" y="1166026"/>
            <a:ext cx="618086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BizInt’s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7 pillars of data mining: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Classification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Supervised learning technique (machine learning)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Categorizes data into labels based on input features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in spam email detection, sentiment analysis, credit scoring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04088-6045-C14D-C4EE-E786DC2E085E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6" name="Picture 5" descr="A person touching a screen with a hand&#10;&#10;AI-generated content may be incorrect.">
            <a:extLst>
              <a:ext uri="{FF2B5EF4-FFF2-40B4-BE49-F238E27FC236}">
                <a16:creationId xmlns:a16="http://schemas.microsoft.com/office/drawing/2014/main" id="{9FFEACCB-F514-B096-4146-575097039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529" y="2378604"/>
            <a:ext cx="4152639" cy="24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25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F5918-EA80-C718-0D83-411CAB682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E306AF-B69B-AFF7-8438-F4AFE865FD9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E56A10-E4F4-91E2-2E8A-2D9B639953F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76AEA9-26E1-339F-ADBF-7C770D7A69B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9A8E39-5508-20F0-5BEC-160D8795D2D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CDE240-2F97-C665-6F05-0386B8D091E5}"/>
              </a:ext>
            </a:extLst>
          </p:cNvPr>
          <p:cNvSpPr/>
          <p:nvPr/>
        </p:nvSpPr>
        <p:spPr>
          <a:xfrm>
            <a:off x="713232" y="1166026"/>
            <a:ext cx="1109167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BizInt’s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7 pillars of data mining: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Clustering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Unsupervised learning technique (still machine learning)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Groups similar data points together into clusters based on characteristics or proximity in feature space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 patterns in customer behavior by grouping and analyzing variables to connect them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in market segmentation, customer profiling, anomaly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78A378-3ABA-11F2-15C6-5427639C2F6A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3" name="Picture 2" descr="A bunch of grapes with a leaf&#10;&#10;AI-generated content may be incorrect.">
            <a:extLst>
              <a:ext uri="{FF2B5EF4-FFF2-40B4-BE49-F238E27FC236}">
                <a16:creationId xmlns:a16="http://schemas.microsoft.com/office/drawing/2014/main" id="{09EB0E95-3758-21FC-E71C-55496AD28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832" y="134023"/>
            <a:ext cx="2692592" cy="201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3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0BB91-6E02-07F8-BBBF-455D2611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F20777-5605-3518-F93B-AFF25B77496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827358-CAF0-E930-589C-5D2E8D7BE3B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8FAFE-7526-3076-DA75-F910ACF2F9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0F3468-0EE6-11D9-9B56-9408237FE8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F32C42-8C00-1DFF-5749-57406DDEC682}"/>
              </a:ext>
            </a:extLst>
          </p:cNvPr>
          <p:cNvSpPr/>
          <p:nvPr/>
        </p:nvSpPr>
        <p:spPr>
          <a:xfrm>
            <a:off x="713232" y="1166026"/>
            <a:ext cx="5715000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BizInt’s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7 pillars of data mining: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Regression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Predicts continuous numerical values based on input variables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Aim to establish relationships between variables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in sales forecasting, price predictions, risk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75D59-39BD-DDC0-584C-C59BF3077141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6" name="Picture 5" descr="A person pointing at a computer screen&#10;&#10;AI-generated content may be incorrect.">
            <a:extLst>
              <a:ext uri="{FF2B5EF4-FFF2-40B4-BE49-F238E27FC236}">
                <a16:creationId xmlns:a16="http://schemas.microsoft.com/office/drawing/2014/main" id="{972EF655-B0B5-B2CB-5FD4-A655AD92C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523" y="2035303"/>
            <a:ext cx="4864179" cy="26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19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B23AA-718A-1C26-4BF3-86D46843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E5DF6C8-0B3D-FFA0-182F-37E5ED88BB0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D0E4D7-F078-71AF-DC72-AB95110EFD7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2E60C4-5856-1249-E7C6-619FCC7FB00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94D6A9-C2FF-F7AB-E723-0CCA003831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2DA35-A4BC-7063-A626-C33D3B99C17E}"/>
              </a:ext>
            </a:extLst>
          </p:cNvPr>
          <p:cNvSpPr/>
          <p:nvPr/>
        </p:nvSpPr>
        <p:spPr>
          <a:xfrm>
            <a:off x="713232" y="1166026"/>
            <a:ext cx="1110081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BizInt’s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7 pillars of data mining: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Association rule discovery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 relationships or associations between items in large data sets, typically transaction databases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Looks at how events are connected or lead to one another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Correlates presence of a set of items with another range of values for another set of variables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in cross-selling recommendations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03070-9B3E-FB19-DFF2-2BEAB4F34613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3" name="Picture 2" descr="A screenshot of a product&#10;&#10;AI-generated content may be incorrect.">
            <a:extLst>
              <a:ext uri="{FF2B5EF4-FFF2-40B4-BE49-F238E27FC236}">
                <a16:creationId xmlns:a16="http://schemas.microsoft.com/office/drawing/2014/main" id="{A05CC966-1A62-169D-6D58-31F7DB8BF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52" y="5443522"/>
            <a:ext cx="3834384" cy="132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49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9DED8-5320-D6FA-A0E6-0444752C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65F9EC-5470-5B71-AB5D-2982C24EB6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C5D9FE-4A0C-8917-C20A-76FFEDF5CA4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71B46A-076F-99D7-9FA3-5894DBEEA18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CE72D5-2D5D-CB7B-529F-DCA0E131CEA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8D13D-2FDC-0D67-7005-D8412F437435}"/>
              </a:ext>
            </a:extLst>
          </p:cNvPr>
          <p:cNvSpPr/>
          <p:nvPr/>
        </p:nvSpPr>
        <p:spPr>
          <a:xfrm>
            <a:off x="5001768" y="1166026"/>
            <a:ext cx="6812280" cy="55182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BizInt’s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7 pillars of data mining: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Sequential Pattern Discovery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Discovers patterns or sequences in data where events occur in a specific order over a specific period of time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Temporal patterns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in web log analysis and clickstream analysis (where people are clicking through in websites)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6DBF8-A51E-B77A-C84C-BEB380450D61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6" name="Picture 5" descr="A person with glasses and a keyboard&#10;&#10;AI-generated content may be incorrect.">
            <a:extLst>
              <a:ext uri="{FF2B5EF4-FFF2-40B4-BE49-F238E27FC236}">
                <a16:creationId xmlns:a16="http://schemas.microsoft.com/office/drawing/2014/main" id="{48646DE1-4BDF-1266-790D-69D53FA52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75" y="1954519"/>
            <a:ext cx="3669792" cy="366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2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C4A8C-0BCB-A57B-9E9D-3E322684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D76CE4-1894-1604-614D-C0F4F9E99E7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CE5ABF-1B72-C828-2DF0-73922DC4FE8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84713E-41B0-189D-CB40-CD3BB784D5A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07981F-A0D4-AD11-95C5-8E68C54C67C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EC4410-008E-7A01-C123-2CF6B3F6EAEB}"/>
              </a:ext>
            </a:extLst>
          </p:cNvPr>
          <p:cNvSpPr/>
          <p:nvPr/>
        </p:nvSpPr>
        <p:spPr>
          <a:xfrm>
            <a:off x="695225" y="1143745"/>
            <a:ext cx="6812280" cy="55182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BizInt’s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7 pillars of data mining: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Anomaly detection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Identifies rare or unusual patterns in data that do not conform to expected behavior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in fraud detection, network security monitoring, and equipment failure prediction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39D9D1-2579-D725-C274-3438672DAC9D}"/>
              </a:ext>
            </a:extLst>
          </p:cNvPr>
          <p:cNvSpPr/>
          <p:nvPr/>
        </p:nvSpPr>
        <p:spPr>
          <a:xfrm>
            <a:off x="-4289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p:pic>
        <p:nvPicPr>
          <p:cNvPr id="3" name="Picture 2" descr="A person in a white suit and hat&#10;&#10;AI-generated content may be incorrect.">
            <a:extLst>
              <a:ext uri="{FF2B5EF4-FFF2-40B4-BE49-F238E27FC236}">
                <a16:creationId xmlns:a16="http://schemas.microsoft.com/office/drawing/2014/main" id="{AB8D3EEE-A943-C7C0-8CA0-5718EBB2E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049" y="2295895"/>
            <a:ext cx="4339804" cy="243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77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Business intelligence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Online Analytical Processing (OLAP)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Mining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Classification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Clustering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Regression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Association Rule Discovery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Sequential Pattern Discovery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Anomaly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23615</TotalTime>
  <Words>665</Words>
  <Application>Microsoft Office PowerPoint</Application>
  <PresentationFormat>Widescreen</PresentationFormat>
  <Paragraphs>113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25</cp:revision>
  <dcterms:created xsi:type="dcterms:W3CDTF">2025-08-11T14:07:39Z</dcterms:created>
  <dcterms:modified xsi:type="dcterms:W3CDTF">2026-01-15T19:02:00Z</dcterms:modified>
</cp:coreProperties>
</file>