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76" r:id="rId23"/>
    <p:sldId id="277" r:id="rId24"/>
    <p:sldId id="278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89467" autoAdjust="0"/>
  </p:normalViewPr>
  <p:slideViewPr>
    <p:cSldViewPr snapToGrid="0">
      <p:cViewPr varScale="1">
        <p:scale>
          <a:sx n="57" d="100"/>
          <a:sy n="57" d="100"/>
        </p:scale>
        <p:origin x="42" y="9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judgement is always the same question: is this value impossible, or just unusual?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1C5E-7479-7103-3ED6-4CBD5A18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0B367-6AE4-F0EB-2BE8-1AA2FA93C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4559A-121A-F7A9-BCEC-EF6D53B0B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B3B3D-D5BF-9176-D229-6C77DF1E4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29666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Q8 is the one that will appear on the exam. Make them name the problem using the syllabus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A4: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A4-3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808133" y="3728134"/>
            <a:ext cx="3691466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DATA CLEANING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E40579-7A81-EB64-9AFD-999F21224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22" y="4000773"/>
            <a:ext cx="2565990" cy="2565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8046557-50BC-D02D-A725-70D13189FAF9}"/>
              </a:ext>
            </a:extLst>
          </p:cNvPr>
          <p:cNvSpPr/>
          <p:nvPr/>
        </p:nvSpPr>
        <p:spPr>
          <a:xfrm>
            <a:off x="5808133" y="4336564"/>
            <a:ext cx="606929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FILL OUT QR CODE</a:t>
            </a:r>
          </a:p>
          <a:p>
            <a:pPr algn="ctr"/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OR ELSE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B0AD16BC-4740-8DB3-588D-74E1504BAB61}"/>
              </a:ext>
            </a:extLst>
          </p:cNvPr>
          <p:cNvSpPr/>
          <p:nvPr/>
        </p:nvSpPr>
        <p:spPr>
          <a:xfrm rot="10367077">
            <a:off x="5135946" y="4939563"/>
            <a:ext cx="2284664" cy="1333287"/>
          </a:xfrm>
          <a:prstGeom prst="stripedRightArrow">
            <a:avLst>
              <a:gd name="adj1" fmla="val 38550"/>
              <a:gd name="adj2" fmla="val 553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12 Points 9">
            <a:extLst>
              <a:ext uri="{FF2B5EF4-FFF2-40B4-BE49-F238E27FC236}">
                <a16:creationId xmlns:a16="http://schemas.microsoft.com/office/drawing/2014/main" id="{66B26B19-2889-E42C-A01D-5774525E4EE3}"/>
              </a:ext>
            </a:extLst>
          </p:cNvPr>
          <p:cNvSpPr/>
          <p:nvPr/>
        </p:nvSpPr>
        <p:spPr>
          <a:xfrm>
            <a:off x="5256811" y="1077733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ur</a:t>
            </a:r>
            <a:r>
              <a:rPr lang="en-US" sz="2000" dirty="0">
                <a:latin typeface="Bahnschrift" panose="020B0502040204020203" pitchFamily="34" charset="0"/>
              </a:rPr>
              <a:t> hedz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Warm up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The class data set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Why data quality matters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Missing data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Outliers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Duplicates and incorrect data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Irrelevant and bad formatting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Normalization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Standardization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How was our data?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State one difference between training and inference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State one reason a GPU is well suited to training a model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State one advantage of running a model on an edge device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Training builds the model and happens once, taking hours or longer; inference uses the finished model and happens quickly, in milliseconds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It has thousands of simple cores doing the same operation at once, which is how training occurs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No network round trip, the data never leaves the device, and it still works offline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0" y="65791"/>
            <a:ext cx="7615449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Thank you everyone for filling out my survey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Let’s look at the data to see how it turned out!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Can anybody identify any potential issues with the data?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618760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CLASS DATA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Which column looks the most reliable? Which looks the least?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62629" y="155968"/>
            <a:ext cx="574057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CLASS DATA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255923" y="1299334"/>
            <a:ext cx="95714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Labelled data is scarce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Even worse – a lot of the time collected data is borked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Real data can have many issues, such as forms filled in badly, sensors that cut out, and separate databases merged decades ago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model can’t understand any of this, any typo becomes a fact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even just 5% of your labels are wrong, the model learns those too, no matter how good your processing power is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Data cleaning</a:t>
            </a:r>
            <a:r>
              <a:rPr lang="en-US" sz="2400" dirty="0">
                <a:latin typeface="Bahnschrift" panose="020B0502040204020203" pitchFamily="34" charset="0"/>
              </a:rPr>
              <a:t> is what we call ‘preparing’ data before it is used for training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 lots of real projects, this is the part that takes the longest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7013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WHY DATA QUALITY MATTERS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2C44C-01FE-CA8D-C5D1-15943456C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378" y="4312117"/>
            <a:ext cx="2775621" cy="2220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4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Here are six specific potential problems that you can run into with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69171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WHY DATA QUALITY MATTERS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96000" y="2900000"/>
          <a:ext cx="10200000" cy="2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The problem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What it looks like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Missing data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A blank where a value should be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Outliers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A value far outside the rest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Duplicate data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The same record entered twice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Incorrect data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A value that is simply wrong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Irrelevant data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A column that cannot help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Bad formatting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The right value written the wrong way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Missing data can occur when you have: a blank cell, somebody skips a question, or a sensor glitched out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Maybe a database was modified to add a new field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Most algorithms cannot handle any missing data and will crash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Three potential solutions: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Deletion</a:t>
            </a:r>
            <a:r>
              <a:rPr lang="en-US" sz="2400" dirty="0">
                <a:latin typeface="Bahnschrift" panose="020B0502040204020203" pitchFamily="34" charset="0"/>
              </a:rPr>
              <a:t> – delete the whole row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Imputation</a:t>
            </a:r>
            <a:r>
              <a:rPr lang="en-US" sz="2400" dirty="0">
                <a:latin typeface="Bahnschrift" panose="020B0502040204020203" pitchFamily="34" charset="0"/>
              </a:rPr>
              <a:t> – fill the gap with an inferred value, usually the average value of that column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Predictive modelling</a:t>
            </a:r>
            <a:r>
              <a:rPr lang="en-US" sz="2400" dirty="0">
                <a:latin typeface="Bahnschrift" panose="020B0502040204020203" pitchFamily="34" charset="0"/>
              </a:rPr>
              <a:t> – use other columns to predict the missing value, looking at similar columns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38597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MISSING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Imputing the mean: let’s say a column reads 10, 20, 30, ?, 40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mean of what is there is 25, so the blank becomes 25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column mean remains the same as it was before, not messing much with the data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But, in doing this, you have invented a new, fake data point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spread of the column is smaller, increasing the confidence of the model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Our sheet: find a blank. Whose row is it, which column, and what would you put there?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411112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MISSING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6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 will have to decide in which case to do each of these based on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20236"/>
            <a:ext cx="4040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MISSING DATA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061973"/>
              </p:ext>
            </p:extLst>
          </p:nvPr>
        </p:nvGraphicFramePr>
        <p:xfrm>
          <a:off x="996000" y="3100000"/>
          <a:ext cx="10200000" cy="226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Method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Use it when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The cost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Deletion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Few rows affected, plenty of data left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Fully losing that row of data</a:t>
                      </a:r>
                      <a:endParaRPr sz="17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Imputation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few gaps in an otherwise good column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Not real values, shrink spread</a:t>
                      </a:r>
                      <a:endParaRPr sz="17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Predictive modelling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The other column</a:t>
                      </a:r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 data</a:t>
                      </a:r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 </a:t>
                      </a:r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is used to </a:t>
                      </a:r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predict it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Takes more time, can be wrong</a:t>
                      </a:r>
                      <a:endParaRPr sz="17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6011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outlier</a:t>
            </a:r>
            <a:r>
              <a:rPr lang="en-US" sz="2400" dirty="0">
                <a:latin typeface="Bahnschrift" panose="020B0502040204020203" pitchFamily="34" charset="0"/>
              </a:rPr>
              <a:t> is a value that sits far away from the rest of the column’s values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Like an age column of teenagers with one entry reading 900.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Just because a value is an outlier doesn’t always mean it’s false though!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Age of 900 is an error, but £4 million in a payroll file might be the chief executive, and you’d get fired if you delete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Your choice: remove it, cap it, or keep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83832" y="155968"/>
            <a:ext cx="293030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OUTLIERS</a:t>
            </a:r>
          </a:p>
        </p:txBody>
      </p:sp>
      <p:pic>
        <p:nvPicPr>
          <p:cNvPr id="2" name="Picture 1" descr="brostrider 16 points 4 hours ago &quot;average person eats 3 spiders a year&quot; factoid actualy just statistical error average person eats 0 spiders per year. Spiders Georg, who lives in cave &amp; eats over 10,000 each day, is an outlier adn should not have been counted permalink parent ↑ [-] Quixotic-Delights 8 points 3 hours ago gunna have to call b------- on this. by my calculations Spiders Georg would have to eat 58,405,479 and a half a day. About 41 thousanda second. obviously Spiders Georg is f------ insane. permalink parent">
            <a:extLst>
              <a:ext uri="{FF2B5EF4-FFF2-40B4-BE49-F238E27FC236}">
                <a16:creationId xmlns:a16="http://schemas.microsoft.com/office/drawing/2014/main" id="{25F3723E-E43B-8C38-BEF4-F58C51C8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457"/>
          <a:stretch>
            <a:fillRect/>
          </a:stretch>
        </p:blipFill>
        <p:spPr>
          <a:xfrm>
            <a:off x="801113" y="4727575"/>
            <a:ext cx="10589773" cy="20194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Whichever you pick, you should probably document it </a:t>
            </a:r>
            <a:r>
              <a:rPr lang="en-US" sz="2400" dirty="0" err="1">
                <a:latin typeface="Bahnschrift" panose="020B0502040204020203" pitchFamily="34" charset="0"/>
              </a:rPr>
              <a:t>irl</a:t>
            </a:r>
            <a:r>
              <a:rPr lang="en-US" sz="2400" dirty="0">
                <a:latin typeface="Bahnschrift" panose="020B0502040204020203" pitchFamily="34" charset="0"/>
              </a:rPr>
              <a:t> fwiw.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73105" y="83122"/>
            <a:ext cx="29092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OUTLIERS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Duplicate data</a:t>
            </a:r>
            <a:r>
              <a:rPr lang="en-US" sz="2400" dirty="0">
                <a:latin typeface="Bahnschrift" panose="020B0502040204020203" pitchFamily="34" charset="0"/>
              </a:rPr>
              <a:t> is correct data appearing multiple times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Usually because two systems got merged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leave both in, the trained model will weight it double (bad)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Either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remove the extra copy, or consolidate</a:t>
            </a:r>
            <a:r>
              <a:rPr lang="en-US" sz="2400" dirty="0">
                <a:latin typeface="Bahnschrift" panose="020B0502040204020203" pitchFamily="34" charset="0"/>
              </a:rPr>
              <a:t> them if each holds unique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93269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DUPLICATES AND INCORRECT DATA</a:t>
            </a:r>
          </a:p>
        </p:txBody>
      </p:sp>
      <p:pic>
        <p:nvPicPr>
          <p:cNvPr id="2" name="Picture 1" descr="Car Accident Visuals, Vehicle Collision Graphics, Crash Scene ...">
            <a:extLst>
              <a:ext uri="{FF2B5EF4-FFF2-40B4-BE49-F238E27FC236}">
                <a16:creationId xmlns:a16="http://schemas.microsoft.com/office/drawing/2014/main" id="{933FF5CF-E563-5B99-9389-452153D57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427" y="2733746"/>
            <a:ext cx="8581573" cy="6007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Incorrect data</a:t>
            </a:r>
            <a:r>
              <a:rPr lang="en-US" sz="2400" dirty="0">
                <a:latin typeface="Bahnschrift" panose="020B0502040204020203" pitchFamily="34" charset="0"/>
              </a:rPr>
              <a:t> is a value that is provably wrong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height of 1.75 among a row of 175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a unit problem, easiest to avoid when initially collecting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70811" y="155968"/>
            <a:ext cx="94454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DUPLICATES AND INCORRECT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Irrelevant data</a:t>
            </a:r>
            <a:r>
              <a:rPr lang="en-US" sz="2400" dirty="0">
                <a:latin typeface="Bahnschrift" panose="020B0502040204020203" pitchFamily="34" charset="0"/>
              </a:rPr>
              <a:t> is a column that cannot possibly help the prediction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a different kind of discussion, more about what we include in our model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Example: student ID shouldn’t have any correlation to GPA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Including it in our model would lead to noise that it just doesn’t need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36944" y="155968"/>
            <a:ext cx="94624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IRRELEVANT AND BAD FORMATTING</a:t>
            </a:r>
          </a:p>
        </p:txBody>
      </p:sp>
      <p:pic>
        <p:nvPicPr>
          <p:cNvPr id="2" name="Picture 1" descr="Spotify Loses $38 Million Per Year Because Of A 'White Noise' Problem ...">
            <a:extLst>
              <a:ext uri="{FF2B5EF4-FFF2-40B4-BE49-F238E27FC236}">
                <a16:creationId xmlns:a16="http://schemas.microsoft.com/office/drawing/2014/main" id="{91A15D1E-CA58-A9CC-50A7-7BA602EBD2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8443" y="-1227582"/>
            <a:ext cx="14048885" cy="86487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Badly formatted data</a:t>
            </a:r>
            <a:r>
              <a:rPr lang="en-US" sz="2400" dirty="0">
                <a:latin typeface="Bahnschrift" panose="020B0502040204020203" pitchFamily="34" charset="0"/>
              </a:rPr>
              <a:t> is a correct value, just written the wrong way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Three different date formats in one column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“Yes”, “yes”, “Y” and “TRUE” all meaning True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12/01/2026 can mean January or December based on who typed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21611" y="155968"/>
            <a:ext cx="95978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IRRELEVANT AND BAD FORMATTING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842856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Just because we don’t have any abject errors doesn’t mean that the data is ready just yet!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Normalization</a:t>
            </a:r>
            <a:r>
              <a:rPr lang="en-US" sz="2400" dirty="0">
                <a:latin typeface="Bahnschrift" panose="020B0502040204020203" pitchFamily="34" charset="0"/>
              </a:rPr>
              <a:t> squeezes every value in a column into the range 0 to 1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yes, this is the same word used in the database topic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no, it is not the same thing</a:t>
            </a:r>
          </a:p>
          <a:p>
            <a:pPr marL="1828800" lvl="3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yes, it’s annoying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Subtract the smallest value in the column, then divide by the range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smallest value always becomes 0 and the largest always becomes 1 regardless of what the units were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85784"/>
            <a:ext cx="48396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NORMALIZATION</a:t>
            </a:r>
          </a:p>
        </p:txBody>
      </p:sp>
      <p:pic>
        <p:nvPicPr>
          <p:cNvPr id="2" name="Picture 1" descr="Watch This Hydraulic Press Crush 15 Different Metals">
            <a:extLst>
              <a:ext uri="{FF2B5EF4-FFF2-40B4-BE49-F238E27FC236}">
                <a16:creationId xmlns:a16="http://schemas.microsoft.com/office/drawing/2014/main" id="{3954178B-0D63-2BD7-ECD6-0732E2B7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233" y="112532"/>
            <a:ext cx="3259620" cy="18123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6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Again, it doesn’t matter how different the values are, they all get put on the same scale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39548"/>
            <a:ext cx="47718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NORMALIZATION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96000" y="3100000"/>
          <a:ext cx="102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Original value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Column A (10 to 50)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Column B (20000 to 60000)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Smallest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  →  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20000  →  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Next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20  →  0.25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30000  →  0.25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Next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30  →  0.5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40000  →  0.5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Largest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50  →  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60000  →  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3C64F-2832-3FC0-11F7-6C4828E5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E01D640-7B04-F304-DA87-A5B0FE5E7A4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5BD19D-2D5F-E5D3-D164-6CEE6A751B7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2D649B-821B-2948-AD0D-294BBDE1DD6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1E3120-2166-D837-24BF-6D79DD1F08B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3431A-FCF0-CA4D-AEAA-B0A26B04FB0A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Let’s calculate ‘distance’ between two data points using k-NN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Let’s say person 1 is 25 earning 30,000 and person 2 is 45 earning 31,000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Distance formula: √(x2-x1) + (y2 – y1)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 this instance, x is age and y is salary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√(45-25) + (31000 – 30000)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EEBBDE-8E7E-CC41-765E-DB1191D08B64}"/>
              </a:ext>
            </a:extLst>
          </p:cNvPr>
          <p:cNvSpPr/>
          <p:nvPr/>
        </p:nvSpPr>
        <p:spPr>
          <a:xfrm>
            <a:off x="94985" y="185784"/>
            <a:ext cx="46194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397014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130530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√(20² + 1000²) = 1000.2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Looking at this, salary is almost all of that distance, the age difference in our data has become insignificant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normalize both columns and 1 becomes (0.1, 0.1) while 2 becomes (0.5, 0.11)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Assuming the min age is ~20, the max age is ~70, and the min salary is ~0 and the maximum is ~1,000,000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New distance: √(0.4² + 0.01²) = 0.4001, and now age makes up a much larger chunk of the distance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Nothing about the two people changed, just the way we measured them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94985" y="185784"/>
            <a:ext cx="46194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NORMALIZATION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Standardization</a:t>
            </a:r>
            <a:r>
              <a:rPr lang="en-US" sz="2400" dirty="0">
                <a:latin typeface="Bahnschrift" panose="020B0502040204020203" pitchFamily="34" charset="0"/>
              </a:rPr>
              <a:t> is the other way of making columns comparable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Subtract the mean of the column, then divide by the standard deviation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result is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z-score</a:t>
            </a:r>
            <a:r>
              <a:rPr lang="en-US" sz="2400" dirty="0">
                <a:latin typeface="Bahnschrift" panose="020B0502040204020203" pitchFamily="34" charset="0"/>
              </a:rPr>
              <a:t>: how many standard deviations this value sits away from the average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column standardized this way has a mean of 0 and a spread of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better with outliers, because outliers compress the data a bunch when you consider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85784"/>
            <a:ext cx="50428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STANDARDIZATION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21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Here is a column with a mean of 5 and standard deviation is 2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value of 9 becomes 2: two standard deviations above average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88165" y="155968"/>
            <a:ext cx="51105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STANDARDIZATION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6000" y="3600000"/>
          <a:ext cx="11000000" cy="10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Value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2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4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9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z-score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−1.5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−0.5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 why was our initial data such a mess?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It’s not because any of you are careless, it’s because I was (intentionally) lazy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Free text boxes, no units, nothing marked as required, no list to choose from, no check on anything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Our sheet: pick any one of the six problems we found. What single change to the form would have stopped it?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Almost every problem with data is simpler to prevent in the first place than to clean up after the fact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12825" y="215932"/>
            <a:ext cx="70578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WHY OUR DATA WAS BAD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Q9 and Q10 — silent, five minutes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Q9 A table of patient records is shown. Identify two separate data quality problems in it and state how you would deal with each [2]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Q10 Explain why normalization matters for an algorithm that measures the distance between examples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16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Data cleaning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Data quality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Missing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Deletion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Imputation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Predictive modelling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Outlier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Capping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Duplicate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Consolidation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Incorrect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Irrelevant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Formatting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Normalization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Standardization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Standard deviation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z-score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C0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46409</TotalTime>
  <Words>1708</Words>
  <Application>Microsoft Office PowerPoint</Application>
  <PresentationFormat>Widescreen</PresentationFormat>
  <Paragraphs>212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48</cp:revision>
  <dcterms:created xsi:type="dcterms:W3CDTF">2025-08-11T14:07:39Z</dcterms:created>
  <dcterms:modified xsi:type="dcterms:W3CDTF">2026-10-13T21:06:15Z</dcterms:modified>
</cp:coreProperties>
</file>